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70"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3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52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14350" y="4125516"/>
            <a:ext cx="4514850" cy="0"/>
          </a:xfrm>
          <a:prstGeom prst="line">
            <a:avLst/>
          </a:prstGeom>
          <a:noFill/>
          <a:ln w="7144">
            <a:solidFill>
              <a:srgbClr val="FFFFFF"/>
            </a:solidFill>
            <a:prstDash val="solid"/>
          </a:ln>
        </p:spPr>
      </p:sp>
      <p:sp>
        <p:nvSpPr>
          <p:cNvPr id="3" name="Shape 1"/>
          <p:cNvSpPr/>
          <p:nvPr/>
        </p:nvSpPr>
        <p:spPr>
          <a:xfrm>
            <a:off x="2022797" y="4314825"/>
            <a:ext cx="0" cy="428625"/>
          </a:xfrm>
          <a:prstGeom prst="line">
            <a:avLst/>
          </a:prstGeom>
          <a:noFill/>
          <a:ln w="7144">
            <a:solidFill>
              <a:srgbClr val="FF6B35"/>
            </a:solidFill>
            <a:prstDash val="solid"/>
          </a:ln>
        </p:spPr>
      </p:sp>
      <p:sp>
        <p:nvSpPr>
          <p:cNvPr id="4" name="Shape 2"/>
          <p:cNvSpPr/>
          <p:nvPr/>
        </p:nvSpPr>
        <p:spPr>
          <a:xfrm>
            <a:off x="3527785" y="4314825"/>
            <a:ext cx="0" cy="428625"/>
          </a:xfrm>
          <a:prstGeom prst="line">
            <a:avLst/>
          </a:prstGeom>
          <a:noFill/>
          <a:ln w="7144">
            <a:solidFill>
              <a:srgbClr val="FF6B35"/>
            </a:solidFill>
            <a:prstDash val="solid"/>
          </a:ln>
        </p:spPr>
      </p:sp>
      <p:sp>
        <p:nvSpPr>
          <p:cNvPr id="5" name="Text 3"/>
          <p:cNvSpPr/>
          <p:nvPr/>
        </p:nvSpPr>
        <p:spPr>
          <a:xfrm>
            <a:off x="5036344" y="292894"/>
            <a:ext cx="4557713" cy="4557713"/>
          </a:xfrm>
          <a:prstGeom prst="ellipse">
            <a:avLst/>
          </a:prstGeom>
          <a:noFill/>
          <a:ln w="14288">
            <a:solidFill>
              <a:srgbClr val="FFFFFF"/>
            </a:solidFill>
            <a:prstDash val="solid"/>
          </a:ln>
          <a:effectLst>
            <a:outerShdw blurRad="101600" dist="50800" dir="16200000" algn="bl" rotWithShape="0">
              <a:srgbClr val="FFFFFF">
                <a:alpha val="50000"/>
              </a:srgbClr>
            </a:outerShdw>
          </a:effectLst>
        </p:spPr>
        <p:txBody>
          <a:bodyPr wrap="square" rtlCol="0" anchor="ctr"/>
          <a:lstStyle/>
          <a:p>
            <a:pPr marL="0" indent="0">
              <a:buNone/>
            </a:pPr>
            <a:endParaRPr lang="en-US" dirty="0"/>
          </a:p>
        </p:txBody>
      </p:sp>
      <p:sp>
        <p:nvSpPr>
          <p:cNvPr id="6" name="Text 4"/>
          <p:cNvSpPr/>
          <p:nvPr/>
        </p:nvSpPr>
        <p:spPr>
          <a:xfrm>
            <a:off x="5536406" y="792956"/>
            <a:ext cx="3557588" cy="3557588"/>
          </a:xfrm>
          <a:prstGeom prst="ellipse">
            <a:avLst/>
          </a:prstGeom>
          <a:noFill/>
          <a:ln w="14288">
            <a:solidFill>
              <a:srgbClr val="FF6B35"/>
            </a:solidFill>
            <a:prstDash val="solid"/>
          </a:ln>
          <a:effectLst>
            <a:outerShdw blurRad="101600" dist="50800" dir="16200000" algn="bl" rotWithShape="0">
              <a:srgbClr val="FFFFFF">
                <a:alpha val="50000"/>
              </a:srgbClr>
            </a:outerShdw>
          </a:effectLst>
        </p:spPr>
        <p:txBody>
          <a:bodyPr wrap="square" rtlCol="0" anchor="ctr"/>
          <a:lstStyle/>
          <a:p>
            <a:pPr marL="0" indent="0">
              <a:buNone/>
            </a:pPr>
            <a:endParaRPr lang="en-US" dirty="0"/>
          </a:p>
        </p:txBody>
      </p:sp>
      <p:sp>
        <p:nvSpPr>
          <p:cNvPr id="7" name="Text 5"/>
          <p:cNvSpPr/>
          <p:nvPr/>
        </p:nvSpPr>
        <p:spPr>
          <a:xfrm>
            <a:off x="6036469" y="1293019"/>
            <a:ext cx="2557463" cy="2557463"/>
          </a:xfrm>
          <a:prstGeom prst="ellipse">
            <a:avLst/>
          </a:prstGeom>
          <a:noFill/>
          <a:ln w="14288">
            <a:solidFill>
              <a:srgbClr val="FFFFFF"/>
            </a:solidFill>
            <a:prstDash val="solid"/>
          </a:ln>
          <a:effectLst>
            <a:outerShdw blurRad="101600" dist="50800" dir="16200000" algn="bl" rotWithShape="0">
              <a:srgbClr val="FFFFFF">
                <a:alpha val="50000"/>
              </a:srgbClr>
            </a:outerShdw>
          </a:effectLst>
        </p:spPr>
        <p:txBody>
          <a:bodyPr wrap="square" rtlCol="0" anchor="ctr"/>
          <a:lstStyle/>
          <a:p>
            <a:pPr marL="0" indent="0">
              <a:buNone/>
            </a:pPr>
            <a:endParaRPr lang="en-US" dirty="0"/>
          </a:p>
        </p:txBody>
      </p:sp>
      <p:sp>
        <p:nvSpPr>
          <p:cNvPr id="8" name="Text 6"/>
          <p:cNvSpPr/>
          <p:nvPr/>
        </p:nvSpPr>
        <p:spPr>
          <a:xfrm>
            <a:off x="6536531" y="1793081"/>
            <a:ext cx="1557338" cy="1557338"/>
          </a:xfrm>
          <a:prstGeom prst="ellipse">
            <a:avLst/>
          </a:prstGeom>
          <a:noFill/>
          <a:ln w="14288">
            <a:solidFill>
              <a:srgbClr val="FFFFFF"/>
            </a:solidFill>
            <a:prstDash val="solid"/>
          </a:ln>
          <a:effectLst>
            <a:outerShdw blurRad="101600" dist="50800" dir="16200000" algn="bl" rotWithShape="0">
              <a:srgbClr val="FFFFFF">
                <a:alpha val="50000"/>
              </a:srgbClr>
            </a:outerShdw>
          </a:effectLst>
        </p:spPr>
        <p:txBody>
          <a:bodyPr wrap="square" rtlCol="0" anchor="ctr"/>
          <a:lstStyle/>
          <a:p>
            <a:pPr marL="0" indent="0">
              <a:buNone/>
            </a:pPr>
            <a:endParaRPr lang="en-US" dirty="0"/>
          </a:p>
        </p:txBody>
      </p:sp>
      <p:sp>
        <p:nvSpPr>
          <p:cNvPr id="9" name="Text 7"/>
          <p:cNvSpPr/>
          <p:nvPr/>
        </p:nvSpPr>
        <p:spPr>
          <a:xfrm>
            <a:off x="8501063" y="571500"/>
            <a:ext cx="71438" cy="71438"/>
          </a:xfrm>
          <a:prstGeom prst="ellipse">
            <a:avLst/>
          </a:prstGeom>
          <a:solidFill>
            <a:srgbClr val="FF6B35">
              <a:alpha val="95000"/>
            </a:srgbClr>
          </a:solidFill>
          <a:ln/>
        </p:spPr>
        <p:txBody>
          <a:bodyPr wrap="square" rtlCol="0" anchor="ctr"/>
          <a:lstStyle/>
          <a:p>
            <a:pPr marL="0" indent="0">
              <a:buNone/>
            </a:pPr>
            <a:endParaRPr lang="en-US" dirty="0"/>
          </a:p>
        </p:txBody>
      </p:sp>
      <p:sp>
        <p:nvSpPr>
          <p:cNvPr id="10" name="Text 8"/>
          <p:cNvSpPr/>
          <p:nvPr/>
        </p:nvSpPr>
        <p:spPr>
          <a:xfrm>
            <a:off x="8101013" y="1143000"/>
            <a:ext cx="42863" cy="42863"/>
          </a:xfrm>
          <a:prstGeom prst="ellipse">
            <a:avLst/>
          </a:prstGeom>
          <a:solidFill>
            <a:srgbClr val="FF6B35">
              <a:alpha val="60000"/>
            </a:srgbClr>
          </a:solidFill>
          <a:ln/>
        </p:spPr>
        <p:txBody>
          <a:bodyPr wrap="square" rtlCol="0" anchor="ctr"/>
          <a:lstStyle/>
          <a:p>
            <a:pPr marL="0" indent="0">
              <a:buNone/>
            </a:pPr>
            <a:endParaRPr lang="en-US" dirty="0"/>
          </a:p>
        </p:txBody>
      </p:sp>
      <p:sp>
        <p:nvSpPr>
          <p:cNvPr id="11" name="Text 9"/>
          <p:cNvSpPr/>
          <p:nvPr/>
        </p:nvSpPr>
        <p:spPr>
          <a:xfrm>
            <a:off x="5986463" y="4257675"/>
            <a:ext cx="100013" cy="100013"/>
          </a:xfrm>
          <a:prstGeom prst="ellipse">
            <a:avLst/>
          </a:prstGeom>
          <a:solidFill>
            <a:srgbClr val="FF6B35">
              <a:alpha val="85000"/>
            </a:srgbClr>
          </a:solidFill>
          <a:ln/>
        </p:spPr>
        <p:txBody>
          <a:bodyPr wrap="square" rtlCol="0" anchor="ctr"/>
          <a:lstStyle/>
          <a:p>
            <a:pPr marL="0" indent="0">
              <a:buNone/>
            </a:pPr>
            <a:endParaRPr lang="en-US" dirty="0"/>
          </a:p>
        </p:txBody>
      </p:sp>
      <p:sp>
        <p:nvSpPr>
          <p:cNvPr id="12" name="Text 10"/>
          <p:cNvSpPr/>
          <p:nvPr/>
        </p:nvSpPr>
        <p:spPr>
          <a:xfrm>
            <a:off x="8322469" y="3679031"/>
            <a:ext cx="35719" cy="35719"/>
          </a:xfrm>
          <a:prstGeom prst="ellipse">
            <a:avLst/>
          </a:prstGeom>
          <a:solidFill>
            <a:srgbClr val="FF6B35">
              <a:alpha val="55000"/>
            </a:srgbClr>
          </a:solidFill>
          <a:ln/>
        </p:spPr>
        <p:txBody>
          <a:bodyPr wrap="square" rtlCol="0" anchor="ctr"/>
          <a:lstStyle/>
          <a:p>
            <a:pPr marL="0" indent="0">
              <a:buNone/>
            </a:pPr>
            <a:endParaRPr lang="en-US" dirty="0"/>
          </a:p>
        </p:txBody>
      </p:sp>
      <p:sp>
        <p:nvSpPr>
          <p:cNvPr id="13" name="Text 11"/>
          <p:cNvSpPr/>
          <p:nvPr/>
        </p:nvSpPr>
        <p:spPr>
          <a:xfrm>
            <a:off x="5772150" y="2286000"/>
            <a:ext cx="57150" cy="57150"/>
          </a:xfrm>
          <a:prstGeom prst="ellipse">
            <a:avLst/>
          </a:prstGeom>
          <a:solidFill>
            <a:srgbClr val="FF6B35">
              <a:alpha val="70000"/>
            </a:srgbClr>
          </a:solidFill>
          <a:ln/>
        </p:spPr>
        <p:txBody>
          <a:bodyPr wrap="square" rtlCol="0" anchor="ctr"/>
          <a:lstStyle/>
          <a:p>
            <a:pPr marL="0" indent="0">
              <a:buNone/>
            </a:pPr>
            <a:endParaRPr lang="en-US" dirty="0"/>
          </a:p>
        </p:txBody>
      </p:sp>
      <p:sp>
        <p:nvSpPr>
          <p:cNvPr id="14" name="Text 12"/>
          <p:cNvSpPr/>
          <p:nvPr/>
        </p:nvSpPr>
        <p:spPr>
          <a:xfrm>
            <a:off x="491490" y="544411"/>
            <a:ext cx="1788014" cy="243488"/>
          </a:xfrm>
          <a:prstGeom prst="roundRect">
            <a:avLst>
              <a:gd name="adj" fmla="val 3907985"/>
            </a:avLst>
          </a:prstGeom>
          <a:solidFill>
            <a:srgbClr val="FF6B35">
              <a:alpha val="12000"/>
            </a:srgbClr>
          </a:solidFill>
          <a:ln w="7144">
            <a:solidFill>
              <a:srgbClr val="FF6B35"/>
            </a:solidFill>
            <a:prstDash val="solid"/>
          </a:ln>
        </p:spPr>
        <p:txBody>
          <a:bodyPr wrap="square" rtlCol="0" anchor="ctr"/>
          <a:lstStyle/>
          <a:p>
            <a:pPr marL="0" indent="0">
              <a:buNone/>
            </a:pPr>
            <a:endParaRPr lang="en-US" dirty="0"/>
          </a:p>
        </p:txBody>
      </p:sp>
      <p:sp>
        <p:nvSpPr>
          <p:cNvPr id="15" name="Text 13"/>
          <p:cNvSpPr/>
          <p:nvPr/>
        </p:nvSpPr>
        <p:spPr>
          <a:xfrm>
            <a:off x="514350" y="557213"/>
            <a:ext cx="1742294" cy="217884"/>
          </a:xfrm>
          <a:prstGeom prst="rect">
            <a:avLst/>
          </a:prstGeom>
          <a:noFill/>
          <a:ln/>
        </p:spPr>
        <p:txBody>
          <a:bodyPr wrap="none" lIns="0" tIns="0" rIns="0" bIns="0" rtlCol="0" anchor="ctr"/>
          <a:lstStyle/>
          <a:p>
            <a:pPr marL="0" indent="0" algn="ctr">
              <a:lnSpc>
                <a:spcPts val="928"/>
              </a:lnSpc>
              <a:buNone/>
            </a:pPr>
            <a:r>
              <a:rPr lang="en-US" sz="800" b="1" kern="0" spc="111" dirty="0">
                <a:solidFill>
                  <a:srgbClr val="FF6B35"/>
                </a:solidFill>
                <a:latin typeface="Liberation Sans Narrow" pitchFamily="34" charset="0"/>
                <a:ea typeface="Liberation Sans Narrow" pitchFamily="34" charset="-122"/>
                <a:cs typeface="Liberation Sans Narrow" pitchFamily="34" charset="-120"/>
              </a:rPr>
              <a:t>CAPSTONE PROJECT • 2025</a:t>
            </a:r>
            <a:endParaRPr lang="en-US" sz="800" dirty="0"/>
          </a:p>
        </p:txBody>
      </p:sp>
      <p:sp>
        <p:nvSpPr>
          <p:cNvPr id="16" name="Text 14"/>
          <p:cNvSpPr/>
          <p:nvPr/>
        </p:nvSpPr>
        <p:spPr>
          <a:xfrm>
            <a:off x="514350" y="932259"/>
            <a:ext cx="5291404" cy="1344168"/>
          </a:xfrm>
          <a:prstGeom prst="rect">
            <a:avLst/>
          </a:prstGeom>
          <a:noFill/>
          <a:ln/>
        </p:spPr>
        <p:txBody>
          <a:bodyPr wrap="none" lIns="0" tIns="0" rIns="0" bIns="0" rtlCol="0" anchor="t">
            <a:normAutofit/>
          </a:bodyPr>
          <a:lstStyle/>
          <a:p>
            <a:pPr marL="0" indent="0" algn="l">
              <a:lnSpc>
                <a:spcPts val="4950"/>
              </a:lnSpc>
              <a:buNone/>
            </a:pPr>
            <a:r>
              <a:rPr lang="en-US" sz="4950" b="1" kern="0" spc="-173" dirty="0">
                <a:solidFill>
                  <a:srgbClr val="FFFFFF"/>
                </a:solidFill>
                <a:latin typeface="Carlito" pitchFamily="34" charset="0"/>
                <a:ea typeface="Carlito" pitchFamily="34" charset="-122"/>
                <a:cs typeface="Carlito" pitchFamily="34" charset="-120"/>
              </a:rPr>
              <a:t>SmartPizza AI</a:t>
            </a:r>
            <a:endParaRPr lang="en-US" sz="4950" dirty="0"/>
          </a:p>
        </p:txBody>
      </p:sp>
      <p:sp>
        <p:nvSpPr>
          <p:cNvPr id="17" name="Text 15"/>
          <p:cNvSpPr/>
          <p:nvPr/>
        </p:nvSpPr>
        <p:spPr>
          <a:xfrm>
            <a:off x="514350" y="2303859"/>
            <a:ext cx="4429125" cy="501491"/>
          </a:xfrm>
          <a:prstGeom prst="rect">
            <a:avLst/>
          </a:prstGeom>
          <a:noFill/>
          <a:ln/>
        </p:spPr>
        <p:txBody>
          <a:bodyPr wrap="square" lIns="0" tIns="0" rIns="0" bIns="0" rtlCol="0" anchor="t"/>
          <a:lstStyle/>
          <a:p>
            <a:pPr marL="0" indent="0" algn="l">
              <a:lnSpc>
                <a:spcPts val="1828"/>
              </a:lnSpc>
              <a:buNone/>
            </a:pPr>
            <a:r>
              <a:rPr lang="en-US" sz="1463" kern="0" spc="-15" dirty="0">
                <a:solidFill>
                  <a:srgbClr val="FF6B35"/>
                </a:solidFill>
                <a:latin typeface="Carlito" pitchFamily="34" charset="0"/>
                <a:ea typeface="Carlito" pitchFamily="34" charset="-122"/>
                <a:cs typeface="Carlito" pitchFamily="34" charset="-120"/>
              </a:rPr>
              <a:t>Intelligent Food Ordering &amp; Delivery Optimization System</a:t>
            </a:r>
            <a:endParaRPr lang="en-US" sz="1463" dirty="0"/>
          </a:p>
        </p:txBody>
      </p:sp>
      <p:sp>
        <p:nvSpPr>
          <p:cNvPr id="18" name="Text 16"/>
          <p:cNvSpPr/>
          <p:nvPr/>
        </p:nvSpPr>
        <p:spPr>
          <a:xfrm>
            <a:off x="514350" y="2925366"/>
            <a:ext cx="3714750" cy="555498"/>
          </a:xfrm>
          <a:prstGeom prst="rect">
            <a:avLst/>
          </a:prstGeom>
          <a:noFill/>
          <a:ln/>
        </p:spPr>
        <p:txBody>
          <a:bodyPr wrap="square" lIns="0" tIns="0" rIns="0" bIns="0" rtlCol="0" anchor="t"/>
          <a:lstStyle/>
          <a:p>
            <a:pPr marL="0" indent="0" algn="l">
              <a:lnSpc>
                <a:spcPts val="1350"/>
              </a:lnSpc>
              <a:buNone/>
            </a:pPr>
            <a:r>
              <a:rPr lang="en-US" sz="844" dirty="0">
                <a:solidFill>
                  <a:srgbClr val="94A3B8"/>
                </a:solidFill>
                <a:latin typeface="Carlito" pitchFamily="34" charset="0"/>
                <a:ea typeface="Carlito" pitchFamily="34" charset="-122"/>
                <a:cs typeface="Carlito" pitchFamily="34" charset="-120"/>
              </a:rPr>
              <a:t>A full-stack Spring Boot + React platform that fuses Azure OpenAI recommendations, OSRM route optimization, and Razorpay payments into one seamless pizza-ordering experience.</a:t>
            </a:r>
            <a:endParaRPr lang="en-US" sz="844" dirty="0"/>
          </a:p>
        </p:txBody>
      </p:sp>
      <p:sp>
        <p:nvSpPr>
          <p:cNvPr id="19" name="Text 17"/>
          <p:cNvSpPr/>
          <p:nvPr/>
        </p:nvSpPr>
        <p:spPr>
          <a:xfrm>
            <a:off x="514350" y="4314825"/>
            <a:ext cx="1750090" cy="122587"/>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94A3B8"/>
                </a:solidFill>
                <a:latin typeface="Carlito" pitchFamily="34" charset="0"/>
                <a:ea typeface="Carlito" pitchFamily="34" charset="-122"/>
                <a:cs typeface="Carlito" pitchFamily="34" charset="-120"/>
              </a:rPr>
              <a:t>DEVELOPED BY</a:t>
            </a:r>
            <a:endParaRPr lang="en-US" sz="800" dirty="0"/>
          </a:p>
        </p:txBody>
      </p:sp>
      <p:sp>
        <p:nvSpPr>
          <p:cNvPr id="20" name="Text 18"/>
          <p:cNvSpPr/>
          <p:nvPr/>
        </p:nvSpPr>
        <p:spPr>
          <a:xfrm>
            <a:off x="514350" y="4464844"/>
            <a:ext cx="1347713" cy="278606"/>
          </a:xfrm>
          <a:prstGeom prst="rect">
            <a:avLst/>
          </a:prstGeom>
          <a:noFill/>
          <a:ln/>
        </p:spPr>
        <p:txBody>
          <a:bodyPr wrap="square" lIns="0" tIns="0" rIns="0" bIns="0" rtlCol="0" anchor="t"/>
          <a:lstStyle/>
          <a:p>
            <a:pPr marL="0" indent="0" algn="l">
              <a:lnSpc>
                <a:spcPts val="1097"/>
              </a:lnSpc>
              <a:buNone/>
            </a:pPr>
            <a:r>
              <a:rPr lang="en-US" sz="844" dirty="0">
                <a:solidFill>
                  <a:srgbClr val="FFFFFF"/>
                </a:solidFill>
                <a:latin typeface="Carlito" pitchFamily="34" charset="0"/>
                <a:ea typeface="Carlito" pitchFamily="34" charset="-122"/>
                <a:cs typeface="Carlito" pitchFamily="34" charset="-120"/>
              </a:rPr>
              <a:t>Muthamizh Kumaran Loganathan</a:t>
            </a:r>
            <a:endParaRPr lang="en-US" sz="844" dirty="0"/>
          </a:p>
        </p:txBody>
      </p:sp>
      <p:sp>
        <p:nvSpPr>
          <p:cNvPr id="21" name="Text 19"/>
          <p:cNvSpPr/>
          <p:nvPr/>
        </p:nvSpPr>
        <p:spPr>
          <a:xfrm>
            <a:off x="2183532" y="4314825"/>
            <a:ext cx="1183518" cy="122587"/>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94A3B8"/>
                </a:solidFill>
                <a:latin typeface="Carlito" pitchFamily="34" charset="0"/>
                <a:ea typeface="Carlito" pitchFamily="34" charset="-122"/>
                <a:cs typeface="Carlito" pitchFamily="34" charset="-120"/>
              </a:rPr>
              <a:t>MENTORED BY</a:t>
            </a:r>
            <a:endParaRPr lang="en-US" sz="800" dirty="0"/>
          </a:p>
        </p:txBody>
      </p:sp>
      <p:sp>
        <p:nvSpPr>
          <p:cNvPr id="22" name="Text 20"/>
          <p:cNvSpPr/>
          <p:nvPr/>
        </p:nvSpPr>
        <p:spPr>
          <a:xfrm>
            <a:off x="2183532" y="4464844"/>
            <a:ext cx="1183518" cy="150447"/>
          </a:xfrm>
          <a:prstGeom prst="rect">
            <a:avLst/>
          </a:prstGeom>
          <a:noFill/>
          <a:ln/>
        </p:spPr>
        <p:txBody>
          <a:bodyPr wrap="none" lIns="0" tIns="0" rIns="0" bIns="0" rtlCol="0" anchor="t"/>
          <a:lstStyle/>
          <a:p>
            <a:pPr marL="0" indent="0" algn="l">
              <a:lnSpc>
                <a:spcPts val="1097"/>
              </a:lnSpc>
              <a:buNone/>
            </a:pPr>
            <a:r>
              <a:rPr lang="en-US" sz="844" dirty="0">
                <a:solidFill>
                  <a:srgbClr val="FFFFFF"/>
                </a:solidFill>
                <a:latin typeface="Carlito" pitchFamily="34" charset="0"/>
                <a:ea typeface="Carlito" pitchFamily="34" charset="-122"/>
                <a:cs typeface="Carlito" pitchFamily="34" charset="-120"/>
              </a:rPr>
              <a:t>Javeed — Trainer</a:t>
            </a:r>
            <a:endParaRPr lang="en-US" sz="844" dirty="0"/>
          </a:p>
        </p:txBody>
      </p:sp>
      <p:sp>
        <p:nvSpPr>
          <p:cNvPr id="23" name="Text 21"/>
          <p:cNvSpPr/>
          <p:nvPr/>
        </p:nvSpPr>
        <p:spPr>
          <a:xfrm>
            <a:off x="3688519" y="4314825"/>
            <a:ext cx="1183518" cy="122587"/>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94A3B8"/>
                </a:solidFill>
                <a:latin typeface="Carlito" pitchFamily="34" charset="0"/>
                <a:ea typeface="Carlito" pitchFamily="34" charset="-122"/>
                <a:cs typeface="Carlito" pitchFamily="34" charset="-120"/>
              </a:rPr>
              <a:t>PROGRAM</a:t>
            </a:r>
            <a:endParaRPr lang="en-US" sz="800" dirty="0"/>
          </a:p>
        </p:txBody>
      </p:sp>
      <p:sp>
        <p:nvSpPr>
          <p:cNvPr id="24" name="Text 22"/>
          <p:cNvSpPr/>
          <p:nvPr/>
        </p:nvSpPr>
        <p:spPr>
          <a:xfrm>
            <a:off x="3688519" y="4464844"/>
            <a:ext cx="1183518" cy="150447"/>
          </a:xfrm>
          <a:prstGeom prst="rect">
            <a:avLst/>
          </a:prstGeom>
          <a:noFill/>
          <a:ln/>
        </p:spPr>
        <p:txBody>
          <a:bodyPr wrap="none" lIns="0" tIns="0" rIns="0" bIns="0" rtlCol="0" anchor="t"/>
          <a:lstStyle/>
          <a:p>
            <a:pPr marL="0" indent="0" algn="l">
              <a:lnSpc>
                <a:spcPts val="1097"/>
              </a:lnSpc>
              <a:buNone/>
            </a:pPr>
            <a:r>
              <a:rPr lang="en-US" sz="844" dirty="0">
                <a:solidFill>
                  <a:srgbClr val="FFFFFF"/>
                </a:solidFill>
                <a:latin typeface="Carlito" pitchFamily="34" charset="0"/>
                <a:ea typeface="Carlito" pitchFamily="34" charset="-122"/>
                <a:cs typeface="Carlito" pitchFamily="34" charset="-120"/>
              </a:rPr>
              <a:t>Great Learning</a:t>
            </a:r>
            <a:endParaRPr lang="en-US" sz="844" dirty="0"/>
          </a:p>
        </p:txBody>
      </p:sp>
      <p:sp>
        <p:nvSpPr>
          <p:cNvPr id="25" name="Text 23"/>
          <p:cNvSpPr/>
          <p:nvPr/>
        </p:nvSpPr>
        <p:spPr>
          <a:xfrm>
            <a:off x="8445922" y="200025"/>
            <a:ext cx="698078" cy="164592"/>
          </a:xfrm>
          <a:prstGeom prst="rect">
            <a:avLst/>
          </a:prstGeom>
          <a:noFill/>
          <a:ln/>
        </p:spPr>
        <p:txBody>
          <a:bodyPr wrap="none" lIns="0" tIns="0" rIns="0" bIns="0" rtlCol="0" anchor="t"/>
          <a:lstStyle/>
          <a:p>
            <a:pPr marL="0" indent="0" algn="l">
              <a:lnSpc>
                <a:spcPts val="1097"/>
              </a:lnSpc>
              <a:buNone/>
            </a:pPr>
            <a:r>
              <a:rPr lang="en-US" sz="800" kern="0" spc="88" dirty="0">
                <a:solidFill>
                  <a:srgbClr val="FF6B35"/>
                </a:solidFill>
                <a:latin typeface="Liberation Sans Narrow" pitchFamily="34" charset="0"/>
                <a:ea typeface="Liberation Sans Narrow" pitchFamily="34" charset="-122"/>
                <a:cs typeface="Liberation Sans Narrow" pitchFamily="34" charset="-120"/>
              </a:rPr>
              <a:t>01 / 15</a:t>
            </a:r>
            <a:endParaRPr lang="en-US" sz="800" dirty="0"/>
          </a:p>
        </p:txBody>
      </p:sp>
      <p:pic>
        <p:nvPicPr>
          <p:cNvPr id="26" name="Image 0" descr="/tmp/h2p-fit-1781702665070-qjq7qd.png"/>
          <p:cNvPicPr>
            <a:picLocks noChangeAspect="1"/>
          </p:cNvPicPr>
          <p:nvPr/>
        </p:nvPicPr>
        <p:blipFill>
          <a:blip r:embed="rId3"/>
          <a:stretch>
            <a:fillRect/>
          </a:stretch>
        </p:blipFill>
        <p:spPr>
          <a:xfrm>
            <a:off x="6315075" y="1571625"/>
            <a:ext cx="2000250" cy="2000250"/>
          </a:xfrm>
          <a:prstGeom prst="ellipse">
            <a:avLst/>
          </a:prstGeom>
          <a:effectLst>
            <a:outerShdw blurRad="381000" dist="50800" dir="16200000" algn="bl" rotWithShape="0">
              <a:srgbClr val="FF6B35">
                <a:alpha val="30000"/>
              </a:srgbClr>
            </a:outerShdw>
          </a:effectLst>
        </p:spPr>
      </p:pic>
      <p:sp>
        <p:nvSpPr>
          <p:cNvPr id="27" name="Text 24"/>
          <p:cNvSpPr/>
          <p:nvPr/>
        </p:nvSpPr>
        <p:spPr>
          <a:xfrm>
            <a:off x="8513787" y="4854178"/>
            <a:ext cx="61053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FFFFFF">
                    <a:alpha val="35000"/>
                  </a:srgbClr>
                </a:solidFill>
                <a:latin typeface="Courier New" pitchFamily="34" charset="0"/>
                <a:ea typeface="Courier New" pitchFamily="34" charset="-122"/>
                <a:cs typeface="Courier New" pitchFamily="34" charset="-120"/>
              </a:rPr>
              <a:t>SP • AI</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3287898"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CONTEXT</a:t>
            </a:r>
            <a:endParaRPr lang="en-US" sz="800" dirty="0"/>
          </a:p>
        </p:txBody>
      </p:sp>
      <p:sp>
        <p:nvSpPr>
          <p:cNvPr id="5" name="Text 3"/>
          <p:cNvSpPr/>
          <p:nvPr/>
        </p:nvSpPr>
        <p:spPr>
          <a:xfrm>
            <a:off x="400050" y="303609"/>
            <a:ext cx="2432531"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Problem Statement</a:t>
            </a:r>
            <a:endParaRPr lang="en-US" sz="1688" dirty="0"/>
          </a:p>
        </p:txBody>
      </p:sp>
      <p:sp>
        <p:nvSpPr>
          <p:cNvPr id="6" name="Text 4"/>
          <p:cNvSpPr/>
          <p:nvPr/>
        </p:nvSpPr>
        <p:spPr>
          <a:xfrm>
            <a:off x="7369671" y="283964"/>
            <a:ext cx="937428" cy="164592"/>
          </a:xfrm>
          <a:prstGeom prst="rect">
            <a:avLst/>
          </a:prstGeom>
          <a:noFill/>
          <a:ln/>
        </p:spPr>
        <p:txBody>
          <a:bodyPr wrap="none" lIns="0" tIns="0" rIns="0" bIns="0" rtlCol="0" anchor="t"/>
          <a:lstStyle/>
          <a:p>
            <a:pPr marL="0" indent="0" algn="l">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 AI</a:t>
            </a:r>
            <a:r>
              <a:rPr lang="en-US" sz="800" kern="0" spc="29" dirty="0">
                <a:solidFill>
                  <a:srgbClr val="FF6B35"/>
                </a:solidFill>
                <a:latin typeface="Carlito" pitchFamily="34" charset="0"/>
                <a:ea typeface="Carlito" pitchFamily="34" charset="-122"/>
                <a:cs typeface="Carlito" pitchFamily="34" charset="-120"/>
              </a:rPr>
              <a:t> •</a:t>
            </a:r>
            <a:endParaRPr lang="en-US" sz="800" dirty="0"/>
          </a:p>
        </p:txBody>
      </p:sp>
      <p:sp>
        <p:nvSpPr>
          <p:cNvPr id="7" name="Text 5"/>
          <p:cNvSpPr/>
          <p:nvPr/>
        </p:nvSpPr>
        <p:spPr>
          <a:xfrm>
            <a:off x="8245339" y="275034"/>
            <a:ext cx="7144" cy="157163"/>
          </a:xfrm>
          <a:prstGeom prst="rect">
            <a:avLst/>
          </a:prstGeom>
          <a:solidFill>
            <a:srgbClr val="FFFFFF">
              <a:alpha val="18000"/>
            </a:srgbClr>
          </a:solidFill>
          <a:ln/>
        </p:spPr>
        <p:txBody>
          <a:bodyPr wrap="square" rtlCol="0" anchor="ctr"/>
          <a:lstStyle/>
          <a:p>
            <a:pPr marL="0" indent="0">
              <a:buNone/>
            </a:pPr>
            <a:endParaRPr lang="en-US" dirty="0"/>
          </a:p>
        </p:txBody>
      </p:sp>
      <p:sp>
        <p:nvSpPr>
          <p:cNvPr id="8" name="Text 6"/>
          <p:cNvSpPr/>
          <p:nvPr/>
        </p:nvSpPr>
        <p:spPr>
          <a:xfrm>
            <a:off x="8352495" y="283964"/>
            <a:ext cx="391455" cy="164592"/>
          </a:xfrm>
          <a:prstGeom prst="rect">
            <a:avLst/>
          </a:prstGeom>
          <a:noFill/>
          <a:ln/>
        </p:spPr>
        <p:txBody>
          <a:bodyPr wrap="none" lIns="0" tIns="0" rIns="0" bIns="0" rtlCol="0" anchor="t"/>
          <a:lstStyle/>
          <a:p>
            <a:pPr marL="0" indent="0" algn="l">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02 / 15</a:t>
            </a:r>
            <a:endParaRPr lang="en-US" sz="800" dirty="0"/>
          </a:p>
        </p:txBody>
      </p:sp>
      <p:sp>
        <p:nvSpPr>
          <p:cNvPr id="9" name="Text 7"/>
          <p:cNvSpPr/>
          <p:nvPr/>
        </p:nvSpPr>
        <p:spPr>
          <a:xfrm>
            <a:off x="400050" y="992981"/>
            <a:ext cx="8343900" cy="203249"/>
          </a:xfrm>
          <a:prstGeom prst="rect">
            <a:avLst/>
          </a:prstGeom>
          <a:noFill/>
          <a:ln/>
        </p:spPr>
        <p:txBody>
          <a:bodyPr wrap="square" lIns="0" tIns="0" rIns="0" bIns="0" rtlCol="0" anchor="t"/>
          <a:lstStyle/>
          <a:p>
            <a:pPr marL="0" indent="0" algn="l">
              <a:lnSpc>
                <a:spcPts val="1482"/>
              </a:lnSpc>
              <a:buNone/>
            </a:pPr>
            <a:r>
              <a:rPr lang="en-US" sz="956" dirty="0">
                <a:solidFill>
                  <a:srgbClr val="334155"/>
                </a:solidFill>
                <a:latin typeface="Carlito" pitchFamily="34" charset="0"/>
                <a:ea typeface="Carlito" pitchFamily="34" charset="-122"/>
                <a:cs typeface="Carlito" pitchFamily="34" charset="-120"/>
              </a:rPr>
              <a:t>Traditional food-ordering platforms struggle with three structural gaps that directly hurt conversion, basket size, and customer trust.</a:t>
            </a:r>
            <a:endParaRPr lang="en-US" sz="956" dirty="0"/>
          </a:p>
        </p:txBody>
      </p:sp>
      <p:sp>
        <p:nvSpPr>
          <p:cNvPr id="10" name="Text 8"/>
          <p:cNvSpPr/>
          <p:nvPr/>
        </p:nvSpPr>
        <p:spPr>
          <a:xfrm>
            <a:off x="400050" y="1352624"/>
            <a:ext cx="2676451" cy="1960959"/>
          </a:xfrm>
          <a:prstGeom prst="roundRect">
            <a:avLst>
              <a:gd name="adj" fmla="val 3886"/>
            </a:avLst>
          </a:prstGeom>
          <a:solidFill>
            <a:srgbClr val="FFFFFF"/>
          </a:solidFill>
          <a:ln/>
        </p:spPr>
        <p:txBody>
          <a:bodyPr wrap="square" rtlCol="0" anchor="ctr"/>
          <a:lstStyle/>
          <a:p>
            <a:pPr marL="0" indent="0">
              <a:buNone/>
            </a:pPr>
            <a:endParaRPr lang="en-US" dirty="0"/>
          </a:p>
        </p:txBody>
      </p:sp>
      <p:sp>
        <p:nvSpPr>
          <p:cNvPr id="11" name="Shape 9"/>
          <p:cNvSpPr/>
          <p:nvPr/>
        </p:nvSpPr>
        <p:spPr>
          <a:xfrm>
            <a:off x="400050" y="1356196"/>
            <a:ext cx="2676451" cy="0"/>
          </a:xfrm>
          <a:prstGeom prst="line">
            <a:avLst/>
          </a:prstGeom>
          <a:noFill/>
          <a:ln w="7144">
            <a:solidFill>
              <a:srgbClr val="E2E8F0"/>
            </a:solidFill>
            <a:prstDash val="solid"/>
          </a:ln>
        </p:spPr>
      </p:sp>
      <p:sp>
        <p:nvSpPr>
          <p:cNvPr id="12" name="Shape 10"/>
          <p:cNvSpPr/>
          <p:nvPr/>
        </p:nvSpPr>
        <p:spPr>
          <a:xfrm>
            <a:off x="3072929" y="1352624"/>
            <a:ext cx="0" cy="1960959"/>
          </a:xfrm>
          <a:prstGeom prst="line">
            <a:avLst/>
          </a:prstGeom>
          <a:noFill/>
          <a:ln w="7144">
            <a:solidFill>
              <a:srgbClr val="E2E8F0"/>
            </a:solidFill>
            <a:prstDash val="solid"/>
          </a:ln>
        </p:spPr>
      </p:sp>
      <p:sp>
        <p:nvSpPr>
          <p:cNvPr id="13" name="Shape 11"/>
          <p:cNvSpPr/>
          <p:nvPr/>
        </p:nvSpPr>
        <p:spPr>
          <a:xfrm>
            <a:off x="400050" y="3310012"/>
            <a:ext cx="2676451" cy="0"/>
          </a:xfrm>
          <a:prstGeom prst="line">
            <a:avLst/>
          </a:prstGeom>
          <a:noFill/>
          <a:ln w="7144">
            <a:solidFill>
              <a:srgbClr val="E2E8F0"/>
            </a:solidFill>
            <a:prstDash val="solid"/>
          </a:ln>
        </p:spPr>
      </p:sp>
      <p:sp>
        <p:nvSpPr>
          <p:cNvPr id="14" name="Shape 12"/>
          <p:cNvSpPr/>
          <p:nvPr/>
        </p:nvSpPr>
        <p:spPr>
          <a:xfrm>
            <a:off x="414338" y="1352624"/>
            <a:ext cx="0" cy="1960959"/>
          </a:xfrm>
          <a:prstGeom prst="line">
            <a:avLst/>
          </a:prstGeom>
          <a:noFill/>
          <a:ln w="28575">
            <a:solidFill>
              <a:srgbClr val="FF6B35"/>
            </a:solidFill>
            <a:prstDash val="solid"/>
          </a:ln>
        </p:spPr>
      </p:sp>
      <p:sp>
        <p:nvSpPr>
          <p:cNvPr id="15" name="Text 13"/>
          <p:cNvSpPr/>
          <p:nvPr/>
        </p:nvSpPr>
        <p:spPr>
          <a:xfrm>
            <a:off x="585788" y="1488356"/>
            <a:ext cx="271463" cy="157163"/>
          </a:xfrm>
          <a:prstGeom prst="roundRect">
            <a:avLst>
              <a:gd name="adj" fmla="val 36364"/>
            </a:avLst>
          </a:prstGeom>
          <a:solidFill>
            <a:srgbClr val="FFF1EC"/>
          </a:solidFill>
          <a:ln/>
        </p:spPr>
        <p:txBody>
          <a:bodyPr wrap="square" rtlCol="0" anchor="ctr"/>
          <a:lstStyle/>
          <a:p>
            <a:pPr marL="0" indent="0">
              <a:buNone/>
            </a:pPr>
            <a:endParaRPr lang="en-US" dirty="0"/>
          </a:p>
        </p:txBody>
      </p:sp>
      <p:sp>
        <p:nvSpPr>
          <p:cNvPr id="16" name="Text 14"/>
          <p:cNvSpPr/>
          <p:nvPr/>
        </p:nvSpPr>
        <p:spPr>
          <a:xfrm>
            <a:off x="585788" y="1488356"/>
            <a:ext cx="271463" cy="157163"/>
          </a:xfrm>
          <a:prstGeom prst="rect">
            <a:avLst/>
          </a:prstGeom>
          <a:noFill/>
          <a:ln/>
        </p:spPr>
        <p:txBody>
          <a:bodyPr wrap="none" lIns="0" tIns="0" rIns="0" bIns="0" rtlCol="0" anchor="ctr"/>
          <a:lstStyle/>
          <a:p>
            <a:pPr marL="0" indent="0" algn="ctr">
              <a:lnSpc>
                <a:spcPts val="1013"/>
              </a:lnSpc>
              <a:buNone/>
            </a:pPr>
            <a:r>
              <a:rPr lang="en-US" sz="800" b="1" kern="0" spc="41" dirty="0">
                <a:solidFill>
                  <a:srgbClr val="E4541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7" name="Text 15"/>
          <p:cNvSpPr/>
          <p:nvPr/>
        </p:nvSpPr>
        <p:spPr>
          <a:xfrm>
            <a:off x="585788" y="1731243"/>
            <a:ext cx="2450422" cy="173593"/>
          </a:xfrm>
          <a:prstGeom prst="rect">
            <a:avLst/>
          </a:prstGeom>
          <a:noFill/>
          <a:ln/>
        </p:spPr>
        <p:txBody>
          <a:bodyPr wrap="square" lIns="0" tIns="0" rIns="0" bIns="0" rtlCol="0" anchor="t"/>
          <a:lstStyle/>
          <a:p>
            <a:pPr marL="0" indent="0" algn="l">
              <a:lnSpc>
                <a:spcPts val="1266"/>
              </a:lnSpc>
              <a:buNone/>
            </a:pPr>
            <a:r>
              <a:rPr lang="en-US" sz="1013" b="1" kern="0" spc="-10" dirty="0">
                <a:solidFill>
                  <a:srgbClr val="0F172A"/>
                </a:solidFill>
                <a:latin typeface="Carlito" pitchFamily="34" charset="0"/>
                <a:ea typeface="Carlito" pitchFamily="34" charset="-122"/>
                <a:cs typeface="Carlito" pitchFamily="34" charset="-120"/>
              </a:rPr>
              <a:t>Generic, One-Size-Fits-All Menus</a:t>
            </a:r>
            <a:endParaRPr lang="en-US" sz="1013" dirty="0"/>
          </a:p>
        </p:txBody>
      </p:sp>
      <p:sp>
        <p:nvSpPr>
          <p:cNvPr id="18" name="Text 16"/>
          <p:cNvSpPr/>
          <p:nvPr/>
        </p:nvSpPr>
        <p:spPr>
          <a:xfrm>
            <a:off x="585788" y="1977703"/>
            <a:ext cx="2340694" cy="1158931"/>
          </a:xfrm>
          <a:prstGeom prst="rect">
            <a:avLst/>
          </a:prstGeom>
          <a:noFill/>
          <a:ln/>
        </p:spPr>
        <p:txBody>
          <a:bodyPr wrap="square" lIns="0" tIns="0" rIns="0" bIns="0" rtlCol="0" anchor="t"/>
          <a:lstStyle/>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Static catalogs ignore dietary preferences and past ordering behavior</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Customers scroll endlessly, leading to decision fatigue and drop-off</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Upsell &amp; cross-sell opportunities are missed — combos are pushed manually</a:t>
            </a:r>
            <a:endParaRPr lang="en-US" sz="800" dirty="0"/>
          </a:p>
        </p:txBody>
      </p:sp>
      <p:sp>
        <p:nvSpPr>
          <p:cNvPr id="19" name="Text 17"/>
          <p:cNvSpPr/>
          <p:nvPr/>
        </p:nvSpPr>
        <p:spPr>
          <a:xfrm>
            <a:off x="3233663" y="1352624"/>
            <a:ext cx="2676562" cy="1960959"/>
          </a:xfrm>
          <a:prstGeom prst="roundRect">
            <a:avLst>
              <a:gd name="adj" fmla="val 3886"/>
            </a:avLst>
          </a:prstGeom>
          <a:solidFill>
            <a:srgbClr val="FFFFFF"/>
          </a:solidFill>
          <a:ln/>
        </p:spPr>
        <p:txBody>
          <a:bodyPr wrap="square" rtlCol="0" anchor="ctr"/>
          <a:lstStyle/>
          <a:p>
            <a:pPr marL="0" indent="0">
              <a:buNone/>
            </a:pPr>
            <a:endParaRPr lang="en-US" dirty="0"/>
          </a:p>
        </p:txBody>
      </p:sp>
      <p:sp>
        <p:nvSpPr>
          <p:cNvPr id="20" name="Shape 18"/>
          <p:cNvSpPr/>
          <p:nvPr/>
        </p:nvSpPr>
        <p:spPr>
          <a:xfrm>
            <a:off x="3233663" y="1356196"/>
            <a:ext cx="2676562" cy="0"/>
          </a:xfrm>
          <a:prstGeom prst="line">
            <a:avLst/>
          </a:prstGeom>
          <a:noFill/>
          <a:ln w="7144">
            <a:solidFill>
              <a:srgbClr val="E2E8F0"/>
            </a:solidFill>
            <a:prstDash val="solid"/>
          </a:ln>
        </p:spPr>
      </p:sp>
      <p:sp>
        <p:nvSpPr>
          <p:cNvPr id="21" name="Shape 19"/>
          <p:cNvSpPr/>
          <p:nvPr/>
        </p:nvSpPr>
        <p:spPr>
          <a:xfrm>
            <a:off x="5906653" y="1352624"/>
            <a:ext cx="0" cy="1960959"/>
          </a:xfrm>
          <a:prstGeom prst="line">
            <a:avLst/>
          </a:prstGeom>
          <a:noFill/>
          <a:ln w="7144">
            <a:solidFill>
              <a:srgbClr val="E2E8F0"/>
            </a:solidFill>
            <a:prstDash val="solid"/>
          </a:ln>
        </p:spPr>
      </p:sp>
      <p:sp>
        <p:nvSpPr>
          <p:cNvPr id="22" name="Shape 20"/>
          <p:cNvSpPr/>
          <p:nvPr/>
        </p:nvSpPr>
        <p:spPr>
          <a:xfrm>
            <a:off x="3233663" y="3310012"/>
            <a:ext cx="2676562" cy="0"/>
          </a:xfrm>
          <a:prstGeom prst="line">
            <a:avLst/>
          </a:prstGeom>
          <a:noFill/>
          <a:ln w="7144">
            <a:solidFill>
              <a:srgbClr val="E2E8F0"/>
            </a:solidFill>
            <a:prstDash val="solid"/>
          </a:ln>
        </p:spPr>
      </p:sp>
      <p:sp>
        <p:nvSpPr>
          <p:cNvPr id="23" name="Shape 21"/>
          <p:cNvSpPr/>
          <p:nvPr/>
        </p:nvSpPr>
        <p:spPr>
          <a:xfrm>
            <a:off x="3247951" y="1352624"/>
            <a:ext cx="0" cy="1960959"/>
          </a:xfrm>
          <a:prstGeom prst="line">
            <a:avLst/>
          </a:prstGeom>
          <a:noFill/>
          <a:ln w="28575">
            <a:solidFill>
              <a:srgbClr val="FF6B35"/>
            </a:solidFill>
            <a:prstDash val="solid"/>
          </a:ln>
        </p:spPr>
      </p:sp>
      <p:sp>
        <p:nvSpPr>
          <p:cNvPr id="24" name="Text 22"/>
          <p:cNvSpPr/>
          <p:nvPr/>
        </p:nvSpPr>
        <p:spPr>
          <a:xfrm>
            <a:off x="3419401" y="1488356"/>
            <a:ext cx="271463" cy="157163"/>
          </a:xfrm>
          <a:prstGeom prst="roundRect">
            <a:avLst>
              <a:gd name="adj" fmla="val 36364"/>
            </a:avLst>
          </a:prstGeom>
          <a:solidFill>
            <a:srgbClr val="FFF1EC"/>
          </a:solidFill>
          <a:ln/>
        </p:spPr>
        <p:txBody>
          <a:bodyPr wrap="square" rtlCol="0" anchor="ctr"/>
          <a:lstStyle/>
          <a:p>
            <a:pPr marL="0" indent="0">
              <a:buNone/>
            </a:pPr>
            <a:endParaRPr lang="en-US" dirty="0"/>
          </a:p>
        </p:txBody>
      </p:sp>
      <p:sp>
        <p:nvSpPr>
          <p:cNvPr id="25" name="Text 23"/>
          <p:cNvSpPr/>
          <p:nvPr/>
        </p:nvSpPr>
        <p:spPr>
          <a:xfrm>
            <a:off x="3419401" y="1488356"/>
            <a:ext cx="271463" cy="157163"/>
          </a:xfrm>
          <a:prstGeom prst="rect">
            <a:avLst/>
          </a:prstGeom>
          <a:noFill/>
          <a:ln/>
        </p:spPr>
        <p:txBody>
          <a:bodyPr wrap="none" lIns="0" tIns="0" rIns="0" bIns="0" rtlCol="0" anchor="ctr"/>
          <a:lstStyle/>
          <a:p>
            <a:pPr marL="0" indent="0" algn="ctr">
              <a:lnSpc>
                <a:spcPts val="1013"/>
              </a:lnSpc>
              <a:buNone/>
            </a:pPr>
            <a:r>
              <a:rPr lang="en-US" sz="800" b="1" kern="0" spc="41" dirty="0">
                <a:solidFill>
                  <a:srgbClr val="E4541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6" name="Text 24"/>
          <p:cNvSpPr/>
          <p:nvPr/>
        </p:nvSpPr>
        <p:spPr>
          <a:xfrm>
            <a:off x="3419401" y="1731243"/>
            <a:ext cx="2340806" cy="347186"/>
          </a:xfrm>
          <a:prstGeom prst="rect">
            <a:avLst/>
          </a:prstGeom>
          <a:noFill/>
          <a:ln/>
        </p:spPr>
        <p:txBody>
          <a:bodyPr wrap="square" lIns="0" tIns="0" rIns="0" bIns="0" rtlCol="0" anchor="t"/>
          <a:lstStyle/>
          <a:p>
            <a:pPr marL="0" indent="0" algn="l">
              <a:lnSpc>
                <a:spcPts val="1266"/>
              </a:lnSpc>
              <a:buNone/>
            </a:pPr>
            <a:r>
              <a:rPr lang="en-US" sz="1013" b="1" kern="0" spc="-10" dirty="0">
                <a:solidFill>
                  <a:srgbClr val="0F172A"/>
                </a:solidFill>
                <a:latin typeface="Carlito" pitchFamily="34" charset="0"/>
                <a:ea typeface="Carlito" pitchFamily="34" charset="-122"/>
                <a:cs typeface="Carlito" pitchFamily="34" charset="-120"/>
              </a:rPr>
              <a:t>Opaque, Anxiety-Inducing Delivery</a:t>
            </a:r>
            <a:endParaRPr lang="en-US" sz="1013" dirty="0"/>
          </a:p>
        </p:txBody>
      </p:sp>
      <p:sp>
        <p:nvSpPr>
          <p:cNvPr id="27" name="Text 25"/>
          <p:cNvSpPr/>
          <p:nvPr/>
        </p:nvSpPr>
        <p:spPr>
          <a:xfrm>
            <a:off x="3419401" y="2138437"/>
            <a:ext cx="2340806" cy="1158931"/>
          </a:xfrm>
          <a:prstGeom prst="rect">
            <a:avLst/>
          </a:prstGeom>
          <a:noFill/>
          <a:ln/>
        </p:spPr>
        <p:txBody>
          <a:bodyPr wrap="square" lIns="0" tIns="0" rIns="0" bIns="0" rtlCol="0" anchor="t"/>
          <a:lstStyle/>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Customers get a single 'out for delivery' status with no live location</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ETAs are rough estimates that drift unpredictably as the order progresses</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Riders are dispatched without route optimization, increasing delivery time</a:t>
            </a:r>
            <a:endParaRPr lang="en-US" sz="800" dirty="0"/>
          </a:p>
        </p:txBody>
      </p:sp>
      <p:sp>
        <p:nvSpPr>
          <p:cNvPr id="28" name="Text 26"/>
          <p:cNvSpPr/>
          <p:nvPr/>
        </p:nvSpPr>
        <p:spPr>
          <a:xfrm>
            <a:off x="6067388" y="1352624"/>
            <a:ext cx="2676451" cy="1960959"/>
          </a:xfrm>
          <a:prstGeom prst="roundRect">
            <a:avLst>
              <a:gd name="adj" fmla="val 3886"/>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6067388" y="1356196"/>
            <a:ext cx="2676451" cy="0"/>
          </a:xfrm>
          <a:prstGeom prst="line">
            <a:avLst/>
          </a:prstGeom>
          <a:noFill/>
          <a:ln w="7144">
            <a:solidFill>
              <a:srgbClr val="E2E8F0"/>
            </a:solidFill>
            <a:prstDash val="solid"/>
          </a:ln>
        </p:spPr>
      </p:sp>
      <p:sp>
        <p:nvSpPr>
          <p:cNvPr id="30" name="Shape 28"/>
          <p:cNvSpPr/>
          <p:nvPr/>
        </p:nvSpPr>
        <p:spPr>
          <a:xfrm>
            <a:off x="8740267" y="1352624"/>
            <a:ext cx="0" cy="1960959"/>
          </a:xfrm>
          <a:prstGeom prst="line">
            <a:avLst/>
          </a:prstGeom>
          <a:noFill/>
          <a:ln w="7144">
            <a:solidFill>
              <a:srgbClr val="E2E8F0"/>
            </a:solidFill>
            <a:prstDash val="solid"/>
          </a:ln>
        </p:spPr>
      </p:sp>
      <p:sp>
        <p:nvSpPr>
          <p:cNvPr id="31" name="Shape 29"/>
          <p:cNvSpPr/>
          <p:nvPr/>
        </p:nvSpPr>
        <p:spPr>
          <a:xfrm>
            <a:off x="6067388" y="3310012"/>
            <a:ext cx="2676451" cy="0"/>
          </a:xfrm>
          <a:prstGeom prst="line">
            <a:avLst/>
          </a:prstGeom>
          <a:noFill/>
          <a:ln w="7144">
            <a:solidFill>
              <a:srgbClr val="E2E8F0"/>
            </a:solidFill>
            <a:prstDash val="solid"/>
          </a:ln>
        </p:spPr>
      </p:sp>
      <p:sp>
        <p:nvSpPr>
          <p:cNvPr id="32" name="Shape 30"/>
          <p:cNvSpPr/>
          <p:nvPr/>
        </p:nvSpPr>
        <p:spPr>
          <a:xfrm>
            <a:off x="6081675" y="1352624"/>
            <a:ext cx="0" cy="1960959"/>
          </a:xfrm>
          <a:prstGeom prst="line">
            <a:avLst/>
          </a:prstGeom>
          <a:noFill/>
          <a:ln w="28575">
            <a:solidFill>
              <a:srgbClr val="FF6B35"/>
            </a:solidFill>
            <a:prstDash val="solid"/>
          </a:ln>
        </p:spPr>
      </p:sp>
      <p:sp>
        <p:nvSpPr>
          <p:cNvPr id="33" name="Text 31"/>
          <p:cNvSpPr/>
          <p:nvPr/>
        </p:nvSpPr>
        <p:spPr>
          <a:xfrm>
            <a:off x="6253125" y="1488356"/>
            <a:ext cx="271463" cy="157163"/>
          </a:xfrm>
          <a:prstGeom prst="roundRect">
            <a:avLst>
              <a:gd name="adj" fmla="val 36364"/>
            </a:avLst>
          </a:prstGeom>
          <a:solidFill>
            <a:srgbClr val="FFF1EC"/>
          </a:solidFill>
          <a:ln/>
        </p:spPr>
        <p:txBody>
          <a:bodyPr wrap="square" rtlCol="0" anchor="ctr"/>
          <a:lstStyle/>
          <a:p>
            <a:pPr marL="0" indent="0">
              <a:buNone/>
            </a:pPr>
            <a:endParaRPr lang="en-US" dirty="0"/>
          </a:p>
        </p:txBody>
      </p:sp>
      <p:sp>
        <p:nvSpPr>
          <p:cNvPr id="34" name="Text 32"/>
          <p:cNvSpPr/>
          <p:nvPr/>
        </p:nvSpPr>
        <p:spPr>
          <a:xfrm>
            <a:off x="6253125" y="1488356"/>
            <a:ext cx="271463" cy="157163"/>
          </a:xfrm>
          <a:prstGeom prst="rect">
            <a:avLst/>
          </a:prstGeom>
          <a:noFill/>
          <a:ln/>
        </p:spPr>
        <p:txBody>
          <a:bodyPr wrap="none" lIns="0" tIns="0" rIns="0" bIns="0" rtlCol="0" anchor="ctr"/>
          <a:lstStyle/>
          <a:p>
            <a:pPr marL="0" indent="0" algn="ctr">
              <a:lnSpc>
                <a:spcPts val="1013"/>
              </a:lnSpc>
              <a:buNone/>
            </a:pPr>
            <a:r>
              <a:rPr lang="en-US" sz="800" b="1" kern="0" spc="41" dirty="0">
                <a:solidFill>
                  <a:srgbClr val="E4541F"/>
                </a:solidFill>
                <a:latin typeface="Liberation Sans Narrow" pitchFamily="34" charset="0"/>
                <a:ea typeface="Liberation Sans Narrow" pitchFamily="34" charset="-122"/>
                <a:cs typeface="Liberation Sans Narrow" pitchFamily="34" charset="-120"/>
              </a:rPr>
              <a:t>03</a:t>
            </a:r>
            <a:endParaRPr lang="en-US" sz="800" dirty="0"/>
          </a:p>
        </p:txBody>
      </p:sp>
      <p:sp>
        <p:nvSpPr>
          <p:cNvPr id="35" name="Text 33"/>
          <p:cNvSpPr/>
          <p:nvPr/>
        </p:nvSpPr>
        <p:spPr>
          <a:xfrm>
            <a:off x="6253125" y="1731243"/>
            <a:ext cx="2340694" cy="347186"/>
          </a:xfrm>
          <a:prstGeom prst="rect">
            <a:avLst/>
          </a:prstGeom>
          <a:noFill/>
          <a:ln/>
        </p:spPr>
        <p:txBody>
          <a:bodyPr wrap="square" lIns="0" tIns="0" rIns="0" bIns="0" rtlCol="0" anchor="t"/>
          <a:lstStyle/>
          <a:p>
            <a:pPr marL="0" indent="0" algn="l">
              <a:lnSpc>
                <a:spcPts val="1266"/>
              </a:lnSpc>
              <a:buNone/>
            </a:pPr>
            <a:r>
              <a:rPr lang="en-US" sz="1013" b="1" kern="0" spc="-10" dirty="0">
                <a:solidFill>
                  <a:srgbClr val="0F172A"/>
                </a:solidFill>
                <a:latin typeface="Carlito" pitchFamily="34" charset="0"/>
                <a:ea typeface="Carlito" pitchFamily="34" charset="-122"/>
                <a:cs typeface="Carlito" pitchFamily="34" charset="-120"/>
              </a:rPr>
              <a:t>Fragmented Checkout &amp; Payments</a:t>
            </a:r>
            <a:endParaRPr lang="en-US" sz="1013" dirty="0"/>
          </a:p>
        </p:txBody>
      </p:sp>
      <p:sp>
        <p:nvSpPr>
          <p:cNvPr id="36" name="Text 34"/>
          <p:cNvSpPr/>
          <p:nvPr/>
        </p:nvSpPr>
        <p:spPr>
          <a:xfrm>
            <a:off x="6253125" y="2138437"/>
            <a:ext cx="2340694" cy="1158931"/>
          </a:xfrm>
          <a:prstGeom prst="rect">
            <a:avLst/>
          </a:prstGeom>
          <a:noFill/>
          <a:ln/>
        </p:spPr>
        <p:txBody>
          <a:bodyPr wrap="square" lIns="0" tIns="0" rIns="0" bIns="0" rtlCol="0" anchor="t"/>
          <a:lstStyle/>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Cart, coupons, tax, and payment are stitched together across disconnected UIs</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Promo-code logic is brittle and often miscalculates discounts or tax</a:t>
            </a:r>
            <a:endParaRPr lang="en-US" sz="800" dirty="0"/>
          </a:p>
          <a:p>
            <a:pPr marL="0" indent="0" algn="l">
              <a:lnSpc>
                <a:spcPts val="1139"/>
              </a:lnSpc>
              <a:spcAft>
                <a:spcPts val="450"/>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Admin teams lack real-time visibility into revenue, delivery KPIs, and trends</a:t>
            </a:r>
            <a:endParaRPr lang="en-US" sz="800" dirty="0"/>
          </a:p>
        </p:txBody>
      </p:sp>
      <p:sp>
        <p:nvSpPr>
          <p:cNvPr id="37" name="Text 35"/>
          <p:cNvSpPr/>
          <p:nvPr/>
        </p:nvSpPr>
        <p:spPr>
          <a:xfrm>
            <a:off x="400050" y="4657725"/>
            <a:ext cx="42862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38" name="Text 36"/>
          <p:cNvSpPr/>
          <p:nvPr/>
        </p:nvSpPr>
        <p:spPr>
          <a:xfrm>
            <a:off x="928688" y="4593431"/>
            <a:ext cx="7815263" cy="164592"/>
          </a:xfrm>
          <a:prstGeom prst="rect">
            <a:avLst/>
          </a:prstGeom>
          <a:noFill/>
          <a:ln/>
        </p:spPr>
        <p:txBody>
          <a:bodyPr wrap="square" lIns="0" tIns="0" rIns="0" bIns="0" rtlCol="0" anchor="t"/>
          <a:lstStyle/>
          <a:p>
            <a:pPr marL="0" indent="0" algn="l">
              <a:lnSpc>
                <a:spcPts val="1181"/>
              </a:lnSpc>
              <a:buNone/>
            </a:pPr>
            <a:r>
              <a:rPr lang="en-US" sz="800" i="1" dirty="0">
                <a:solidFill>
                  <a:srgbClr val="64748B"/>
                </a:solidFill>
                <a:latin typeface="Carlito" pitchFamily="34" charset="0"/>
                <a:ea typeface="Carlito" pitchFamily="34" charset="-122"/>
                <a:cs typeface="Carlito" pitchFamily="34" charset="-120"/>
              </a:rPr>
              <a:t>SmartPizza AI was built to close all three gaps with one integrated, AI-augmented platform.</a:t>
            </a:r>
            <a:endParaRPr lang="en-US" sz="800" dirty="0"/>
          </a:p>
        </p:txBody>
      </p:sp>
      <p:sp>
        <p:nvSpPr>
          <p:cNvPr id="39" name="Text 37"/>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40" name="Shape 38"/>
          <p:cNvSpPr/>
          <p:nvPr/>
        </p:nvSpPr>
        <p:spPr>
          <a:xfrm>
            <a:off x="0" y="4947047"/>
            <a:ext cx="9144000" cy="0"/>
          </a:xfrm>
          <a:prstGeom prst="line">
            <a:avLst/>
          </a:prstGeom>
          <a:noFill/>
          <a:ln w="7144">
            <a:solidFill>
              <a:srgbClr val="E2E8F0"/>
            </a:solidFill>
            <a:prstDash val="solid"/>
          </a:ln>
        </p:spPr>
      </p:sp>
      <p:sp>
        <p:nvSpPr>
          <p:cNvPr id="41" name="Text 39"/>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42" name="Text 40"/>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3081167"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APPROACH</a:t>
            </a:r>
            <a:endParaRPr lang="en-US" sz="800" dirty="0"/>
          </a:p>
        </p:txBody>
      </p:sp>
      <p:sp>
        <p:nvSpPr>
          <p:cNvPr id="5" name="Text 3"/>
          <p:cNvSpPr/>
          <p:nvPr/>
        </p:nvSpPr>
        <p:spPr>
          <a:xfrm>
            <a:off x="400050" y="303609"/>
            <a:ext cx="2279582"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Solution Overview</a:t>
            </a:r>
            <a:endParaRPr lang="en-US" sz="1688" dirty="0"/>
          </a:p>
        </p:txBody>
      </p:sp>
      <p:sp>
        <p:nvSpPr>
          <p:cNvPr id="6" name="Text 4"/>
          <p:cNvSpPr/>
          <p:nvPr/>
        </p:nvSpPr>
        <p:spPr>
          <a:xfrm>
            <a:off x="7369671" y="283964"/>
            <a:ext cx="937428" cy="164592"/>
          </a:xfrm>
          <a:prstGeom prst="rect">
            <a:avLst/>
          </a:prstGeom>
          <a:noFill/>
          <a:ln/>
        </p:spPr>
        <p:txBody>
          <a:bodyPr wrap="none" lIns="0" tIns="0" rIns="0" bIns="0" rtlCol="0" anchor="t"/>
          <a:lstStyle/>
          <a:p>
            <a:pPr marL="0" indent="0" algn="l">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 AI</a:t>
            </a:r>
            <a:r>
              <a:rPr lang="en-US" sz="800" kern="0" spc="29" dirty="0">
                <a:solidFill>
                  <a:srgbClr val="FF6B35"/>
                </a:solidFill>
                <a:latin typeface="Carlito" pitchFamily="34" charset="0"/>
                <a:ea typeface="Carlito" pitchFamily="34" charset="-122"/>
                <a:cs typeface="Carlito" pitchFamily="34" charset="-120"/>
              </a:rPr>
              <a:t> •</a:t>
            </a:r>
            <a:endParaRPr lang="en-US" sz="800" dirty="0"/>
          </a:p>
        </p:txBody>
      </p:sp>
      <p:sp>
        <p:nvSpPr>
          <p:cNvPr id="7" name="Text 5"/>
          <p:cNvSpPr/>
          <p:nvPr/>
        </p:nvSpPr>
        <p:spPr>
          <a:xfrm>
            <a:off x="8245339" y="275034"/>
            <a:ext cx="7144" cy="157163"/>
          </a:xfrm>
          <a:prstGeom prst="rect">
            <a:avLst/>
          </a:prstGeom>
          <a:solidFill>
            <a:srgbClr val="FFFFFF">
              <a:alpha val="18000"/>
            </a:srgbClr>
          </a:solidFill>
          <a:ln/>
        </p:spPr>
        <p:txBody>
          <a:bodyPr wrap="square" rtlCol="0" anchor="ctr"/>
          <a:lstStyle/>
          <a:p>
            <a:pPr marL="0" indent="0">
              <a:buNone/>
            </a:pPr>
            <a:endParaRPr lang="en-US" dirty="0"/>
          </a:p>
        </p:txBody>
      </p:sp>
      <p:sp>
        <p:nvSpPr>
          <p:cNvPr id="8" name="Text 6"/>
          <p:cNvSpPr/>
          <p:nvPr/>
        </p:nvSpPr>
        <p:spPr>
          <a:xfrm>
            <a:off x="8352495" y="283964"/>
            <a:ext cx="391455" cy="164592"/>
          </a:xfrm>
          <a:prstGeom prst="rect">
            <a:avLst/>
          </a:prstGeom>
          <a:noFill/>
          <a:ln/>
        </p:spPr>
        <p:txBody>
          <a:bodyPr wrap="none" lIns="0" tIns="0" rIns="0" bIns="0" rtlCol="0" anchor="t"/>
          <a:lstStyle/>
          <a:p>
            <a:pPr marL="0" indent="0" algn="l">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03 / 15</a:t>
            </a:r>
            <a:endParaRPr lang="en-US" sz="800" dirty="0"/>
          </a:p>
        </p:txBody>
      </p:sp>
      <p:sp>
        <p:nvSpPr>
          <p:cNvPr id="9" name="Text 7"/>
          <p:cNvSpPr/>
          <p:nvPr/>
        </p:nvSpPr>
        <p:spPr>
          <a:xfrm>
            <a:off x="400050" y="992981"/>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10" name="Text 8"/>
          <p:cNvSpPr/>
          <p:nvPr/>
        </p:nvSpPr>
        <p:spPr>
          <a:xfrm>
            <a:off x="400050" y="1114425"/>
            <a:ext cx="4574661"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One Platform, Four Roles, Six Modules</a:t>
            </a:r>
            <a:endParaRPr lang="en-US" sz="1238" dirty="0"/>
          </a:p>
        </p:txBody>
      </p:sp>
      <p:sp>
        <p:nvSpPr>
          <p:cNvPr id="11" name="Text 9"/>
          <p:cNvSpPr/>
          <p:nvPr/>
        </p:nvSpPr>
        <p:spPr>
          <a:xfrm>
            <a:off x="400050" y="1435894"/>
            <a:ext cx="4235797" cy="538139"/>
          </a:xfrm>
          <a:prstGeom prst="rect">
            <a:avLst/>
          </a:prstGeom>
          <a:noFill/>
          <a:ln/>
        </p:spPr>
        <p:txBody>
          <a:bodyPr wrap="square" lIns="0" tIns="0" rIns="0" bIns="0" rtlCol="0" anchor="t"/>
          <a:lstStyle/>
          <a:p>
            <a:pPr marL="0" indent="0" algn="l">
              <a:lnSpc>
                <a:spcPts val="1308"/>
              </a:lnSpc>
              <a:buNone/>
            </a:pPr>
            <a:r>
              <a:rPr lang="en-US" sz="844" dirty="0">
                <a:solidFill>
                  <a:srgbClr val="334155"/>
                </a:solidFill>
                <a:latin typeface="Carlito" pitchFamily="34" charset="0"/>
                <a:ea typeface="Carlito" pitchFamily="34" charset="-122"/>
                <a:cs typeface="Carlito" pitchFamily="34" charset="-120"/>
              </a:rPr>
              <a:t>SmartPizza AI is a role-aware, AI-augmented pizza-ordering platform that unifies customers, admins, and delivery riders under a single Spring Boot backend with a React frontend.</a:t>
            </a:r>
            <a:endParaRPr lang="en-US" sz="844" dirty="0"/>
          </a:p>
        </p:txBody>
      </p:sp>
      <p:sp>
        <p:nvSpPr>
          <p:cNvPr id="12" name="Text 10"/>
          <p:cNvSpPr/>
          <p:nvPr/>
        </p:nvSpPr>
        <p:spPr>
          <a:xfrm>
            <a:off x="400050" y="2048470"/>
            <a:ext cx="4235797" cy="2434019"/>
          </a:xfrm>
          <a:prstGeom prst="rect">
            <a:avLst/>
          </a:prstGeom>
          <a:noFill/>
          <a:ln/>
        </p:spPr>
        <p:txBody>
          <a:bodyPr wrap="square" lIns="0" tIns="0" rIns="0" bIns="0" rtlCol="0" anchor="t"/>
          <a:lstStyle/>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Role-based access</a:t>
            </a:r>
            <a:r>
              <a:rPr lang="en-US" sz="800" dirty="0">
                <a:solidFill>
                  <a:srgbClr val="334155"/>
                </a:solidFill>
                <a:latin typeface="Carlito" pitchFamily="34" charset="0"/>
                <a:ea typeface="Carlito" pitchFamily="34" charset="-122"/>
                <a:cs typeface="Carlito" pitchFamily="34" charset="-120"/>
              </a:rPr>
              <a:t> for Customer, Admin, and Delivery — each with a tailored UI and JWT-secured endpoints</a:t>
            </a:r>
            <a:endParaRPr lang="en-US" sz="800" dirty="0"/>
          </a:p>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AI-driven ordering</a:t>
            </a:r>
            <a:r>
              <a:rPr lang="en-US" sz="800" dirty="0">
                <a:solidFill>
                  <a:srgbClr val="334155"/>
                </a:solidFill>
                <a:latin typeface="Carlito" pitchFamily="34" charset="0"/>
                <a:ea typeface="Carlito" pitchFamily="34" charset="-122"/>
                <a:cs typeface="Carlito" pitchFamily="34" charset="-120"/>
              </a:rPr>
              <a:t> via Azure OpenAI suggests personalized pizzas and combos based on order history and seasonality</a:t>
            </a:r>
            <a:endParaRPr lang="en-US" sz="800" dirty="0"/>
          </a:p>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Live delivery tracking</a:t>
            </a:r>
            <a:r>
              <a:rPr lang="en-US" sz="800" dirty="0">
                <a:solidFill>
                  <a:srgbClr val="334155"/>
                </a:solidFill>
                <a:latin typeface="Carlito" pitchFamily="34" charset="0"/>
                <a:ea typeface="Carlito" pitchFamily="34" charset="-122"/>
                <a:cs typeface="Carlito" pitchFamily="34" charset="-120"/>
              </a:rPr>
              <a:t> with OSRM route polylines, rider &amp; customer markers on Leaflet maps, and 15-second polling</a:t>
            </a:r>
            <a:endParaRPr lang="en-US" sz="800" dirty="0"/>
          </a:p>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Real-time ETA</a:t>
            </a:r>
            <a:r>
              <a:rPr lang="en-US" sz="800" dirty="0">
                <a:solidFill>
                  <a:srgbClr val="334155"/>
                </a:solidFill>
                <a:latin typeface="Carlito" pitchFamily="34" charset="0"/>
                <a:ea typeface="Carlito" pitchFamily="34" charset="-122"/>
                <a:cs typeface="Carlito" pitchFamily="34" charset="-120"/>
              </a:rPr>
              <a:t> computed by Azure Maps geocoding + routing, refreshed on every poll cycle</a:t>
            </a:r>
            <a:endParaRPr lang="en-US" sz="800" dirty="0"/>
          </a:p>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End-to-end billing</a:t>
            </a:r>
            <a:r>
              <a:rPr lang="en-US" sz="800" dirty="0">
                <a:solidFill>
                  <a:srgbClr val="334155"/>
                </a:solidFill>
                <a:latin typeface="Carlito" pitchFamily="34" charset="0"/>
                <a:ea typeface="Carlito" pitchFamily="34" charset="-122"/>
                <a:cs typeface="Carlito" pitchFamily="34" charset="-120"/>
              </a:rPr>
              <a:t> with Razorpay payments, automatic tax calculation, and invoice generation</a:t>
            </a:r>
            <a:endParaRPr lang="en-US" sz="800" dirty="0"/>
          </a:p>
          <a:p>
            <a:pPr marL="0" indent="0" algn="l">
              <a:lnSpc>
                <a:spcPts val="1181"/>
              </a:lnSpc>
              <a:spcAft>
                <a:spcPts val="563"/>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Admin analytics</a:t>
            </a:r>
            <a:r>
              <a:rPr lang="en-US" sz="800" dirty="0">
                <a:solidFill>
                  <a:srgbClr val="334155"/>
                </a:solidFill>
                <a:latin typeface="Carlito" pitchFamily="34" charset="0"/>
                <a:ea typeface="Carlito" pitchFamily="34" charset="-122"/>
                <a:cs typeface="Carlito" pitchFamily="34" charset="-120"/>
              </a:rPr>
              <a:t> for revenue, delivery performance, and customer trends in a single dashboard</a:t>
            </a:r>
            <a:endParaRPr lang="en-US" sz="800" dirty="0"/>
          </a:p>
        </p:txBody>
      </p:sp>
      <p:pic>
        <p:nvPicPr>
          <p:cNvPr id="13" name="Image 0" descr="/tmp/h2p-fit-1781702666090-neba8n.png"/>
          <p:cNvPicPr>
            <a:picLocks noChangeAspect="1"/>
          </p:cNvPicPr>
          <p:nvPr/>
        </p:nvPicPr>
        <p:blipFill>
          <a:blip r:embed="rId3"/>
          <a:stretch>
            <a:fillRect/>
          </a:stretch>
        </p:blipFill>
        <p:spPr>
          <a:xfrm>
            <a:off x="7458075" y="992981"/>
            <a:ext cx="1285875" cy="1643063"/>
          </a:xfrm>
          <a:prstGeom prst="rect">
            <a:avLst/>
          </a:prstGeom>
          <a:effectLst>
            <a:outerShdw blurRad="133350" dist="38100" dir="5400000" algn="bl" rotWithShape="0">
              <a:srgbClr val="0F172A">
                <a:alpha val="10000"/>
              </a:srgbClr>
            </a:outerShdw>
          </a:effectLst>
        </p:spPr>
      </p:pic>
      <p:sp>
        <p:nvSpPr>
          <p:cNvPr id="14" name="Text 11"/>
          <p:cNvSpPr/>
          <p:nvPr/>
        </p:nvSpPr>
        <p:spPr>
          <a:xfrm>
            <a:off x="4896594" y="2725341"/>
            <a:ext cx="1882601" cy="997893"/>
          </a:xfrm>
          <a:prstGeom prst="roundRect">
            <a:avLst>
              <a:gd name="adj" fmla="val 1145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5" name="Text 12"/>
          <p:cNvSpPr/>
          <p:nvPr/>
        </p:nvSpPr>
        <p:spPr>
          <a:xfrm>
            <a:off x="5000179" y="2828925"/>
            <a:ext cx="285750" cy="285750"/>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16" name="Text 13"/>
          <p:cNvSpPr/>
          <p:nvPr/>
        </p:nvSpPr>
        <p:spPr>
          <a:xfrm>
            <a:off x="5018752" y="2847499"/>
            <a:ext cx="248602" cy="248602"/>
          </a:xfrm>
          <a:prstGeom prst="rect">
            <a:avLst/>
          </a:prstGeom>
          <a:noFill/>
          <a:ln/>
        </p:spPr>
        <p:txBody>
          <a:bodyPr wrap="none" lIns="0" tIns="0" rIns="0" bIns="0" rtlCol="0" anchor="ctr"/>
          <a:lstStyle/>
          <a:p>
            <a:pPr marL="0" indent="0" algn="ctr">
              <a:buNone/>
            </a:pPr>
            <a:r>
              <a:rPr lang="en-US" sz="1688" dirty="0">
                <a:solidFill>
                  <a:srgbClr val="FF6B35"/>
                </a:solidFill>
                <a:latin typeface="Segoe UI Symbol" pitchFamily="34" charset="0"/>
                <a:ea typeface="Segoe UI Symbol" pitchFamily="34" charset="-122"/>
                <a:cs typeface="Segoe UI Symbol" pitchFamily="34" charset="-120"/>
              </a:rPr>
              <a:t>◯</a:t>
            </a:r>
            <a:endParaRPr lang="en-US" sz="1688" dirty="0"/>
          </a:p>
        </p:txBody>
      </p:sp>
      <p:sp>
        <p:nvSpPr>
          <p:cNvPr id="17" name="Text 14"/>
          <p:cNvSpPr/>
          <p:nvPr/>
        </p:nvSpPr>
        <p:spPr>
          <a:xfrm>
            <a:off x="5000179" y="3157538"/>
            <a:ext cx="1675433" cy="164592"/>
          </a:xfrm>
          <a:prstGeom prst="rect">
            <a:avLst/>
          </a:prstGeom>
          <a:noFill/>
          <a:ln/>
        </p:spPr>
        <p:txBody>
          <a:bodyPr wrap="none" lIns="0" tIns="0" rIns="0" bIns="0" rtlCol="0" anchor="t"/>
          <a:lstStyle/>
          <a:p>
            <a:pPr marL="0" indent="0" algn="l">
              <a:lnSpc>
                <a:spcPts val="1181"/>
              </a:lnSpc>
              <a:buNone/>
            </a:pPr>
            <a:r>
              <a:rPr lang="en-US" sz="800" b="1" kern="0" spc="79" dirty="0">
                <a:solidFill>
                  <a:srgbClr val="0F172A"/>
                </a:solidFill>
                <a:latin typeface="Carlito" pitchFamily="34" charset="0"/>
                <a:ea typeface="Carlito" pitchFamily="34" charset="-122"/>
                <a:cs typeface="Carlito" pitchFamily="34" charset="-120"/>
              </a:rPr>
              <a:t>AI-FIRST</a:t>
            </a:r>
            <a:endParaRPr lang="en-US" sz="800" dirty="0"/>
          </a:p>
        </p:txBody>
      </p:sp>
      <p:sp>
        <p:nvSpPr>
          <p:cNvPr id="18" name="Text 15"/>
          <p:cNvSpPr/>
          <p:nvPr/>
        </p:nvSpPr>
        <p:spPr>
          <a:xfrm>
            <a:off x="5000179" y="3350419"/>
            <a:ext cx="1675433" cy="269230"/>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Personalized recommendations &amp; behavior analytics</a:t>
            </a:r>
            <a:endParaRPr lang="en-US" sz="800" dirty="0"/>
          </a:p>
        </p:txBody>
      </p:sp>
      <p:sp>
        <p:nvSpPr>
          <p:cNvPr id="19" name="Text 16"/>
          <p:cNvSpPr/>
          <p:nvPr/>
        </p:nvSpPr>
        <p:spPr>
          <a:xfrm>
            <a:off x="6857777" y="2725341"/>
            <a:ext cx="1882601" cy="997893"/>
          </a:xfrm>
          <a:prstGeom prst="roundRect">
            <a:avLst>
              <a:gd name="adj" fmla="val 1145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0" name="Text 17"/>
          <p:cNvSpPr/>
          <p:nvPr/>
        </p:nvSpPr>
        <p:spPr>
          <a:xfrm>
            <a:off x="6961361" y="2828925"/>
            <a:ext cx="285750" cy="285750"/>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21" name="Text 18"/>
          <p:cNvSpPr/>
          <p:nvPr/>
        </p:nvSpPr>
        <p:spPr>
          <a:xfrm>
            <a:off x="6979935" y="2847499"/>
            <a:ext cx="248602" cy="248602"/>
          </a:xfrm>
          <a:prstGeom prst="rect">
            <a:avLst/>
          </a:prstGeom>
          <a:noFill/>
          <a:ln/>
        </p:spPr>
        <p:txBody>
          <a:bodyPr wrap="none" lIns="0" tIns="0" rIns="0" bIns="0" rtlCol="0" anchor="ctr"/>
          <a:lstStyle/>
          <a:p>
            <a:pPr marL="0" indent="0" algn="ctr">
              <a:buNone/>
            </a:pPr>
            <a:r>
              <a:rPr lang="en-US" sz="1688" dirty="0">
                <a:solidFill>
                  <a:srgbClr val="FF6B35"/>
                </a:solidFill>
                <a:latin typeface="Segoe UI Symbol" pitchFamily="34" charset="0"/>
                <a:ea typeface="Segoe UI Symbol" pitchFamily="34" charset="-122"/>
                <a:cs typeface="Segoe UI Symbol" pitchFamily="34" charset="-120"/>
              </a:rPr>
              <a:t>▣</a:t>
            </a:r>
            <a:endParaRPr lang="en-US" sz="1688" dirty="0"/>
          </a:p>
        </p:txBody>
      </p:sp>
      <p:sp>
        <p:nvSpPr>
          <p:cNvPr id="22" name="Text 19"/>
          <p:cNvSpPr/>
          <p:nvPr/>
        </p:nvSpPr>
        <p:spPr>
          <a:xfrm>
            <a:off x="6961361" y="3157538"/>
            <a:ext cx="1675433" cy="164592"/>
          </a:xfrm>
          <a:prstGeom prst="rect">
            <a:avLst/>
          </a:prstGeom>
          <a:noFill/>
          <a:ln/>
        </p:spPr>
        <p:txBody>
          <a:bodyPr wrap="none" lIns="0" tIns="0" rIns="0" bIns="0" rtlCol="0" anchor="t"/>
          <a:lstStyle/>
          <a:p>
            <a:pPr marL="0" indent="0" algn="l">
              <a:lnSpc>
                <a:spcPts val="1181"/>
              </a:lnSpc>
              <a:buNone/>
            </a:pPr>
            <a:r>
              <a:rPr lang="en-US" sz="800" b="1" kern="0" spc="79" dirty="0">
                <a:solidFill>
                  <a:srgbClr val="0F172A"/>
                </a:solidFill>
                <a:latin typeface="Carlito" pitchFamily="34" charset="0"/>
                <a:ea typeface="Carlito" pitchFamily="34" charset="-122"/>
                <a:cs typeface="Carlito" pitchFamily="34" charset="-120"/>
              </a:rPr>
              <a:t>GEO-AWARE</a:t>
            </a:r>
            <a:endParaRPr lang="en-US" sz="800" dirty="0"/>
          </a:p>
        </p:txBody>
      </p:sp>
      <p:sp>
        <p:nvSpPr>
          <p:cNvPr id="23" name="Text 20"/>
          <p:cNvSpPr/>
          <p:nvPr/>
        </p:nvSpPr>
        <p:spPr>
          <a:xfrm>
            <a:off x="6961361" y="3350419"/>
            <a:ext cx="1675433" cy="269230"/>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Live tracking, OSRM routing, Azure Maps ETA</a:t>
            </a:r>
            <a:endParaRPr lang="en-US" sz="800" dirty="0"/>
          </a:p>
        </p:txBody>
      </p:sp>
      <p:sp>
        <p:nvSpPr>
          <p:cNvPr id="24" name="Text 21"/>
          <p:cNvSpPr/>
          <p:nvPr/>
        </p:nvSpPr>
        <p:spPr>
          <a:xfrm>
            <a:off x="4896594" y="3801814"/>
            <a:ext cx="1882601" cy="997893"/>
          </a:xfrm>
          <a:prstGeom prst="roundRect">
            <a:avLst>
              <a:gd name="adj" fmla="val 1145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5" name="Text 22"/>
          <p:cNvSpPr/>
          <p:nvPr/>
        </p:nvSpPr>
        <p:spPr>
          <a:xfrm>
            <a:off x="5000179" y="3905399"/>
            <a:ext cx="285750" cy="285750"/>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26" name="Text 23"/>
          <p:cNvSpPr/>
          <p:nvPr/>
        </p:nvSpPr>
        <p:spPr>
          <a:xfrm>
            <a:off x="5018752" y="3923973"/>
            <a:ext cx="248602" cy="248602"/>
          </a:xfrm>
          <a:prstGeom prst="rect">
            <a:avLst/>
          </a:prstGeom>
          <a:noFill/>
          <a:ln/>
        </p:spPr>
        <p:txBody>
          <a:bodyPr wrap="none" lIns="0" tIns="0" rIns="0" bIns="0" rtlCol="0" anchor="ctr"/>
          <a:lstStyle/>
          <a:p>
            <a:pPr marL="0" indent="0" algn="ctr">
              <a:buNone/>
            </a:pPr>
            <a:r>
              <a:rPr lang="en-US" sz="1688" dirty="0">
                <a:solidFill>
                  <a:srgbClr val="FF6B35"/>
                </a:solidFill>
                <a:latin typeface="Segoe UI Symbol" pitchFamily="34" charset="0"/>
                <a:ea typeface="Segoe UI Symbol" pitchFamily="34" charset="-122"/>
                <a:cs typeface="Segoe UI Symbol" pitchFamily="34" charset="-120"/>
              </a:rPr>
              <a:t>⚿</a:t>
            </a:r>
            <a:endParaRPr lang="en-US" sz="1688" dirty="0"/>
          </a:p>
        </p:txBody>
      </p:sp>
      <p:sp>
        <p:nvSpPr>
          <p:cNvPr id="27" name="Text 24"/>
          <p:cNvSpPr/>
          <p:nvPr/>
        </p:nvSpPr>
        <p:spPr>
          <a:xfrm>
            <a:off x="5000179" y="4234011"/>
            <a:ext cx="1675433" cy="164592"/>
          </a:xfrm>
          <a:prstGeom prst="rect">
            <a:avLst/>
          </a:prstGeom>
          <a:noFill/>
          <a:ln/>
        </p:spPr>
        <p:txBody>
          <a:bodyPr wrap="none" lIns="0" tIns="0" rIns="0" bIns="0" rtlCol="0" anchor="t"/>
          <a:lstStyle/>
          <a:p>
            <a:pPr marL="0" indent="0" algn="l">
              <a:lnSpc>
                <a:spcPts val="1181"/>
              </a:lnSpc>
              <a:buNone/>
            </a:pPr>
            <a:r>
              <a:rPr lang="en-US" sz="800" b="1" kern="0" spc="79" dirty="0">
                <a:solidFill>
                  <a:srgbClr val="0F172A"/>
                </a:solidFill>
                <a:latin typeface="Carlito" pitchFamily="34" charset="0"/>
                <a:ea typeface="Carlito" pitchFamily="34" charset="-122"/>
                <a:cs typeface="Carlito" pitchFamily="34" charset="-120"/>
              </a:rPr>
              <a:t>ROLE-SECURE</a:t>
            </a:r>
            <a:endParaRPr lang="en-US" sz="800" dirty="0"/>
          </a:p>
        </p:txBody>
      </p:sp>
      <p:sp>
        <p:nvSpPr>
          <p:cNvPr id="28" name="Text 25"/>
          <p:cNvSpPr/>
          <p:nvPr/>
        </p:nvSpPr>
        <p:spPr>
          <a:xfrm>
            <a:off x="5000179" y="4426893"/>
            <a:ext cx="1675433" cy="269230"/>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JWT auth with three distinct access tiers</a:t>
            </a:r>
            <a:endParaRPr lang="en-US" sz="800" dirty="0"/>
          </a:p>
        </p:txBody>
      </p:sp>
      <p:sp>
        <p:nvSpPr>
          <p:cNvPr id="29" name="Text 26"/>
          <p:cNvSpPr/>
          <p:nvPr/>
        </p:nvSpPr>
        <p:spPr>
          <a:xfrm>
            <a:off x="6857777" y="3801814"/>
            <a:ext cx="1882601" cy="997893"/>
          </a:xfrm>
          <a:prstGeom prst="roundRect">
            <a:avLst>
              <a:gd name="adj" fmla="val 1145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0" name="Text 27"/>
          <p:cNvSpPr/>
          <p:nvPr/>
        </p:nvSpPr>
        <p:spPr>
          <a:xfrm>
            <a:off x="6961361" y="3905399"/>
            <a:ext cx="285750" cy="285750"/>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31" name="Text 28"/>
          <p:cNvSpPr/>
          <p:nvPr/>
        </p:nvSpPr>
        <p:spPr>
          <a:xfrm>
            <a:off x="6979935" y="3923973"/>
            <a:ext cx="248602" cy="248602"/>
          </a:xfrm>
          <a:prstGeom prst="rect">
            <a:avLst/>
          </a:prstGeom>
          <a:noFill/>
          <a:ln/>
        </p:spPr>
        <p:txBody>
          <a:bodyPr wrap="none" lIns="0" tIns="0" rIns="0" bIns="0" rtlCol="0" anchor="ctr"/>
          <a:lstStyle/>
          <a:p>
            <a:pPr marL="0" indent="0" algn="ctr">
              <a:buNone/>
            </a:pPr>
            <a:r>
              <a:rPr lang="en-US" sz="1688" dirty="0">
                <a:solidFill>
                  <a:srgbClr val="FF6B35"/>
                </a:solidFill>
                <a:latin typeface="Segoe UI Symbol" pitchFamily="34" charset="0"/>
                <a:ea typeface="Segoe UI Symbol" pitchFamily="34" charset="-122"/>
                <a:cs typeface="Segoe UI Symbol" pitchFamily="34" charset="-120"/>
              </a:rPr>
              <a:t>$</a:t>
            </a:r>
            <a:endParaRPr lang="en-US" sz="1688" dirty="0"/>
          </a:p>
        </p:txBody>
      </p:sp>
      <p:sp>
        <p:nvSpPr>
          <p:cNvPr id="32" name="Text 29"/>
          <p:cNvSpPr/>
          <p:nvPr/>
        </p:nvSpPr>
        <p:spPr>
          <a:xfrm>
            <a:off x="6961361" y="4234011"/>
            <a:ext cx="1675433" cy="164592"/>
          </a:xfrm>
          <a:prstGeom prst="rect">
            <a:avLst/>
          </a:prstGeom>
          <a:noFill/>
          <a:ln/>
        </p:spPr>
        <p:txBody>
          <a:bodyPr wrap="none" lIns="0" tIns="0" rIns="0" bIns="0" rtlCol="0" anchor="t"/>
          <a:lstStyle/>
          <a:p>
            <a:pPr marL="0" indent="0" algn="l">
              <a:lnSpc>
                <a:spcPts val="1181"/>
              </a:lnSpc>
              <a:buNone/>
            </a:pPr>
            <a:r>
              <a:rPr lang="en-US" sz="800" b="1" kern="0" spc="79" dirty="0">
                <a:solidFill>
                  <a:srgbClr val="0F172A"/>
                </a:solidFill>
                <a:latin typeface="Carlito" pitchFamily="34" charset="0"/>
                <a:ea typeface="Carlito" pitchFamily="34" charset="-122"/>
                <a:cs typeface="Carlito" pitchFamily="34" charset="-120"/>
              </a:rPr>
              <a:t>PAYMENT-READY</a:t>
            </a:r>
            <a:endParaRPr lang="en-US" sz="800" dirty="0"/>
          </a:p>
        </p:txBody>
      </p:sp>
      <p:sp>
        <p:nvSpPr>
          <p:cNvPr id="33" name="Text 30"/>
          <p:cNvSpPr/>
          <p:nvPr/>
        </p:nvSpPr>
        <p:spPr>
          <a:xfrm>
            <a:off x="6961361" y="4426893"/>
            <a:ext cx="1675433" cy="269230"/>
          </a:xfrm>
          <a:prstGeom prst="rect">
            <a:avLst/>
          </a:prstGeom>
          <a:noFill/>
          <a:ln/>
        </p:spPr>
        <p:txBody>
          <a:bodyPr wrap="square" lIns="0" tIns="0" rIns="0" bIns="0" rtlCol="0" anchor="t"/>
          <a:lstStyle/>
          <a:p>
            <a:pPr marL="0" indent="0" algn="l">
              <a:lnSpc>
                <a:spcPts val="1060"/>
              </a:lnSpc>
              <a:buNone/>
            </a:pPr>
            <a:r>
              <a:rPr lang="en-US" sz="800" dirty="0">
                <a:solidFill>
                  <a:srgbClr val="334155"/>
                </a:solidFill>
                <a:latin typeface="Carlito" pitchFamily="34" charset="0"/>
                <a:ea typeface="Carlito" pitchFamily="34" charset="-122"/>
                <a:cs typeface="Carlito" pitchFamily="34" charset="-120"/>
              </a:rPr>
              <a:t>Razorpay integration, invoicing, tax engine</a:t>
            </a:r>
            <a:endParaRPr lang="en-US" sz="800" dirty="0"/>
          </a:p>
        </p:txBody>
      </p:sp>
      <p:sp>
        <p:nvSpPr>
          <p:cNvPr id="34" name="Text 31"/>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35" name="Shape 32"/>
          <p:cNvSpPr/>
          <p:nvPr/>
        </p:nvSpPr>
        <p:spPr>
          <a:xfrm>
            <a:off x="0" y="4947047"/>
            <a:ext cx="9144000" cy="0"/>
          </a:xfrm>
          <a:prstGeom prst="line">
            <a:avLst/>
          </a:prstGeom>
          <a:noFill/>
          <a:ln w="7144">
            <a:solidFill>
              <a:srgbClr val="E2E8F0"/>
            </a:solidFill>
            <a:prstDash val="solid"/>
          </a:ln>
        </p:spPr>
      </p:sp>
      <p:sp>
        <p:nvSpPr>
          <p:cNvPr id="36" name="Text 33"/>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37" name="Text 34"/>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2711167"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ENGINEERING</a:t>
            </a:r>
            <a:endParaRPr lang="en-US" sz="800" dirty="0"/>
          </a:p>
        </p:txBody>
      </p:sp>
      <p:sp>
        <p:nvSpPr>
          <p:cNvPr id="5" name="Text 3"/>
          <p:cNvSpPr/>
          <p:nvPr/>
        </p:nvSpPr>
        <p:spPr>
          <a:xfrm>
            <a:off x="400050" y="303609"/>
            <a:ext cx="2171053"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Technology Stack</a:t>
            </a:r>
            <a:endParaRPr lang="en-US" sz="1688" dirty="0"/>
          </a:p>
        </p:txBody>
      </p:sp>
      <p:sp>
        <p:nvSpPr>
          <p:cNvPr id="6" name="Text 4"/>
          <p:cNvSpPr/>
          <p:nvPr/>
        </p:nvSpPr>
        <p:spPr>
          <a:xfrm>
            <a:off x="7369671" y="283964"/>
            <a:ext cx="937428" cy="164592"/>
          </a:xfrm>
          <a:prstGeom prst="rect">
            <a:avLst/>
          </a:prstGeom>
          <a:noFill/>
          <a:ln/>
        </p:spPr>
        <p:txBody>
          <a:bodyPr wrap="none" lIns="0" tIns="0" rIns="0" bIns="0" rtlCol="0" anchor="t"/>
          <a:lstStyle/>
          <a:p>
            <a:pPr marL="0" indent="0" algn="l">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 AI</a:t>
            </a:r>
            <a:r>
              <a:rPr lang="en-US" sz="800" kern="0" spc="29" dirty="0">
                <a:solidFill>
                  <a:srgbClr val="FF6B35"/>
                </a:solidFill>
                <a:latin typeface="Carlito" pitchFamily="34" charset="0"/>
                <a:ea typeface="Carlito" pitchFamily="34" charset="-122"/>
                <a:cs typeface="Carlito" pitchFamily="34" charset="-120"/>
              </a:rPr>
              <a:t> •</a:t>
            </a:r>
            <a:endParaRPr lang="en-US" sz="800" dirty="0"/>
          </a:p>
        </p:txBody>
      </p:sp>
      <p:sp>
        <p:nvSpPr>
          <p:cNvPr id="7" name="Text 5"/>
          <p:cNvSpPr/>
          <p:nvPr/>
        </p:nvSpPr>
        <p:spPr>
          <a:xfrm>
            <a:off x="8245339" y="275034"/>
            <a:ext cx="7144" cy="157163"/>
          </a:xfrm>
          <a:prstGeom prst="rect">
            <a:avLst/>
          </a:prstGeom>
          <a:solidFill>
            <a:srgbClr val="FFFFFF">
              <a:alpha val="18000"/>
            </a:srgbClr>
          </a:solidFill>
          <a:ln/>
        </p:spPr>
        <p:txBody>
          <a:bodyPr wrap="square" rtlCol="0" anchor="ctr"/>
          <a:lstStyle/>
          <a:p>
            <a:pPr marL="0" indent="0">
              <a:buNone/>
            </a:pPr>
            <a:endParaRPr lang="en-US" dirty="0"/>
          </a:p>
        </p:txBody>
      </p:sp>
      <p:sp>
        <p:nvSpPr>
          <p:cNvPr id="8" name="Text 6"/>
          <p:cNvSpPr/>
          <p:nvPr/>
        </p:nvSpPr>
        <p:spPr>
          <a:xfrm>
            <a:off x="8352495" y="283964"/>
            <a:ext cx="391455" cy="164592"/>
          </a:xfrm>
          <a:prstGeom prst="rect">
            <a:avLst/>
          </a:prstGeom>
          <a:noFill/>
          <a:ln/>
        </p:spPr>
        <p:txBody>
          <a:bodyPr wrap="none" lIns="0" tIns="0" rIns="0" bIns="0" rtlCol="0" anchor="t"/>
          <a:lstStyle/>
          <a:p>
            <a:pPr marL="0" indent="0" algn="l">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04 / 15</a:t>
            </a:r>
            <a:endParaRPr lang="en-US" sz="800" dirty="0"/>
          </a:p>
        </p:txBody>
      </p:sp>
      <p:sp>
        <p:nvSpPr>
          <p:cNvPr id="9" name="Text 7"/>
          <p:cNvSpPr/>
          <p:nvPr/>
        </p:nvSpPr>
        <p:spPr>
          <a:xfrm>
            <a:off x="400050" y="1035844"/>
            <a:ext cx="2000250" cy="2132409"/>
          </a:xfrm>
          <a:prstGeom prst="roundRect">
            <a:avLst>
              <a:gd name="adj" fmla="val 3810"/>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0" name="Text 8"/>
          <p:cNvSpPr/>
          <p:nvPr/>
        </p:nvSpPr>
        <p:spPr>
          <a:xfrm>
            <a:off x="400050" y="1035844"/>
            <a:ext cx="2000250" cy="357188"/>
          </a:xfrm>
          <a:prstGeom prst="rect">
            <a:avLst/>
          </a:prstGeom>
          <a:solidFill>
            <a:srgbClr val="0F172A"/>
          </a:solidFill>
          <a:ln/>
        </p:spPr>
        <p:txBody>
          <a:bodyPr wrap="square" rtlCol="0" anchor="ctr"/>
          <a:lstStyle/>
          <a:p>
            <a:pPr marL="0" indent="0">
              <a:buNone/>
            </a:pPr>
            <a:endParaRPr lang="en-US" dirty="0"/>
          </a:p>
        </p:txBody>
      </p:sp>
      <p:sp>
        <p:nvSpPr>
          <p:cNvPr id="11" name="Shape 9"/>
          <p:cNvSpPr/>
          <p:nvPr/>
        </p:nvSpPr>
        <p:spPr>
          <a:xfrm>
            <a:off x="400050" y="1382316"/>
            <a:ext cx="2000250" cy="0"/>
          </a:xfrm>
          <a:prstGeom prst="line">
            <a:avLst/>
          </a:prstGeom>
          <a:noFill/>
          <a:ln w="21431">
            <a:solidFill>
              <a:srgbClr val="FF6B35"/>
            </a:solidFill>
            <a:prstDash val="solid"/>
          </a:ln>
        </p:spPr>
      </p:sp>
      <p:sp>
        <p:nvSpPr>
          <p:cNvPr id="12" name="Text 10"/>
          <p:cNvSpPr/>
          <p:nvPr/>
        </p:nvSpPr>
        <p:spPr>
          <a:xfrm>
            <a:off x="514350" y="1125141"/>
            <a:ext cx="157163" cy="157163"/>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742950" y="1117997"/>
            <a:ext cx="1543050" cy="185166"/>
          </a:xfrm>
          <a:prstGeom prst="rect">
            <a:avLst/>
          </a:prstGeom>
          <a:noFill/>
          <a:ln/>
        </p:spPr>
        <p:txBody>
          <a:bodyPr wrap="none" lIns="0" tIns="0" rIns="0" bIns="0" rtlCol="0" anchor="t"/>
          <a:lstStyle/>
          <a:p>
            <a:pPr marL="0" indent="0" algn="l">
              <a:lnSpc>
                <a:spcPts val="1350"/>
              </a:lnSpc>
              <a:buNone/>
            </a:pPr>
            <a:r>
              <a:rPr lang="en-US" sz="900" b="1" kern="0" spc="54" dirty="0">
                <a:solidFill>
                  <a:srgbClr val="FFFFFF"/>
                </a:solidFill>
                <a:latin typeface="Carlito" pitchFamily="34" charset="0"/>
                <a:ea typeface="Carlito" pitchFamily="34" charset="-122"/>
                <a:cs typeface="Carlito" pitchFamily="34" charset="-120"/>
              </a:rPr>
              <a:t>BACKEND</a:t>
            </a:r>
            <a:endParaRPr lang="en-US" sz="900" dirty="0"/>
          </a:p>
        </p:txBody>
      </p:sp>
      <p:sp>
        <p:nvSpPr>
          <p:cNvPr id="14" name="Shape 12"/>
          <p:cNvSpPr/>
          <p:nvPr/>
        </p:nvSpPr>
        <p:spPr>
          <a:xfrm>
            <a:off x="2396728" y="1393031"/>
            <a:ext cx="0" cy="1775222"/>
          </a:xfrm>
          <a:prstGeom prst="line">
            <a:avLst/>
          </a:prstGeom>
          <a:noFill/>
          <a:ln w="7144">
            <a:solidFill>
              <a:srgbClr val="E2E8F0"/>
            </a:solidFill>
            <a:prstDash val="solid"/>
          </a:ln>
        </p:spPr>
      </p:sp>
      <p:sp>
        <p:nvSpPr>
          <p:cNvPr id="15" name="Shape 13"/>
          <p:cNvSpPr/>
          <p:nvPr/>
        </p:nvSpPr>
        <p:spPr>
          <a:xfrm>
            <a:off x="400050" y="3164681"/>
            <a:ext cx="2000250" cy="0"/>
          </a:xfrm>
          <a:prstGeom prst="line">
            <a:avLst/>
          </a:prstGeom>
          <a:noFill/>
          <a:ln w="7144">
            <a:solidFill>
              <a:srgbClr val="E2E8F0"/>
            </a:solidFill>
            <a:prstDash val="solid"/>
          </a:ln>
        </p:spPr>
      </p:sp>
      <p:sp>
        <p:nvSpPr>
          <p:cNvPr id="16" name="Shape 14"/>
          <p:cNvSpPr/>
          <p:nvPr/>
        </p:nvSpPr>
        <p:spPr>
          <a:xfrm>
            <a:off x="403622" y="1393031"/>
            <a:ext cx="0" cy="1775222"/>
          </a:xfrm>
          <a:prstGeom prst="line">
            <a:avLst/>
          </a:prstGeom>
          <a:noFill/>
          <a:ln w="7144">
            <a:solidFill>
              <a:srgbClr val="E2E8F0"/>
            </a:solidFill>
            <a:prstDash val="solid"/>
          </a:ln>
        </p:spPr>
      </p:sp>
      <p:sp>
        <p:nvSpPr>
          <p:cNvPr id="17" name="Text 15"/>
          <p:cNvSpPr/>
          <p:nvPr/>
        </p:nvSpPr>
        <p:spPr>
          <a:xfrm>
            <a:off x="484346" y="1480242"/>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18" name="Text 16"/>
          <p:cNvSpPr/>
          <p:nvPr/>
        </p:nvSpPr>
        <p:spPr>
          <a:xfrm>
            <a:off x="842963" y="1571625"/>
            <a:ext cx="343905"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Java 17</a:t>
            </a:r>
            <a:endParaRPr lang="en-US" sz="800" dirty="0"/>
          </a:p>
        </p:txBody>
      </p:sp>
      <p:sp>
        <p:nvSpPr>
          <p:cNvPr id="19" name="Text 17"/>
          <p:cNvSpPr/>
          <p:nvPr/>
        </p:nvSpPr>
        <p:spPr>
          <a:xfrm>
            <a:off x="700088" y="157698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484346" y="1805283"/>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21" name="Text 19"/>
          <p:cNvSpPr/>
          <p:nvPr/>
        </p:nvSpPr>
        <p:spPr>
          <a:xfrm>
            <a:off x="842963" y="1896666"/>
            <a:ext cx="720291"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Spring Boot 4.1</a:t>
            </a:r>
            <a:endParaRPr lang="en-US" sz="800" dirty="0"/>
          </a:p>
        </p:txBody>
      </p:sp>
      <p:sp>
        <p:nvSpPr>
          <p:cNvPr id="22" name="Text 20"/>
          <p:cNvSpPr/>
          <p:nvPr/>
        </p:nvSpPr>
        <p:spPr>
          <a:xfrm>
            <a:off x="700088" y="190202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484346" y="2130323"/>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24" name="Text 22"/>
          <p:cNvSpPr/>
          <p:nvPr/>
        </p:nvSpPr>
        <p:spPr>
          <a:xfrm>
            <a:off x="842963" y="2221706"/>
            <a:ext cx="1023454"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Spring Security + JWT</a:t>
            </a:r>
            <a:endParaRPr lang="en-US" sz="800" dirty="0"/>
          </a:p>
        </p:txBody>
      </p:sp>
      <p:sp>
        <p:nvSpPr>
          <p:cNvPr id="25" name="Text 23"/>
          <p:cNvSpPr/>
          <p:nvPr/>
        </p:nvSpPr>
        <p:spPr>
          <a:xfrm>
            <a:off x="700088" y="2227064"/>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26" name="Text 24"/>
          <p:cNvSpPr/>
          <p:nvPr/>
        </p:nvSpPr>
        <p:spPr>
          <a:xfrm>
            <a:off x="484346" y="2455364"/>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27" name="Text 25"/>
          <p:cNvSpPr/>
          <p:nvPr/>
        </p:nvSpPr>
        <p:spPr>
          <a:xfrm>
            <a:off x="842963" y="2546747"/>
            <a:ext cx="688925"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Hibernate / JPA</a:t>
            </a:r>
            <a:endParaRPr lang="en-US" sz="800" dirty="0"/>
          </a:p>
        </p:txBody>
      </p:sp>
      <p:sp>
        <p:nvSpPr>
          <p:cNvPr id="28" name="Text 26"/>
          <p:cNvSpPr/>
          <p:nvPr/>
        </p:nvSpPr>
        <p:spPr>
          <a:xfrm>
            <a:off x="700088" y="2552105"/>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29" name="Text 27"/>
          <p:cNvSpPr/>
          <p:nvPr/>
        </p:nvSpPr>
        <p:spPr>
          <a:xfrm>
            <a:off x="484346" y="2780405"/>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30" name="Text 28"/>
          <p:cNvSpPr/>
          <p:nvPr/>
        </p:nvSpPr>
        <p:spPr>
          <a:xfrm>
            <a:off x="842963" y="2871788"/>
            <a:ext cx="318901"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MySQL</a:t>
            </a:r>
            <a:endParaRPr lang="en-US" sz="800" dirty="0"/>
          </a:p>
        </p:txBody>
      </p:sp>
      <p:sp>
        <p:nvSpPr>
          <p:cNvPr id="31" name="Text 29"/>
          <p:cNvSpPr/>
          <p:nvPr/>
        </p:nvSpPr>
        <p:spPr>
          <a:xfrm>
            <a:off x="700088" y="2877145"/>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32" name="Text 30"/>
          <p:cNvSpPr/>
          <p:nvPr/>
        </p:nvSpPr>
        <p:spPr>
          <a:xfrm>
            <a:off x="2514600" y="1035844"/>
            <a:ext cx="2000250" cy="2132409"/>
          </a:xfrm>
          <a:prstGeom prst="roundRect">
            <a:avLst>
              <a:gd name="adj" fmla="val 3810"/>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3" name="Text 31"/>
          <p:cNvSpPr/>
          <p:nvPr/>
        </p:nvSpPr>
        <p:spPr>
          <a:xfrm>
            <a:off x="2514600" y="1035844"/>
            <a:ext cx="2000250" cy="357188"/>
          </a:xfrm>
          <a:prstGeom prst="rect">
            <a:avLst/>
          </a:prstGeom>
          <a:solidFill>
            <a:srgbClr val="0F172A"/>
          </a:solidFill>
          <a:ln/>
        </p:spPr>
        <p:txBody>
          <a:bodyPr wrap="square" rtlCol="0" anchor="ctr"/>
          <a:lstStyle/>
          <a:p>
            <a:pPr marL="0" indent="0">
              <a:buNone/>
            </a:pPr>
            <a:endParaRPr lang="en-US" dirty="0"/>
          </a:p>
        </p:txBody>
      </p:sp>
      <p:sp>
        <p:nvSpPr>
          <p:cNvPr id="34" name="Shape 32"/>
          <p:cNvSpPr/>
          <p:nvPr/>
        </p:nvSpPr>
        <p:spPr>
          <a:xfrm>
            <a:off x="2514600" y="1382316"/>
            <a:ext cx="2000250" cy="0"/>
          </a:xfrm>
          <a:prstGeom prst="line">
            <a:avLst/>
          </a:prstGeom>
          <a:noFill/>
          <a:ln w="21431">
            <a:solidFill>
              <a:srgbClr val="FF6B35"/>
            </a:solidFill>
            <a:prstDash val="solid"/>
          </a:ln>
        </p:spPr>
      </p:sp>
      <p:sp>
        <p:nvSpPr>
          <p:cNvPr id="35" name="Text 33"/>
          <p:cNvSpPr/>
          <p:nvPr/>
        </p:nvSpPr>
        <p:spPr>
          <a:xfrm>
            <a:off x="2628900" y="1125141"/>
            <a:ext cx="157163" cy="157163"/>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36" name="Text 34"/>
          <p:cNvSpPr/>
          <p:nvPr/>
        </p:nvSpPr>
        <p:spPr>
          <a:xfrm>
            <a:off x="2857500" y="1117997"/>
            <a:ext cx="1543050" cy="185166"/>
          </a:xfrm>
          <a:prstGeom prst="rect">
            <a:avLst/>
          </a:prstGeom>
          <a:noFill/>
          <a:ln/>
        </p:spPr>
        <p:txBody>
          <a:bodyPr wrap="none" lIns="0" tIns="0" rIns="0" bIns="0" rtlCol="0" anchor="t"/>
          <a:lstStyle/>
          <a:p>
            <a:pPr marL="0" indent="0" algn="l">
              <a:lnSpc>
                <a:spcPts val="1350"/>
              </a:lnSpc>
              <a:buNone/>
            </a:pPr>
            <a:r>
              <a:rPr lang="en-US" sz="900" b="1" kern="0" spc="54" dirty="0">
                <a:solidFill>
                  <a:srgbClr val="FFFFFF"/>
                </a:solidFill>
                <a:latin typeface="Carlito" pitchFamily="34" charset="0"/>
                <a:ea typeface="Carlito" pitchFamily="34" charset="-122"/>
                <a:cs typeface="Carlito" pitchFamily="34" charset="-120"/>
              </a:rPr>
              <a:t>FRONTEND</a:t>
            </a:r>
            <a:endParaRPr lang="en-US" sz="900" dirty="0"/>
          </a:p>
        </p:txBody>
      </p:sp>
      <p:sp>
        <p:nvSpPr>
          <p:cNvPr id="37" name="Shape 35"/>
          <p:cNvSpPr/>
          <p:nvPr/>
        </p:nvSpPr>
        <p:spPr>
          <a:xfrm>
            <a:off x="4511278" y="1393031"/>
            <a:ext cx="0" cy="1775222"/>
          </a:xfrm>
          <a:prstGeom prst="line">
            <a:avLst/>
          </a:prstGeom>
          <a:noFill/>
          <a:ln w="7144">
            <a:solidFill>
              <a:srgbClr val="E2E8F0"/>
            </a:solidFill>
            <a:prstDash val="solid"/>
          </a:ln>
        </p:spPr>
      </p:sp>
      <p:sp>
        <p:nvSpPr>
          <p:cNvPr id="38" name="Shape 36"/>
          <p:cNvSpPr/>
          <p:nvPr/>
        </p:nvSpPr>
        <p:spPr>
          <a:xfrm>
            <a:off x="2514600" y="3164681"/>
            <a:ext cx="2000250" cy="0"/>
          </a:xfrm>
          <a:prstGeom prst="line">
            <a:avLst/>
          </a:prstGeom>
          <a:noFill/>
          <a:ln w="7144">
            <a:solidFill>
              <a:srgbClr val="E2E8F0"/>
            </a:solidFill>
            <a:prstDash val="solid"/>
          </a:ln>
        </p:spPr>
      </p:sp>
      <p:sp>
        <p:nvSpPr>
          <p:cNvPr id="39" name="Shape 37"/>
          <p:cNvSpPr/>
          <p:nvPr/>
        </p:nvSpPr>
        <p:spPr>
          <a:xfrm>
            <a:off x="2518172" y="1393031"/>
            <a:ext cx="0" cy="1775222"/>
          </a:xfrm>
          <a:prstGeom prst="line">
            <a:avLst/>
          </a:prstGeom>
          <a:noFill/>
          <a:ln w="7144">
            <a:solidFill>
              <a:srgbClr val="E2E8F0"/>
            </a:solidFill>
            <a:prstDash val="solid"/>
          </a:ln>
        </p:spPr>
      </p:sp>
      <p:sp>
        <p:nvSpPr>
          <p:cNvPr id="40" name="Text 38"/>
          <p:cNvSpPr/>
          <p:nvPr/>
        </p:nvSpPr>
        <p:spPr>
          <a:xfrm>
            <a:off x="2598896" y="1480242"/>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41" name="Text 39"/>
          <p:cNvSpPr/>
          <p:nvPr/>
        </p:nvSpPr>
        <p:spPr>
          <a:xfrm>
            <a:off x="2957513" y="1571625"/>
            <a:ext cx="409649"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React 19</a:t>
            </a:r>
            <a:endParaRPr lang="en-US" sz="800" dirty="0"/>
          </a:p>
        </p:txBody>
      </p:sp>
      <p:sp>
        <p:nvSpPr>
          <p:cNvPr id="42" name="Text 40"/>
          <p:cNvSpPr/>
          <p:nvPr/>
        </p:nvSpPr>
        <p:spPr>
          <a:xfrm>
            <a:off x="2814638" y="157698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43" name="Text 41"/>
          <p:cNvSpPr/>
          <p:nvPr/>
        </p:nvSpPr>
        <p:spPr>
          <a:xfrm>
            <a:off x="2598896" y="1805283"/>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44" name="Text 42"/>
          <p:cNvSpPr/>
          <p:nvPr/>
        </p:nvSpPr>
        <p:spPr>
          <a:xfrm>
            <a:off x="2957513" y="1896666"/>
            <a:ext cx="180938"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Vite</a:t>
            </a:r>
            <a:endParaRPr lang="en-US" sz="800" dirty="0"/>
          </a:p>
        </p:txBody>
      </p:sp>
      <p:sp>
        <p:nvSpPr>
          <p:cNvPr id="45" name="Text 43"/>
          <p:cNvSpPr/>
          <p:nvPr/>
        </p:nvSpPr>
        <p:spPr>
          <a:xfrm>
            <a:off x="2814638" y="190202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46" name="Text 44"/>
          <p:cNvSpPr/>
          <p:nvPr/>
        </p:nvSpPr>
        <p:spPr>
          <a:xfrm>
            <a:off x="2598896" y="2130323"/>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47" name="Text 45"/>
          <p:cNvSpPr/>
          <p:nvPr/>
        </p:nvSpPr>
        <p:spPr>
          <a:xfrm>
            <a:off x="2957513" y="2221706"/>
            <a:ext cx="599182"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React Router</a:t>
            </a:r>
            <a:endParaRPr lang="en-US" sz="800" dirty="0"/>
          </a:p>
        </p:txBody>
      </p:sp>
      <p:sp>
        <p:nvSpPr>
          <p:cNvPr id="48" name="Text 46"/>
          <p:cNvSpPr/>
          <p:nvPr/>
        </p:nvSpPr>
        <p:spPr>
          <a:xfrm>
            <a:off x="2814638" y="2227064"/>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49" name="Text 47"/>
          <p:cNvSpPr/>
          <p:nvPr/>
        </p:nvSpPr>
        <p:spPr>
          <a:xfrm>
            <a:off x="2598896" y="2455364"/>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50" name="Text 48"/>
          <p:cNvSpPr/>
          <p:nvPr/>
        </p:nvSpPr>
        <p:spPr>
          <a:xfrm>
            <a:off x="2957513" y="2546747"/>
            <a:ext cx="541251"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Bootstrap 5</a:t>
            </a:r>
            <a:endParaRPr lang="en-US" sz="800" dirty="0"/>
          </a:p>
        </p:txBody>
      </p:sp>
      <p:sp>
        <p:nvSpPr>
          <p:cNvPr id="51" name="Text 49"/>
          <p:cNvSpPr/>
          <p:nvPr/>
        </p:nvSpPr>
        <p:spPr>
          <a:xfrm>
            <a:off x="2814638" y="2552105"/>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52" name="Text 50"/>
          <p:cNvSpPr/>
          <p:nvPr/>
        </p:nvSpPr>
        <p:spPr>
          <a:xfrm>
            <a:off x="2598896" y="2780405"/>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53" name="Text 51"/>
          <p:cNvSpPr/>
          <p:nvPr/>
        </p:nvSpPr>
        <p:spPr>
          <a:xfrm>
            <a:off x="2957513" y="2871788"/>
            <a:ext cx="590141"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Leaflet Maps</a:t>
            </a:r>
            <a:endParaRPr lang="en-US" sz="800" dirty="0"/>
          </a:p>
        </p:txBody>
      </p:sp>
      <p:sp>
        <p:nvSpPr>
          <p:cNvPr id="54" name="Text 52"/>
          <p:cNvSpPr/>
          <p:nvPr/>
        </p:nvSpPr>
        <p:spPr>
          <a:xfrm>
            <a:off x="2814638" y="2877145"/>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55" name="Text 53"/>
          <p:cNvSpPr/>
          <p:nvPr/>
        </p:nvSpPr>
        <p:spPr>
          <a:xfrm>
            <a:off x="4629150" y="1035844"/>
            <a:ext cx="2000250" cy="2132409"/>
          </a:xfrm>
          <a:prstGeom prst="roundRect">
            <a:avLst>
              <a:gd name="adj" fmla="val 3810"/>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56" name="Text 54"/>
          <p:cNvSpPr/>
          <p:nvPr/>
        </p:nvSpPr>
        <p:spPr>
          <a:xfrm>
            <a:off x="4629150" y="1035844"/>
            <a:ext cx="2000250" cy="357188"/>
          </a:xfrm>
          <a:prstGeom prst="rect">
            <a:avLst/>
          </a:prstGeom>
          <a:solidFill>
            <a:srgbClr val="0F172A"/>
          </a:solidFill>
          <a:ln/>
        </p:spPr>
        <p:txBody>
          <a:bodyPr wrap="square" rtlCol="0" anchor="ctr"/>
          <a:lstStyle/>
          <a:p>
            <a:pPr marL="0" indent="0">
              <a:buNone/>
            </a:pPr>
            <a:endParaRPr lang="en-US" dirty="0"/>
          </a:p>
        </p:txBody>
      </p:sp>
      <p:sp>
        <p:nvSpPr>
          <p:cNvPr id="57" name="Shape 55"/>
          <p:cNvSpPr/>
          <p:nvPr/>
        </p:nvSpPr>
        <p:spPr>
          <a:xfrm>
            <a:off x="4629150" y="1382316"/>
            <a:ext cx="2000250" cy="0"/>
          </a:xfrm>
          <a:prstGeom prst="line">
            <a:avLst/>
          </a:prstGeom>
          <a:noFill/>
          <a:ln w="21431">
            <a:solidFill>
              <a:srgbClr val="FF6B35"/>
            </a:solidFill>
            <a:prstDash val="solid"/>
          </a:ln>
        </p:spPr>
      </p:sp>
      <p:sp>
        <p:nvSpPr>
          <p:cNvPr id="58" name="Text 56"/>
          <p:cNvSpPr/>
          <p:nvPr/>
        </p:nvSpPr>
        <p:spPr>
          <a:xfrm>
            <a:off x="4743450" y="1125141"/>
            <a:ext cx="157163" cy="157163"/>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59" name="Text 57"/>
          <p:cNvSpPr/>
          <p:nvPr/>
        </p:nvSpPr>
        <p:spPr>
          <a:xfrm>
            <a:off x="4972050" y="1117997"/>
            <a:ext cx="1543050" cy="185166"/>
          </a:xfrm>
          <a:prstGeom prst="rect">
            <a:avLst/>
          </a:prstGeom>
          <a:noFill/>
          <a:ln/>
        </p:spPr>
        <p:txBody>
          <a:bodyPr wrap="none" lIns="0" tIns="0" rIns="0" bIns="0" rtlCol="0" anchor="t"/>
          <a:lstStyle/>
          <a:p>
            <a:pPr marL="0" indent="0" algn="l">
              <a:lnSpc>
                <a:spcPts val="1350"/>
              </a:lnSpc>
              <a:buNone/>
            </a:pPr>
            <a:r>
              <a:rPr lang="en-US" sz="900" b="1" kern="0" spc="54" dirty="0">
                <a:solidFill>
                  <a:srgbClr val="FFFFFF"/>
                </a:solidFill>
                <a:latin typeface="Carlito" pitchFamily="34" charset="0"/>
                <a:ea typeface="Carlito" pitchFamily="34" charset="-122"/>
                <a:cs typeface="Carlito" pitchFamily="34" charset="-120"/>
              </a:rPr>
              <a:t>AI &amp; APIS</a:t>
            </a:r>
            <a:endParaRPr lang="en-US" sz="900" dirty="0"/>
          </a:p>
        </p:txBody>
      </p:sp>
      <p:sp>
        <p:nvSpPr>
          <p:cNvPr id="60" name="Shape 58"/>
          <p:cNvSpPr/>
          <p:nvPr/>
        </p:nvSpPr>
        <p:spPr>
          <a:xfrm>
            <a:off x="6625828" y="1393031"/>
            <a:ext cx="0" cy="1775222"/>
          </a:xfrm>
          <a:prstGeom prst="line">
            <a:avLst/>
          </a:prstGeom>
          <a:noFill/>
          <a:ln w="7144">
            <a:solidFill>
              <a:srgbClr val="E2E8F0"/>
            </a:solidFill>
            <a:prstDash val="solid"/>
          </a:ln>
        </p:spPr>
      </p:sp>
      <p:sp>
        <p:nvSpPr>
          <p:cNvPr id="61" name="Shape 59"/>
          <p:cNvSpPr/>
          <p:nvPr/>
        </p:nvSpPr>
        <p:spPr>
          <a:xfrm>
            <a:off x="4629150" y="3164681"/>
            <a:ext cx="2000250" cy="0"/>
          </a:xfrm>
          <a:prstGeom prst="line">
            <a:avLst/>
          </a:prstGeom>
          <a:noFill/>
          <a:ln w="7144">
            <a:solidFill>
              <a:srgbClr val="E2E8F0"/>
            </a:solidFill>
            <a:prstDash val="solid"/>
          </a:ln>
        </p:spPr>
      </p:sp>
      <p:sp>
        <p:nvSpPr>
          <p:cNvPr id="62" name="Shape 60"/>
          <p:cNvSpPr/>
          <p:nvPr/>
        </p:nvSpPr>
        <p:spPr>
          <a:xfrm>
            <a:off x="4632722" y="1393031"/>
            <a:ext cx="0" cy="1775222"/>
          </a:xfrm>
          <a:prstGeom prst="line">
            <a:avLst/>
          </a:prstGeom>
          <a:noFill/>
          <a:ln w="7144">
            <a:solidFill>
              <a:srgbClr val="E2E8F0"/>
            </a:solidFill>
            <a:prstDash val="solid"/>
          </a:ln>
        </p:spPr>
      </p:sp>
      <p:sp>
        <p:nvSpPr>
          <p:cNvPr id="63" name="Text 61"/>
          <p:cNvSpPr/>
          <p:nvPr/>
        </p:nvSpPr>
        <p:spPr>
          <a:xfrm>
            <a:off x="4739878" y="1496616"/>
            <a:ext cx="1778794" cy="400050"/>
          </a:xfrm>
          <a:prstGeom prst="roundRect">
            <a:avLst>
              <a:gd name="adj" fmla="val 19048"/>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64" name="Text 62"/>
          <p:cNvSpPr/>
          <p:nvPr/>
        </p:nvSpPr>
        <p:spPr>
          <a:xfrm>
            <a:off x="5072063" y="1571625"/>
            <a:ext cx="912726" cy="291201"/>
          </a:xfrm>
          <a:prstGeom prst="rect">
            <a:avLst/>
          </a:prstGeom>
          <a:noFill/>
          <a:ln/>
        </p:spPr>
        <p:txBody>
          <a:bodyPr wrap="none" lIns="85725" tIns="57150" rIns="85725" bIns="5715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Azure OpenAI (recommendations)</a:t>
            </a:r>
            <a:endParaRPr lang="en-US" sz="800" dirty="0"/>
          </a:p>
        </p:txBody>
      </p:sp>
      <p:sp>
        <p:nvSpPr>
          <p:cNvPr id="65" name="Text 63"/>
          <p:cNvSpPr/>
          <p:nvPr/>
        </p:nvSpPr>
        <p:spPr>
          <a:xfrm>
            <a:off x="4929188" y="1646634"/>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66" name="Text 64"/>
          <p:cNvSpPr/>
          <p:nvPr/>
        </p:nvSpPr>
        <p:spPr>
          <a:xfrm>
            <a:off x="4739878" y="1960959"/>
            <a:ext cx="1778794" cy="400050"/>
          </a:xfrm>
          <a:prstGeom prst="roundRect">
            <a:avLst>
              <a:gd name="adj" fmla="val 19048"/>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67" name="Text 65"/>
          <p:cNvSpPr/>
          <p:nvPr/>
        </p:nvSpPr>
        <p:spPr>
          <a:xfrm>
            <a:off x="5072063" y="2035969"/>
            <a:ext cx="1194792" cy="291201"/>
          </a:xfrm>
          <a:prstGeom prst="rect">
            <a:avLst/>
          </a:prstGeom>
          <a:noFill/>
          <a:ln/>
        </p:spPr>
        <p:txBody>
          <a:bodyPr wrap="none" lIns="85725" tIns="57150" rIns="85725" bIns="5715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Azure Maps (geocoding + ETA)</a:t>
            </a:r>
            <a:endParaRPr lang="en-US" sz="800" dirty="0"/>
          </a:p>
        </p:txBody>
      </p:sp>
      <p:sp>
        <p:nvSpPr>
          <p:cNvPr id="68" name="Text 66"/>
          <p:cNvSpPr/>
          <p:nvPr/>
        </p:nvSpPr>
        <p:spPr>
          <a:xfrm>
            <a:off x="4929188" y="2110978"/>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69" name="Text 67"/>
          <p:cNvSpPr/>
          <p:nvPr/>
        </p:nvSpPr>
        <p:spPr>
          <a:xfrm>
            <a:off x="4713446" y="2408930"/>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70" name="Text 68"/>
          <p:cNvSpPr/>
          <p:nvPr/>
        </p:nvSpPr>
        <p:spPr>
          <a:xfrm>
            <a:off x="5072063" y="2500313"/>
            <a:ext cx="998116"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Razorpay (payments)</a:t>
            </a:r>
            <a:endParaRPr lang="en-US" sz="800" dirty="0"/>
          </a:p>
        </p:txBody>
      </p:sp>
      <p:sp>
        <p:nvSpPr>
          <p:cNvPr id="71" name="Text 69"/>
          <p:cNvSpPr/>
          <p:nvPr/>
        </p:nvSpPr>
        <p:spPr>
          <a:xfrm>
            <a:off x="4929188" y="2505670"/>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72" name="Text 70"/>
          <p:cNvSpPr/>
          <p:nvPr/>
        </p:nvSpPr>
        <p:spPr>
          <a:xfrm>
            <a:off x="4713446" y="2733970"/>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73" name="Text 71"/>
          <p:cNvSpPr/>
          <p:nvPr/>
        </p:nvSpPr>
        <p:spPr>
          <a:xfrm>
            <a:off x="5072063" y="2825353"/>
            <a:ext cx="949337"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OpenStreetMap tiles</a:t>
            </a:r>
            <a:endParaRPr lang="en-US" sz="800" dirty="0"/>
          </a:p>
        </p:txBody>
      </p:sp>
      <p:sp>
        <p:nvSpPr>
          <p:cNvPr id="74" name="Text 72"/>
          <p:cNvSpPr/>
          <p:nvPr/>
        </p:nvSpPr>
        <p:spPr>
          <a:xfrm>
            <a:off x="4929188" y="2830711"/>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75" name="Text 73"/>
          <p:cNvSpPr/>
          <p:nvPr/>
        </p:nvSpPr>
        <p:spPr>
          <a:xfrm>
            <a:off x="6743700" y="1035844"/>
            <a:ext cx="2000250" cy="2132409"/>
          </a:xfrm>
          <a:prstGeom prst="roundRect">
            <a:avLst>
              <a:gd name="adj" fmla="val 3810"/>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76" name="Text 74"/>
          <p:cNvSpPr/>
          <p:nvPr/>
        </p:nvSpPr>
        <p:spPr>
          <a:xfrm>
            <a:off x="6743700" y="1035844"/>
            <a:ext cx="2000250" cy="357188"/>
          </a:xfrm>
          <a:prstGeom prst="rect">
            <a:avLst/>
          </a:prstGeom>
          <a:solidFill>
            <a:srgbClr val="0F172A"/>
          </a:solidFill>
          <a:ln/>
        </p:spPr>
        <p:txBody>
          <a:bodyPr wrap="square" rtlCol="0" anchor="ctr"/>
          <a:lstStyle/>
          <a:p>
            <a:pPr marL="0" indent="0">
              <a:buNone/>
            </a:pPr>
            <a:endParaRPr lang="en-US" dirty="0"/>
          </a:p>
        </p:txBody>
      </p:sp>
      <p:sp>
        <p:nvSpPr>
          <p:cNvPr id="77" name="Shape 75"/>
          <p:cNvSpPr/>
          <p:nvPr/>
        </p:nvSpPr>
        <p:spPr>
          <a:xfrm>
            <a:off x="6743700" y="1382316"/>
            <a:ext cx="2000250" cy="0"/>
          </a:xfrm>
          <a:prstGeom prst="line">
            <a:avLst/>
          </a:prstGeom>
          <a:noFill/>
          <a:ln w="21431">
            <a:solidFill>
              <a:srgbClr val="FF6B35"/>
            </a:solidFill>
            <a:prstDash val="solid"/>
          </a:ln>
        </p:spPr>
      </p:sp>
      <p:sp>
        <p:nvSpPr>
          <p:cNvPr id="78" name="Text 76"/>
          <p:cNvSpPr/>
          <p:nvPr/>
        </p:nvSpPr>
        <p:spPr>
          <a:xfrm>
            <a:off x="6858000" y="1125141"/>
            <a:ext cx="157163" cy="157163"/>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79" name="Text 77"/>
          <p:cNvSpPr/>
          <p:nvPr/>
        </p:nvSpPr>
        <p:spPr>
          <a:xfrm>
            <a:off x="7086600" y="1117997"/>
            <a:ext cx="1543050" cy="185166"/>
          </a:xfrm>
          <a:prstGeom prst="rect">
            <a:avLst/>
          </a:prstGeom>
          <a:noFill/>
          <a:ln/>
        </p:spPr>
        <p:txBody>
          <a:bodyPr wrap="none" lIns="0" tIns="0" rIns="0" bIns="0" rtlCol="0" anchor="t"/>
          <a:lstStyle/>
          <a:p>
            <a:pPr marL="0" indent="0" algn="l">
              <a:lnSpc>
                <a:spcPts val="1350"/>
              </a:lnSpc>
              <a:buNone/>
            </a:pPr>
            <a:r>
              <a:rPr lang="en-US" sz="900" b="1" kern="0" spc="54" dirty="0">
                <a:solidFill>
                  <a:srgbClr val="FFFFFF"/>
                </a:solidFill>
                <a:latin typeface="Carlito" pitchFamily="34" charset="0"/>
                <a:ea typeface="Carlito" pitchFamily="34" charset="-122"/>
                <a:cs typeface="Carlito" pitchFamily="34" charset="-120"/>
              </a:rPr>
              <a:t>ROUTING &amp; MAP</a:t>
            </a:r>
            <a:endParaRPr lang="en-US" sz="900" dirty="0"/>
          </a:p>
        </p:txBody>
      </p:sp>
      <p:sp>
        <p:nvSpPr>
          <p:cNvPr id="80" name="Shape 78"/>
          <p:cNvSpPr/>
          <p:nvPr/>
        </p:nvSpPr>
        <p:spPr>
          <a:xfrm>
            <a:off x="8740378" y="1393031"/>
            <a:ext cx="0" cy="1775222"/>
          </a:xfrm>
          <a:prstGeom prst="line">
            <a:avLst/>
          </a:prstGeom>
          <a:noFill/>
          <a:ln w="7144">
            <a:solidFill>
              <a:srgbClr val="E2E8F0"/>
            </a:solidFill>
            <a:prstDash val="solid"/>
          </a:ln>
        </p:spPr>
      </p:sp>
      <p:sp>
        <p:nvSpPr>
          <p:cNvPr id="81" name="Shape 79"/>
          <p:cNvSpPr/>
          <p:nvPr/>
        </p:nvSpPr>
        <p:spPr>
          <a:xfrm>
            <a:off x="6743700" y="3164681"/>
            <a:ext cx="2000250" cy="0"/>
          </a:xfrm>
          <a:prstGeom prst="line">
            <a:avLst/>
          </a:prstGeom>
          <a:noFill/>
          <a:ln w="7144">
            <a:solidFill>
              <a:srgbClr val="E2E8F0"/>
            </a:solidFill>
            <a:prstDash val="solid"/>
          </a:ln>
        </p:spPr>
      </p:sp>
      <p:sp>
        <p:nvSpPr>
          <p:cNvPr id="82" name="Shape 80"/>
          <p:cNvSpPr/>
          <p:nvPr/>
        </p:nvSpPr>
        <p:spPr>
          <a:xfrm>
            <a:off x="6747272" y="1393031"/>
            <a:ext cx="0" cy="1775222"/>
          </a:xfrm>
          <a:prstGeom prst="line">
            <a:avLst/>
          </a:prstGeom>
          <a:noFill/>
          <a:ln w="7144">
            <a:solidFill>
              <a:srgbClr val="E2E8F0"/>
            </a:solidFill>
            <a:prstDash val="solid"/>
          </a:ln>
        </p:spPr>
      </p:sp>
      <p:sp>
        <p:nvSpPr>
          <p:cNvPr id="83" name="Text 81"/>
          <p:cNvSpPr/>
          <p:nvPr/>
        </p:nvSpPr>
        <p:spPr>
          <a:xfrm>
            <a:off x="6827996" y="1480242"/>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84" name="Text 82"/>
          <p:cNvSpPr/>
          <p:nvPr/>
        </p:nvSpPr>
        <p:spPr>
          <a:xfrm>
            <a:off x="7186613" y="1571625"/>
            <a:ext cx="1017761"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OSRM (route polyline)</a:t>
            </a:r>
            <a:endParaRPr lang="en-US" sz="800" dirty="0"/>
          </a:p>
        </p:txBody>
      </p:sp>
      <p:sp>
        <p:nvSpPr>
          <p:cNvPr id="85" name="Text 83"/>
          <p:cNvSpPr/>
          <p:nvPr/>
        </p:nvSpPr>
        <p:spPr>
          <a:xfrm>
            <a:off x="7043738" y="157698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86" name="Text 84"/>
          <p:cNvSpPr/>
          <p:nvPr/>
        </p:nvSpPr>
        <p:spPr>
          <a:xfrm>
            <a:off x="6827996" y="1805283"/>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87" name="Text 85"/>
          <p:cNvSpPr/>
          <p:nvPr/>
        </p:nvSpPr>
        <p:spPr>
          <a:xfrm>
            <a:off x="7186613" y="1896666"/>
            <a:ext cx="1104044"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Leaflet (map rendering)</a:t>
            </a:r>
            <a:endParaRPr lang="en-US" sz="800" dirty="0"/>
          </a:p>
        </p:txBody>
      </p:sp>
      <p:sp>
        <p:nvSpPr>
          <p:cNvPr id="88" name="Text 86"/>
          <p:cNvSpPr/>
          <p:nvPr/>
        </p:nvSpPr>
        <p:spPr>
          <a:xfrm>
            <a:off x="7043738" y="1902023"/>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89" name="Text 87"/>
          <p:cNvSpPr/>
          <p:nvPr/>
        </p:nvSpPr>
        <p:spPr>
          <a:xfrm>
            <a:off x="6854428" y="2146697"/>
            <a:ext cx="1778794" cy="260747"/>
          </a:xfrm>
          <a:prstGeom prst="roundRect">
            <a:avLst>
              <a:gd name="adj" fmla="val 29224"/>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90" name="Text 88"/>
          <p:cNvSpPr/>
          <p:nvPr/>
        </p:nvSpPr>
        <p:spPr>
          <a:xfrm>
            <a:off x="7186613" y="2221706"/>
            <a:ext cx="1222697"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Carlito" pitchFamily="34" charset="0"/>
                <a:ea typeface="Carlito" pitchFamily="34" charset="-122"/>
                <a:cs typeface="Carlito" pitchFamily="34" charset="-120"/>
              </a:rPr>
              <a:t>Rider &amp; customer markers</a:t>
            </a:r>
            <a:endParaRPr lang="en-US" sz="800" dirty="0"/>
          </a:p>
        </p:txBody>
      </p:sp>
      <p:sp>
        <p:nvSpPr>
          <p:cNvPr id="91" name="Text 89"/>
          <p:cNvSpPr/>
          <p:nvPr/>
        </p:nvSpPr>
        <p:spPr>
          <a:xfrm>
            <a:off x="7043738" y="2227064"/>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92" name="Text 90"/>
          <p:cNvSpPr/>
          <p:nvPr/>
        </p:nvSpPr>
        <p:spPr>
          <a:xfrm>
            <a:off x="6827996" y="2455364"/>
            <a:ext cx="1831657" cy="293494"/>
          </a:xfrm>
          <a:prstGeom prst="roundRect">
            <a:avLst>
              <a:gd name="adj" fmla="val 25963"/>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93" name="Text 91"/>
          <p:cNvSpPr/>
          <p:nvPr/>
        </p:nvSpPr>
        <p:spPr>
          <a:xfrm>
            <a:off x="7186613" y="2546747"/>
            <a:ext cx="876784" cy="107156"/>
          </a:xfrm>
          <a:prstGeom prst="rect">
            <a:avLst/>
          </a:prstGeom>
          <a:noFill/>
          <a:ln/>
        </p:spPr>
        <p:txBody>
          <a:bodyPr wrap="none" lIns="0" tIns="0" rIns="0" bIns="0" rtlCol="0" anchor="ctr"/>
          <a:lstStyle/>
          <a:p>
            <a:pPr marL="0" indent="0" algn="ctr">
              <a:lnSpc>
                <a:spcPts val="1097"/>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15-sec polling loop</a:t>
            </a:r>
            <a:endParaRPr lang="en-US" sz="800" dirty="0"/>
          </a:p>
        </p:txBody>
      </p:sp>
      <p:sp>
        <p:nvSpPr>
          <p:cNvPr id="94" name="Text 92"/>
          <p:cNvSpPr/>
          <p:nvPr/>
        </p:nvSpPr>
        <p:spPr>
          <a:xfrm>
            <a:off x="7043738" y="2552105"/>
            <a:ext cx="100013" cy="100013"/>
          </a:xfrm>
          <a:prstGeom prst="rect">
            <a:avLst/>
          </a:prstGeom>
          <a:noFill/>
          <a:ln/>
        </p:spPr>
        <p:txBody>
          <a:bodyPr wrap="none" lIns="0" tIns="0" rIns="0" bIns="0" rtlCol="0" anchor="ctr"/>
          <a:lstStyle/>
          <a:p>
            <a:pPr marL="0" indent="0" algn="ctr">
              <a:buNone/>
            </a:pPr>
            <a:r>
              <a:rPr lang="en-US" sz="984" dirty="0">
                <a:solidFill>
                  <a:srgbClr val="FF6B35"/>
                </a:solidFill>
                <a:latin typeface="Segoe UI Symbol" pitchFamily="34" charset="0"/>
                <a:ea typeface="Segoe UI Symbol" pitchFamily="34" charset="-122"/>
                <a:cs typeface="Segoe UI Symbol" pitchFamily="34" charset="-120"/>
              </a:rPr>
              <a:t>●</a:t>
            </a:r>
            <a:endParaRPr lang="en-US" sz="984" dirty="0"/>
          </a:p>
        </p:txBody>
      </p:sp>
      <p:sp>
        <p:nvSpPr>
          <p:cNvPr id="96" name="Text 93"/>
          <p:cNvSpPr/>
          <p:nvPr/>
        </p:nvSpPr>
        <p:spPr>
          <a:xfrm>
            <a:off x="400050" y="4054078"/>
            <a:ext cx="8636000" cy="164592"/>
          </a:xfrm>
          <a:prstGeom prst="rect">
            <a:avLst/>
          </a:prstGeom>
          <a:noFill/>
          <a:ln/>
        </p:spPr>
        <p:txBody>
          <a:bodyPr wrap="square" lIns="0" tIns="0" rIns="0" bIns="0" rtlCol="0" anchor="t"/>
          <a:lstStyle/>
          <a:p>
            <a:pPr marL="0" indent="0" algn="l">
              <a:lnSpc>
                <a:spcPts val="928"/>
              </a:lnSpc>
              <a:buNone/>
            </a:pPr>
            <a:r>
              <a:rPr lang="en-US" sz="800" i="1" kern="0" spc="12" dirty="0">
                <a:solidFill>
                  <a:srgbClr val="94A3B8"/>
                </a:solidFill>
                <a:latin typeface="Carlito" pitchFamily="34" charset="0"/>
                <a:ea typeface="Carlito" pitchFamily="34" charset="-122"/>
                <a:cs typeface="Carlito" pitchFamily="34" charset="-120"/>
              </a:rPr>
              <a:t>Reference: layered service architecture</a:t>
            </a:r>
            <a:endParaRPr lang="en-US" sz="800" dirty="0"/>
          </a:p>
        </p:txBody>
      </p:sp>
      <p:sp>
        <p:nvSpPr>
          <p:cNvPr id="97" name="Text 94"/>
          <p:cNvSpPr/>
          <p:nvPr/>
        </p:nvSpPr>
        <p:spPr>
          <a:xfrm>
            <a:off x="400050" y="4271963"/>
            <a:ext cx="8343900" cy="471488"/>
          </a:xfrm>
          <a:prstGeom prst="roundRect">
            <a:avLst>
              <a:gd name="adj" fmla="val 16162"/>
            </a:avLst>
          </a:prstGeom>
          <a:solidFill>
            <a:srgbClr val="FFFFFF"/>
          </a:solidFill>
          <a:ln/>
        </p:spPr>
        <p:txBody>
          <a:bodyPr wrap="square" rtlCol="0" anchor="ctr"/>
          <a:lstStyle/>
          <a:p>
            <a:pPr marL="0" indent="0">
              <a:buNone/>
            </a:pPr>
            <a:endParaRPr lang="en-US" dirty="0"/>
          </a:p>
        </p:txBody>
      </p:sp>
      <p:sp>
        <p:nvSpPr>
          <p:cNvPr id="98" name="Shape 95"/>
          <p:cNvSpPr/>
          <p:nvPr/>
        </p:nvSpPr>
        <p:spPr>
          <a:xfrm>
            <a:off x="728663" y="3789957"/>
            <a:ext cx="8343900" cy="0"/>
          </a:xfrm>
          <a:prstGeom prst="line">
            <a:avLst/>
          </a:prstGeom>
          <a:noFill/>
          <a:ln w="7144">
            <a:solidFill>
              <a:srgbClr val="E2E8F0"/>
            </a:solidFill>
            <a:prstDash val="solid"/>
          </a:ln>
        </p:spPr>
      </p:sp>
      <p:sp>
        <p:nvSpPr>
          <p:cNvPr id="99" name="Shape 96"/>
          <p:cNvSpPr/>
          <p:nvPr/>
        </p:nvSpPr>
        <p:spPr>
          <a:xfrm>
            <a:off x="8740378" y="4271963"/>
            <a:ext cx="0" cy="471488"/>
          </a:xfrm>
          <a:prstGeom prst="line">
            <a:avLst/>
          </a:prstGeom>
          <a:noFill/>
          <a:ln w="7144">
            <a:solidFill>
              <a:srgbClr val="E2E8F0"/>
            </a:solidFill>
            <a:prstDash val="solid"/>
          </a:ln>
        </p:spPr>
      </p:sp>
      <p:sp>
        <p:nvSpPr>
          <p:cNvPr id="100" name="Shape 97"/>
          <p:cNvSpPr/>
          <p:nvPr/>
        </p:nvSpPr>
        <p:spPr>
          <a:xfrm>
            <a:off x="400050" y="4739878"/>
            <a:ext cx="8343900" cy="0"/>
          </a:xfrm>
          <a:prstGeom prst="line">
            <a:avLst/>
          </a:prstGeom>
          <a:noFill/>
          <a:ln w="7144">
            <a:solidFill>
              <a:srgbClr val="E2E8F0"/>
            </a:solidFill>
            <a:prstDash val="solid"/>
          </a:ln>
        </p:spPr>
      </p:sp>
      <p:sp>
        <p:nvSpPr>
          <p:cNvPr id="101" name="Shape 98"/>
          <p:cNvSpPr/>
          <p:nvPr/>
        </p:nvSpPr>
        <p:spPr>
          <a:xfrm>
            <a:off x="414338" y="4271963"/>
            <a:ext cx="0" cy="471488"/>
          </a:xfrm>
          <a:prstGeom prst="line">
            <a:avLst/>
          </a:prstGeom>
          <a:noFill/>
          <a:ln w="28575">
            <a:solidFill>
              <a:srgbClr val="FF6B35"/>
            </a:solidFill>
            <a:prstDash val="solid"/>
          </a:ln>
        </p:spPr>
      </p:sp>
      <p:sp>
        <p:nvSpPr>
          <p:cNvPr id="102" name="Text 99"/>
          <p:cNvSpPr/>
          <p:nvPr/>
        </p:nvSpPr>
        <p:spPr>
          <a:xfrm>
            <a:off x="562928" y="4452557"/>
            <a:ext cx="1174544"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103" name="Text 100"/>
          <p:cNvSpPr/>
          <p:nvPr/>
        </p:nvSpPr>
        <p:spPr>
          <a:xfrm>
            <a:off x="585788" y="4463058"/>
            <a:ext cx="1128824" cy="173236"/>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INTEGRATION COUNT</a:t>
            </a:r>
            <a:endParaRPr lang="en-US" sz="800" dirty="0"/>
          </a:p>
        </p:txBody>
      </p:sp>
      <p:sp>
        <p:nvSpPr>
          <p:cNvPr id="104" name="Text 101"/>
          <p:cNvSpPr/>
          <p:nvPr/>
        </p:nvSpPr>
        <p:spPr>
          <a:xfrm>
            <a:off x="1814624" y="4379119"/>
            <a:ext cx="1170861" cy="186881"/>
          </a:xfrm>
          <a:prstGeom prst="rect">
            <a:avLst/>
          </a:prstGeom>
          <a:noFill/>
          <a:ln/>
        </p:spPr>
        <p:txBody>
          <a:bodyPr wrap="none" lIns="0" tIns="0" rIns="0" bIns="0" rtlCol="0" anchor="t">
            <a:normAutofit fontScale="40000" lnSpcReduction="20000"/>
          </a:bodyPr>
          <a:lstStyle/>
          <a:p>
            <a:pPr marL="0" indent="0" algn="l">
              <a:lnSpc>
                <a:spcPts val="1688"/>
              </a:lnSpc>
              <a:buNone/>
            </a:pPr>
            <a:r>
              <a:rPr lang="en-US" sz="1688" b="1" kern="0" spc="-34" dirty="0">
                <a:solidFill>
                  <a:srgbClr val="FF6B35"/>
                </a:solidFill>
                <a:latin typeface="Liberation Sans Narrow" pitchFamily="34" charset="0"/>
                <a:ea typeface="Liberation Sans Narrow" pitchFamily="34" charset="-122"/>
                <a:cs typeface="Liberation Sans Narrow" pitchFamily="34" charset="-120"/>
              </a:rPr>
              <a:t>12+</a:t>
            </a:r>
            <a:endParaRPr lang="en-US" sz="1688" dirty="0"/>
          </a:p>
        </p:txBody>
      </p:sp>
      <p:sp>
        <p:nvSpPr>
          <p:cNvPr id="105" name="Text 102"/>
          <p:cNvSpPr/>
          <p:nvPr/>
        </p:nvSpPr>
        <p:spPr>
          <a:xfrm>
            <a:off x="1814624" y="4593431"/>
            <a:ext cx="857655" cy="91440"/>
          </a:xfrm>
          <a:prstGeom prst="rect">
            <a:avLst/>
          </a:prstGeom>
          <a:noFill/>
          <a:ln/>
        </p:spPr>
        <p:txBody>
          <a:bodyPr wrap="square" lIns="0" tIns="0" rIns="0" bIns="0" rtlCol="0" anchor="t"/>
          <a:lstStyle/>
          <a:p>
            <a:pPr marL="0" indent="0" algn="l">
              <a:lnSpc>
                <a:spcPts val="1013"/>
              </a:lnSpc>
              <a:buNone/>
            </a:pPr>
            <a:r>
              <a:rPr lang="en-US" sz="800" dirty="0">
                <a:solidFill>
                  <a:srgbClr val="64748B"/>
                </a:solidFill>
                <a:latin typeface="Carlito" pitchFamily="34" charset="0"/>
                <a:ea typeface="Carlito" pitchFamily="34" charset="-122"/>
                <a:cs typeface="Carlito" pitchFamily="34" charset="-120"/>
              </a:rPr>
              <a:t>external services</a:t>
            </a:r>
            <a:endParaRPr lang="en-US" sz="800" dirty="0"/>
          </a:p>
        </p:txBody>
      </p:sp>
      <p:sp>
        <p:nvSpPr>
          <p:cNvPr id="106" name="Text 103"/>
          <p:cNvSpPr/>
          <p:nvPr/>
        </p:nvSpPr>
        <p:spPr>
          <a:xfrm>
            <a:off x="5907011" y="4452557"/>
            <a:ext cx="812669"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107" name="Text 104"/>
          <p:cNvSpPr/>
          <p:nvPr/>
        </p:nvSpPr>
        <p:spPr>
          <a:xfrm>
            <a:off x="5929871" y="4463058"/>
            <a:ext cx="766949" cy="173236"/>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BUILD TOOLS</a:t>
            </a:r>
            <a:endParaRPr lang="en-US" sz="800" dirty="0"/>
          </a:p>
        </p:txBody>
      </p:sp>
      <p:sp>
        <p:nvSpPr>
          <p:cNvPr id="108" name="Text 105"/>
          <p:cNvSpPr/>
          <p:nvPr/>
        </p:nvSpPr>
        <p:spPr>
          <a:xfrm>
            <a:off x="6796832" y="4473104"/>
            <a:ext cx="1889781" cy="163190"/>
          </a:xfrm>
          <a:prstGeom prst="rect">
            <a:avLst/>
          </a:prstGeom>
          <a:noFill/>
          <a:ln/>
        </p:spPr>
        <p:txBody>
          <a:bodyPr wrap="square" lIns="0" tIns="0" rIns="0" bIns="0" rtlCol="0" anchor="t"/>
          <a:lstStyle/>
          <a:p>
            <a:pPr marL="0" indent="0" algn="l">
              <a:lnSpc>
                <a:spcPts val="1221"/>
              </a:lnSpc>
              <a:buNone/>
            </a:pPr>
            <a:r>
              <a:rPr lang="en-US" sz="800" dirty="0">
                <a:solidFill>
                  <a:srgbClr val="0F172A"/>
                </a:solidFill>
                <a:latin typeface="Carlito" pitchFamily="34" charset="0"/>
                <a:ea typeface="Carlito" pitchFamily="34" charset="-122"/>
                <a:cs typeface="Carlito" pitchFamily="34" charset="-120"/>
              </a:rPr>
              <a:t>Maven • npm • Vite • Docker-ready</a:t>
            </a:r>
            <a:endParaRPr lang="en-US" sz="800" dirty="0"/>
          </a:p>
        </p:txBody>
      </p:sp>
      <p:sp>
        <p:nvSpPr>
          <p:cNvPr id="109" name="Text 106"/>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110" name="Shape 107"/>
          <p:cNvSpPr/>
          <p:nvPr/>
        </p:nvSpPr>
        <p:spPr>
          <a:xfrm>
            <a:off x="0" y="4947047"/>
            <a:ext cx="9144000" cy="0"/>
          </a:xfrm>
          <a:prstGeom prst="line">
            <a:avLst/>
          </a:prstGeom>
          <a:noFill/>
          <a:ln w="7144">
            <a:solidFill>
              <a:srgbClr val="E2E8F0"/>
            </a:solidFill>
            <a:prstDash val="solid"/>
          </a:ln>
        </p:spPr>
      </p:sp>
      <p:sp>
        <p:nvSpPr>
          <p:cNvPr id="111" name="Text 108"/>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112" name="Text 109"/>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4709512"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DESIGN</a:t>
            </a:r>
            <a:endParaRPr lang="en-US" sz="800" dirty="0"/>
          </a:p>
        </p:txBody>
      </p:sp>
      <p:sp>
        <p:nvSpPr>
          <p:cNvPr id="5" name="Text 3"/>
          <p:cNvSpPr/>
          <p:nvPr/>
        </p:nvSpPr>
        <p:spPr>
          <a:xfrm>
            <a:off x="400050" y="303609"/>
            <a:ext cx="3583854" cy="246459"/>
          </a:xfrm>
          <a:prstGeom prst="rect">
            <a:avLst/>
          </a:prstGeom>
          <a:noFill/>
          <a:ln/>
        </p:spPr>
        <p:txBody>
          <a:bodyPr wrap="squar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Architecture &amp; System Flow</a:t>
            </a:r>
            <a:endParaRPr lang="en-US" sz="1688" dirty="0"/>
          </a:p>
        </p:txBody>
      </p:sp>
      <p:sp>
        <p:nvSpPr>
          <p:cNvPr id="6" name="Text 4"/>
          <p:cNvSpPr/>
          <p:nvPr/>
        </p:nvSpPr>
        <p:spPr>
          <a:xfrm>
            <a:off x="7369671" y="283964"/>
            <a:ext cx="937428" cy="164592"/>
          </a:xfrm>
          <a:prstGeom prst="rect">
            <a:avLst/>
          </a:prstGeom>
          <a:noFill/>
          <a:ln/>
        </p:spPr>
        <p:txBody>
          <a:bodyPr wrap="none" lIns="0" tIns="0" rIns="0" bIns="0" rtlCol="0" anchor="t"/>
          <a:lstStyle/>
          <a:p>
            <a:pPr marL="0" indent="0" algn="l">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 AI</a:t>
            </a:r>
            <a:r>
              <a:rPr lang="en-US" sz="800" kern="0" spc="29" dirty="0">
                <a:solidFill>
                  <a:srgbClr val="FF6B35"/>
                </a:solidFill>
                <a:latin typeface="Carlito" pitchFamily="34" charset="0"/>
                <a:ea typeface="Carlito" pitchFamily="34" charset="-122"/>
                <a:cs typeface="Carlito" pitchFamily="34" charset="-120"/>
              </a:rPr>
              <a:t> •</a:t>
            </a:r>
            <a:endParaRPr lang="en-US" sz="800" dirty="0"/>
          </a:p>
        </p:txBody>
      </p:sp>
      <p:sp>
        <p:nvSpPr>
          <p:cNvPr id="7" name="Text 5"/>
          <p:cNvSpPr/>
          <p:nvPr/>
        </p:nvSpPr>
        <p:spPr>
          <a:xfrm>
            <a:off x="8245339" y="275034"/>
            <a:ext cx="7144" cy="157163"/>
          </a:xfrm>
          <a:prstGeom prst="rect">
            <a:avLst/>
          </a:prstGeom>
          <a:solidFill>
            <a:srgbClr val="FFFFFF">
              <a:alpha val="18000"/>
            </a:srgbClr>
          </a:solidFill>
          <a:ln/>
        </p:spPr>
        <p:txBody>
          <a:bodyPr wrap="square" rtlCol="0" anchor="ctr"/>
          <a:lstStyle/>
          <a:p>
            <a:pPr marL="0" indent="0">
              <a:buNone/>
            </a:pPr>
            <a:endParaRPr lang="en-US" dirty="0"/>
          </a:p>
        </p:txBody>
      </p:sp>
      <p:sp>
        <p:nvSpPr>
          <p:cNvPr id="8" name="Text 6"/>
          <p:cNvSpPr/>
          <p:nvPr/>
        </p:nvSpPr>
        <p:spPr>
          <a:xfrm>
            <a:off x="8352495" y="283964"/>
            <a:ext cx="391455" cy="164592"/>
          </a:xfrm>
          <a:prstGeom prst="rect">
            <a:avLst/>
          </a:prstGeom>
          <a:noFill/>
          <a:ln/>
        </p:spPr>
        <p:txBody>
          <a:bodyPr wrap="none" lIns="0" tIns="0" rIns="0" bIns="0" rtlCol="0" anchor="t"/>
          <a:lstStyle/>
          <a:p>
            <a:pPr marL="0" indent="0" algn="l">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05 / 15</a:t>
            </a:r>
            <a:endParaRPr lang="en-US" sz="800" dirty="0"/>
          </a:p>
        </p:txBody>
      </p:sp>
      <p:pic>
        <p:nvPicPr>
          <p:cNvPr id="9" name="Image 0" descr="/tmp/h2p-fit-1781702666161-cvrhhm.png"/>
          <p:cNvPicPr>
            <a:picLocks noChangeAspect="1"/>
          </p:cNvPicPr>
          <p:nvPr/>
        </p:nvPicPr>
        <p:blipFill>
          <a:blip r:embed="rId3">
            <a:alphaModFix amt="85000"/>
          </a:blip>
          <a:stretch>
            <a:fillRect/>
          </a:stretch>
        </p:blipFill>
        <p:spPr>
          <a:xfrm>
            <a:off x="400050" y="992981"/>
            <a:ext cx="8343900" cy="571500"/>
          </a:xfrm>
          <a:prstGeom prst="rect">
            <a:avLst/>
          </a:prstGeom>
        </p:spPr>
      </p:pic>
      <p:sp>
        <p:nvSpPr>
          <p:cNvPr id="10" name="Text 7"/>
          <p:cNvSpPr/>
          <p:nvPr/>
        </p:nvSpPr>
        <p:spPr>
          <a:xfrm>
            <a:off x="462915" y="1054560"/>
            <a:ext cx="1595132" cy="184023"/>
          </a:xfrm>
          <a:prstGeom prst="roundRect">
            <a:avLst>
              <a:gd name="adj" fmla="val 5170807"/>
            </a:avLst>
          </a:prstGeom>
          <a:solidFill>
            <a:srgbClr val="0F172A">
              <a:alpha val="78000"/>
            </a:srgbClr>
          </a:solidFill>
          <a:ln/>
        </p:spPr>
        <p:txBody>
          <a:bodyPr wrap="square" rtlCol="0" anchor="ctr"/>
          <a:lstStyle/>
          <a:p>
            <a:pPr marL="0" indent="0">
              <a:buNone/>
            </a:pPr>
            <a:endParaRPr lang="en-US" dirty="0"/>
          </a:p>
        </p:txBody>
      </p:sp>
      <p:sp>
        <p:nvSpPr>
          <p:cNvPr id="11" name="Text 8"/>
          <p:cNvSpPr/>
          <p:nvPr/>
        </p:nvSpPr>
        <p:spPr>
          <a:xfrm>
            <a:off x="557213" y="1128713"/>
            <a:ext cx="42863" cy="42863"/>
          </a:xfrm>
          <a:prstGeom prst="roundRect">
            <a:avLst>
              <a:gd name="adj" fmla="val 66666"/>
            </a:avLst>
          </a:prstGeom>
          <a:solidFill>
            <a:srgbClr val="FF6B35"/>
          </a:solidFill>
          <a:ln/>
        </p:spPr>
        <p:txBody>
          <a:bodyPr wrap="square" rtlCol="0" anchor="ctr"/>
          <a:lstStyle/>
          <a:p>
            <a:pPr marL="0" indent="0">
              <a:buNone/>
            </a:pPr>
            <a:endParaRPr lang="en-US" dirty="0"/>
          </a:p>
        </p:txBody>
      </p:sp>
      <p:sp>
        <p:nvSpPr>
          <p:cNvPr id="12" name="Text 9"/>
          <p:cNvSpPr/>
          <p:nvPr/>
        </p:nvSpPr>
        <p:spPr>
          <a:xfrm>
            <a:off x="485775" y="1064419"/>
            <a:ext cx="1549412" cy="164306"/>
          </a:xfrm>
          <a:prstGeom prst="rect">
            <a:avLst/>
          </a:prstGeom>
          <a:noFill/>
          <a:ln/>
        </p:spPr>
        <p:txBody>
          <a:bodyPr wrap="none" lIns="0" tIns="0" rIns="0" bIns="0" rtlCol="0" anchor="ctr"/>
          <a:lstStyle/>
          <a:p>
            <a:pPr marL="0" indent="0" algn="ctr">
              <a:lnSpc>
                <a:spcPts val="844"/>
              </a:lnSpc>
              <a:buNone/>
            </a:pPr>
            <a:r>
              <a:rPr lang="en-US" sz="800" b="1" kern="0" spc="79" dirty="0">
                <a:solidFill>
                  <a:srgbClr val="FFFFFF"/>
                </a:solidFill>
                <a:latin typeface="Carlito" pitchFamily="34" charset="0"/>
                <a:ea typeface="Carlito" pitchFamily="34" charset="-122"/>
                <a:cs typeface="Carlito" pitchFamily="34" charset="-120"/>
              </a:rPr>
              <a:t>REFERENCE ARCHITECTURE</a:t>
            </a:r>
            <a:endParaRPr lang="en-US" sz="800" dirty="0"/>
          </a:p>
        </p:txBody>
      </p:sp>
      <p:sp>
        <p:nvSpPr>
          <p:cNvPr id="13" name="Text 10"/>
          <p:cNvSpPr/>
          <p:nvPr/>
        </p:nvSpPr>
        <p:spPr>
          <a:xfrm>
            <a:off x="400050" y="1650206"/>
            <a:ext cx="8343900" cy="335613"/>
          </a:xfrm>
          <a:prstGeom prst="rect">
            <a:avLst/>
          </a:prstGeom>
          <a:noFill/>
          <a:ln/>
        </p:spPr>
        <p:txBody>
          <a:bodyPr wrap="square" lIns="0" tIns="0" rIns="0" bIns="0" rtlCol="0" anchor="t"/>
          <a:lstStyle/>
          <a:p>
            <a:pPr marL="0" indent="0" algn="l">
              <a:lnSpc>
                <a:spcPts val="1223"/>
              </a:lnSpc>
              <a:buNone/>
            </a:pPr>
            <a:r>
              <a:rPr lang="en-US" sz="816" dirty="0">
                <a:solidFill>
                  <a:srgbClr val="334155"/>
                </a:solidFill>
                <a:latin typeface="Carlito" pitchFamily="34" charset="0"/>
                <a:ea typeface="Carlito" pitchFamily="34" charset="-122"/>
                <a:cs typeface="Carlito" pitchFamily="34" charset="-120"/>
              </a:rPr>
              <a:t>A request travels through five logical layers — from the React client to the persistence layer — with Azure services injected at the recommendation and routing stages.</a:t>
            </a:r>
            <a:endParaRPr lang="en-US" sz="816" dirty="0"/>
          </a:p>
        </p:txBody>
      </p:sp>
      <p:sp>
        <p:nvSpPr>
          <p:cNvPr id="14" name="Text 11"/>
          <p:cNvSpPr/>
          <p:nvPr/>
        </p:nvSpPr>
        <p:spPr>
          <a:xfrm>
            <a:off x="403622" y="2064544"/>
            <a:ext cx="1593056" cy="1993106"/>
          </a:xfrm>
          <a:prstGeom prst="roundRect">
            <a:avLst>
              <a:gd name="adj" fmla="val 7175"/>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5" name="Text 12"/>
          <p:cNvSpPr/>
          <p:nvPr/>
        </p:nvSpPr>
        <p:spPr>
          <a:xfrm>
            <a:off x="507206" y="2153841"/>
            <a:ext cx="200025" cy="200025"/>
          </a:xfrm>
          <a:prstGeom prst="roundRect">
            <a:avLst>
              <a:gd name="adj" fmla="val 28571"/>
            </a:avLst>
          </a:prstGeom>
          <a:solidFill>
            <a:srgbClr val="0F172A"/>
          </a:solidFill>
          <a:ln/>
        </p:spPr>
        <p:txBody>
          <a:bodyPr wrap="square" rtlCol="0" anchor="ctr"/>
          <a:lstStyle/>
          <a:p>
            <a:pPr marL="0" indent="0">
              <a:buNone/>
            </a:pPr>
            <a:endParaRPr lang="en-US" dirty="0"/>
          </a:p>
        </p:txBody>
      </p:sp>
      <p:sp>
        <p:nvSpPr>
          <p:cNvPr id="16" name="Text 13"/>
          <p:cNvSpPr/>
          <p:nvPr/>
        </p:nvSpPr>
        <p:spPr>
          <a:xfrm>
            <a:off x="507206" y="2153841"/>
            <a:ext cx="200025" cy="200025"/>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7" name="Text 14"/>
          <p:cNvSpPr/>
          <p:nvPr/>
        </p:nvSpPr>
        <p:spPr>
          <a:xfrm>
            <a:off x="507206" y="2439591"/>
            <a:ext cx="228600" cy="228600"/>
          </a:xfrm>
          <a:prstGeom prst="rect">
            <a:avLst/>
          </a:prstGeom>
          <a:noFill/>
          <a:ln/>
        </p:spPr>
        <p:txBody>
          <a:bodyPr wrap="none" lIns="0" tIns="0" rIns="0" bIns="0" rtlCol="0" anchor="ctr"/>
          <a:lstStyle/>
          <a:p>
            <a:pPr marL="0" indent="0" algn="ctr">
              <a:buNone/>
            </a:pPr>
            <a:r>
              <a:rPr lang="en-US" sz="2250" dirty="0">
                <a:solidFill>
                  <a:srgbClr val="FF6B35"/>
                </a:solidFill>
                <a:latin typeface="Segoe UI Symbol" pitchFamily="34" charset="0"/>
                <a:ea typeface="Segoe UI Symbol" pitchFamily="34" charset="-122"/>
                <a:cs typeface="Segoe UI Symbol" pitchFamily="34" charset="-120"/>
              </a:rPr>
              <a:t>❄</a:t>
            </a:r>
            <a:endParaRPr lang="en-US" sz="2250" dirty="0"/>
          </a:p>
        </p:txBody>
      </p:sp>
      <p:sp>
        <p:nvSpPr>
          <p:cNvPr id="18" name="Text 15"/>
          <p:cNvSpPr/>
          <p:nvPr/>
        </p:nvSpPr>
        <p:spPr>
          <a:xfrm>
            <a:off x="507206" y="2725341"/>
            <a:ext cx="576646" cy="131649"/>
          </a:xfrm>
          <a:prstGeom prst="rect">
            <a:avLst/>
          </a:prstGeom>
          <a:noFill/>
          <a:ln/>
        </p:spPr>
        <p:txBody>
          <a:bodyPr wrap="none" lIns="0" tIns="0" rIns="0" bIns="0" rtlCol="0" anchor="t"/>
          <a:lstStyle/>
          <a:p>
            <a:pPr marL="0" indent="0" algn="l">
              <a:lnSpc>
                <a:spcPts val="945"/>
              </a:lnSpc>
              <a:buNone/>
            </a:pPr>
            <a:r>
              <a:rPr lang="en-US" sz="800" b="1" kern="0" spc="47" dirty="0">
                <a:solidFill>
                  <a:srgbClr val="0F172A"/>
                </a:solidFill>
                <a:latin typeface="Carlito" pitchFamily="34" charset="0"/>
                <a:ea typeface="Carlito" pitchFamily="34" charset="-122"/>
                <a:cs typeface="Carlito" pitchFamily="34" charset="-120"/>
              </a:rPr>
              <a:t>CLIENT</a:t>
            </a:r>
            <a:endParaRPr lang="en-US" sz="800" dirty="0"/>
          </a:p>
        </p:txBody>
      </p:sp>
      <p:sp>
        <p:nvSpPr>
          <p:cNvPr id="19" name="Text 16"/>
          <p:cNvSpPr/>
          <p:nvPr/>
        </p:nvSpPr>
        <p:spPr>
          <a:xfrm>
            <a:off x="507206" y="2902483"/>
            <a:ext cx="1469041" cy="493776"/>
          </a:xfrm>
          <a:prstGeom prst="rect">
            <a:avLst/>
          </a:prstGeom>
          <a:noFill/>
          <a:ln/>
        </p:spPr>
        <p:txBody>
          <a:bodyPr wrap="square" lIns="0" tIns="0" rIns="0" bIns="0" rtlCol="0" anchor="t"/>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React 19 + Vite SPA. Customer, Admin, and Delivery portals share one routing tree.</a:t>
            </a:r>
            <a:endParaRPr lang="en-US" sz="800" dirty="0"/>
          </a:p>
        </p:txBody>
      </p:sp>
      <p:sp>
        <p:nvSpPr>
          <p:cNvPr id="20" name="Text 17"/>
          <p:cNvSpPr/>
          <p:nvPr/>
        </p:nvSpPr>
        <p:spPr>
          <a:xfrm>
            <a:off x="507206" y="3696891"/>
            <a:ext cx="1385888" cy="271463"/>
          </a:xfrm>
          <a:prstGeom prst="roundRect">
            <a:avLst>
              <a:gd name="adj" fmla="val 3505257"/>
            </a:avLst>
          </a:prstGeom>
          <a:solidFill>
            <a:srgbClr val="FFF1EC"/>
          </a:solidFill>
          <a:ln/>
        </p:spPr>
        <p:txBody>
          <a:bodyPr wrap="square" rtlCol="0" anchor="ctr"/>
          <a:lstStyle/>
          <a:p>
            <a:pPr marL="0" indent="0">
              <a:buNone/>
            </a:pPr>
            <a:endParaRPr lang="en-US" dirty="0"/>
          </a:p>
        </p:txBody>
      </p:sp>
      <p:sp>
        <p:nvSpPr>
          <p:cNvPr id="21" name="Text 18"/>
          <p:cNvSpPr/>
          <p:nvPr/>
        </p:nvSpPr>
        <p:spPr>
          <a:xfrm>
            <a:off x="507206" y="3696891"/>
            <a:ext cx="1385888" cy="271463"/>
          </a:xfrm>
          <a:prstGeom prst="rect">
            <a:avLst/>
          </a:prstGeom>
          <a:noFill/>
          <a:ln/>
        </p:spPr>
        <p:txBody>
          <a:bodyPr wrap="square" lIns="57150" tIns="28575" rIns="57150" bIns="28575" rtlCol="0" anchor="t"/>
          <a:lstStyle/>
          <a:p>
            <a:pPr marL="0" indent="0" algn="l">
              <a:lnSpc>
                <a:spcPts val="844"/>
              </a:lnSpc>
              <a:buNone/>
            </a:pPr>
            <a:r>
              <a:rPr lang="en-US" sz="800" kern="0" spc="23" dirty="0">
                <a:solidFill>
                  <a:srgbClr val="E4541F"/>
                </a:solidFill>
                <a:latin typeface="Carlito" pitchFamily="34" charset="0"/>
                <a:ea typeface="Carlito" pitchFamily="34" charset="-122"/>
                <a:cs typeface="Carlito" pitchFamily="34" charset="-120"/>
              </a:rPr>
              <a:t>REACT 19 • VITE • BOOTSTRAP 5 • LEAFLET</a:t>
            </a:r>
            <a:endParaRPr lang="en-US" sz="800" dirty="0"/>
          </a:p>
        </p:txBody>
      </p:sp>
      <p:sp>
        <p:nvSpPr>
          <p:cNvPr id="22" name="Text 19"/>
          <p:cNvSpPr/>
          <p:nvPr/>
        </p:nvSpPr>
        <p:spPr>
          <a:xfrm>
            <a:off x="2078831" y="2078832"/>
            <a:ext cx="1593056" cy="1993106"/>
          </a:xfrm>
          <a:prstGeom prst="roundRect">
            <a:avLst>
              <a:gd name="adj" fmla="val 7175"/>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3" name="Text 20"/>
          <p:cNvSpPr/>
          <p:nvPr/>
        </p:nvSpPr>
        <p:spPr>
          <a:xfrm>
            <a:off x="2193131" y="2153841"/>
            <a:ext cx="200025" cy="200025"/>
          </a:xfrm>
          <a:prstGeom prst="roundRect">
            <a:avLst>
              <a:gd name="adj" fmla="val 28571"/>
            </a:avLst>
          </a:prstGeom>
          <a:solidFill>
            <a:srgbClr val="0F172A"/>
          </a:solidFill>
          <a:ln/>
        </p:spPr>
        <p:txBody>
          <a:bodyPr wrap="square" rtlCol="0" anchor="ctr"/>
          <a:lstStyle/>
          <a:p>
            <a:pPr marL="0" indent="0">
              <a:buNone/>
            </a:pPr>
            <a:endParaRPr lang="en-US" dirty="0"/>
          </a:p>
        </p:txBody>
      </p:sp>
      <p:sp>
        <p:nvSpPr>
          <p:cNvPr id="24" name="Text 21"/>
          <p:cNvSpPr/>
          <p:nvPr/>
        </p:nvSpPr>
        <p:spPr>
          <a:xfrm>
            <a:off x="2193131" y="2153841"/>
            <a:ext cx="200025" cy="200025"/>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5" name="Text 22"/>
          <p:cNvSpPr/>
          <p:nvPr/>
        </p:nvSpPr>
        <p:spPr>
          <a:xfrm>
            <a:off x="2193131" y="2439591"/>
            <a:ext cx="228600" cy="228600"/>
          </a:xfrm>
          <a:prstGeom prst="rect">
            <a:avLst/>
          </a:prstGeom>
          <a:noFill/>
          <a:ln/>
        </p:spPr>
        <p:txBody>
          <a:bodyPr wrap="none" lIns="0" tIns="0" rIns="0" bIns="0" rtlCol="0" anchor="ctr"/>
          <a:lstStyle/>
          <a:p>
            <a:pPr marL="0" indent="0" algn="ctr">
              <a:buNone/>
            </a:pPr>
            <a:r>
              <a:rPr lang="en-US" sz="2250" dirty="0">
                <a:solidFill>
                  <a:srgbClr val="FF6B35"/>
                </a:solidFill>
                <a:latin typeface="Segoe UI Symbol" pitchFamily="34" charset="0"/>
                <a:ea typeface="Segoe UI Symbol" pitchFamily="34" charset="-122"/>
                <a:cs typeface="Segoe UI Symbol" pitchFamily="34" charset="-120"/>
              </a:rPr>
              <a:t>⛨</a:t>
            </a:r>
            <a:endParaRPr lang="en-US" sz="2250" dirty="0"/>
          </a:p>
        </p:txBody>
      </p:sp>
      <p:sp>
        <p:nvSpPr>
          <p:cNvPr id="26" name="Text 23"/>
          <p:cNvSpPr/>
          <p:nvPr/>
        </p:nvSpPr>
        <p:spPr>
          <a:xfrm>
            <a:off x="2193131" y="2725341"/>
            <a:ext cx="1385888" cy="131649"/>
          </a:xfrm>
          <a:prstGeom prst="rect">
            <a:avLst/>
          </a:prstGeom>
          <a:noFill/>
          <a:ln/>
        </p:spPr>
        <p:txBody>
          <a:bodyPr wrap="none" lIns="0" tIns="0" rIns="0" bIns="0" rtlCol="0" anchor="t"/>
          <a:lstStyle/>
          <a:p>
            <a:pPr marL="0" indent="0" algn="l">
              <a:lnSpc>
                <a:spcPts val="945"/>
              </a:lnSpc>
              <a:buNone/>
            </a:pPr>
            <a:r>
              <a:rPr lang="en-US" sz="800" b="1" kern="0" spc="47" dirty="0">
                <a:solidFill>
                  <a:srgbClr val="0F172A"/>
                </a:solidFill>
                <a:latin typeface="Carlito" pitchFamily="34" charset="0"/>
                <a:ea typeface="Carlito" pitchFamily="34" charset="-122"/>
                <a:cs typeface="Carlito" pitchFamily="34" charset="-120"/>
              </a:rPr>
              <a:t>AUTH &amp; API GATEWAY</a:t>
            </a:r>
            <a:endParaRPr lang="en-US" sz="800" dirty="0"/>
          </a:p>
        </p:txBody>
      </p:sp>
      <p:sp>
        <p:nvSpPr>
          <p:cNvPr id="27" name="Text 24"/>
          <p:cNvSpPr/>
          <p:nvPr/>
        </p:nvSpPr>
        <p:spPr>
          <a:xfrm>
            <a:off x="2193131" y="2902483"/>
            <a:ext cx="1469041" cy="658368"/>
          </a:xfrm>
          <a:prstGeom prst="rect">
            <a:avLst/>
          </a:prstGeom>
          <a:noFill/>
          <a:ln/>
        </p:spPr>
        <p:txBody>
          <a:bodyPr wrap="square" lIns="0" tIns="0" rIns="0" bIns="0" rtlCol="0" anchor="t"/>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Spring Security validates JWT on every request, maps roles to endpoints, and routes to controllers.</a:t>
            </a:r>
            <a:endParaRPr lang="en-US" sz="800" dirty="0"/>
          </a:p>
        </p:txBody>
      </p:sp>
      <p:sp>
        <p:nvSpPr>
          <p:cNvPr id="28" name="Text 25"/>
          <p:cNvSpPr/>
          <p:nvPr/>
        </p:nvSpPr>
        <p:spPr>
          <a:xfrm>
            <a:off x="2193131" y="3696891"/>
            <a:ext cx="1385888" cy="271463"/>
          </a:xfrm>
          <a:prstGeom prst="roundRect">
            <a:avLst>
              <a:gd name="adj" fmla="val 3505257"/>
            </a:avLst>
          </a:prstGeom>
          <a:solidFill>
            <a:srgbClr val="FFF1EC"/>
          </a:solidFill>
          <a:ln/>
        </p:spPr>
        <p:txBody>
          <a:bodyPr wrap="square" rtlCol="0" anchor="ctr"/>
          <a:lstStyle/>
          <a:p>
            <a:pPr marL="0" indent="0">
              <a:buNone/>
            </a:pPr>
            <a:endParaRPr lang="en-US" dirty="0"/>
          </a:p>
        </p:txBody>
      </p:sp>
      <p:sp>
        <p:nvSpPr>
          <p:cNvPr id="29" name="Text 26"/>
          <p:cNvSpPr/>
          <p:nvPr/>
        </p:nvSpPr>
        <p:spPr>
          <a:xfrm>
            <a:off x="2193131" y="3696891"/>
            <a:ext cx="1385888" cy="271463"/>
          </a:xfrm>
          <a:prstGeom prst="rect">
            <a:avLst/>
          </a:prstGeom>
          <a:noFill/>
          <a:ln/>
        </p:spPr>
        <p:txBody>
          <a:bodyPr wrap="square" lIns="57150" tIns="28575" rIns="57150" bIns="28575" rtlCol="0" anchor="t"/>
          <a:lstStyle/>
          <a:p>
            <a:pPr marL="0" indent="0" algn="l">
              <a:lnSpc>
                <a:spcPts val="844"/>
              </a:lnSpc>
              <a:buNone/>
            </a:pPr>
            <a:r>
              <a:rPr lang="en-US" sz="800" kern="0" spc="23" dirty="0">
                <a:solidFill>
                  <a:srgbClr val="E4541F"/>
                </a:solidFill>
                <a:latin typeface="Carlito" pitchFamily="34" charset="0"/>
                <a:ea typeface="Carlito" pitchFamily="34" charset="-122"/>
                <a:cs typeface="Carlito" pitchFamily="34" charset="-120"/>
              </a:rPr>
              <a:t>SPRING SECURITY • JWT • ROLE FILTER</a:t>
            </a:r>
            <a:endParaRPr lang="en-US" sz="800" dirty="0"/>
          </a:p>
        </p:txBody>
      </p:sp>
      <p:sp>
        <p:nvSpPr>
          <p:cNvPr id="30" name="Text 27"/>
          <p:cNvSpPr/>
          <p:nvPr/>
        </p:nvSpPr>
        <p:spPr>
          <a:xfrm>
            <a:off x="3775472" y="2064544"/>
            <a:ext cx="1593056" cy="1993106"/>
          </a:xfrm>
          <a:prstGeom prst="roundRect">
            <a:avLst>
              <a:gd name="adj" fmla="val 7175"/>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1" name="Text 28"/>
          <p:cNvSpPr/>
          <p:nvPr/>
        </p:nvSpPr>
        <p:spPr>
          <a:xfrm>
            <a:off x="3879056" y="2153841"/>
            <a:ext cx="200025" cy="200025"/>
          </a:xfrm>
          <a:prstGeom prst="roundRect">
            <a:avLst>
              <a:gd name="adj" fmla="val 28571"/>
            </a:avLst>
          </a:prstGeom>
          <a:solidFill>
            <a:srgbClr val="0F172A"/>
          </a:solidFill>
          <a:ln/>
        </p:spPr>
        <p:txBody>
          <a:bodyPr wrap="square" rtlCol="0" anchor="ctr"/>
          <a:lstStyle/>
          <a:p>
            <a:pPr marL="0" indent="0">
              <a:buNone/>
            </a:pPr>
            <a:endParaRPr lang="en-US" dirty="0"/>
          </a:p>
        </p:txBody>
      </p:sp>
      <p:sp>
        <p:nvSpPr>
          <p:cNvPr id="32" name="Text 29"/>
          <p:cNvSpPr/>
          <p:nvPr/>
        </p:nvSpPr>
        <p:spPr>
          <a:xfrm>
            <a:off x="3879056" y="2153841"/>
            <a:ext cx="200025" cy="200025"/>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33" name="Text 30"/>
          <p:cNvSpPr/>
          <p:nvPr/>
        </p:nvSpPr>
        <p:spPr>
          <a:xfrm>
            <a:off x="3879056" y="2439591"/>
            <a:ext cx="228600" cy="228600"/>
          </a:xfrm>
          <a:prstGeom prst="rect">
            <a:avLst/>
          </a:prstGeom>
          <a:noFill/>
          <a:ln/>
        </p:spPr>
        <p:txBody>
          <a:bodyPr wrap="none" lIns="0" tIns="0" rIns="0" bIns="0" rtlCol="0" anchor="ctr"/>
          <a:lstStyle/>
          <a:p>
            <a:pPr marL="0" indent="0" algn="ctr">
              <a:buNone/>
            </a:pPr>
            <a:r>
              <a:rPr lang="en-US" sz="2250" dirty="0">
                <a:solidFill>
                  <a:srgbClr val="FF6B35"/>
                </a:solidFill>
                <a:latin typeface="Segoe UI Symbol" pitchFamily="34" charset="0"/>
                <a:ea typeface="Segoe UI Symbol" pitchFamily="34" charset="-122"/>
                <a:cs typeface="Segoe UI Symbol" pitchFamily="34" charset="-120"/>
              </a:rPr>
              <a:t>✦</a:t>
            </a:r>
            <a:endParaRPr lang="en-US" sz="2250" dirty="0"/>
          </a:p>
        </p:txBody>
      </p:sp>
      <p:sp>
        <p:nvSpPr>
          <p:cNvPr id="34" name="Text 31"/>
          <p:cNvSpPr/>
          <p:nvPr/>
        </p:nvSpPr>
        <p:spPr>
          <a:xfrm>
            <a:off x="3879056" y="2725341"/>
            <a:ext cx="1249630" cy="131649"/>
          </a:xfrm>
          <a:prstGeom prst="rect">
            <a:avLst/>
          </a:prstGeom>
          <a:noFill/>
          <a:ln/>
        </p:spPr>
        <p:txBody>
          <a:bodyPr wrap="none" lIns="0" tIns="0" rIns="0" bIns="0" rtlCol="0" anchor="t"/>
          <a:lstStyle/>
          <a:p>
            <a:pPr marL="0" indent="0" algn="l">
              <a:lnSpc>
                <a:spcPts val="945"/>
              </a:lnSpc>
              <a:buNone/>
            </a:pPr>
            <a:r>
              <a:rPr lang="en-US" sz="800" b="1" kern="0" spc="47" dirty="0">
                <a:solidFill>
                  <a:srgbClr val="0F172A"/>
                </a:solidFill>
                <a:latin typeface="Carlito" pitchFamily="34" charset="0"/>
                <a:ea typeface="Carlito" pitchFamily="34" charset="-122"/>
                <a:cs typeface="Carlito" pitchFamily="34" charset="-120"/>
              </a:rPr>
              <a:t>BUSINESS LOGIC</a:t>
            </a:r>
            <a:endParaRPr lang="en-US" sz="800" dirty="0"/>
          </a:p>
        </p:txBody>
      </p:sp>
      <p:sp>
        <p:nvSpPr>
          <p:cNvPr id="35" name="Text 32"/>
          <p:cNvSpPr/>
          <p:nvPr/>
        </p:nvSpPr>
        <p:spPr>
          <a:xfrm>
            <a:off x="3879056" y="2902483"/>
            <a:ext cx="1469041" cy="658368"/>
          </a:xfrm>
          <a:prstGeom prst="rect">
            <a:avLst/>
          </a:prstGeom>
          <a:noFill/>
          <a:ln/>
        </p:spPr>
        <p:txBody>
          <a:bodyPr wrap="square" lIns="0" tIns="0" rIns="0" bIns="0" rtlCol="0" anchor="t"/>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Spring Boot services handle ordering, coupons, recommendations, billing, and dispatch.</a:t>
            </a:r>
            <a:endParaRPr lang="en-US" sz="800" dirty="0"/>
          </a:p>
        </p:txBody>
      </p:sp>
      <p:sp>
        <p:nvSpPr>
          <p:cNvPr id="36" name="Text 33"/>
          <p:cNvSpPr/>
          <p:nvPr/>
        </p:nvSpPr>
        <p:spPr>
          <a:xfrm>
            <a:off x="3879056" y="3696891"/>
            <a:ext cx="1385888" cy="271463"/>
          </a:xfrm>
          <a:prstGeom prst="roundRect">
            <a:avLst>
              <a:gd name="adj" fmla="val 3505257"/>
            </a:avLst>
          </a:prstGeom>
          <a:solidFill>
            <a:srgbClr val="FFF1EC"/>
          </a:solidFill>
          <a:ln/>
        </p:spPr>
        <p:txBody>
          <a:bodyPr wrap="square" rtlCol="0" anchor="ctr"/>
          <a:lstStyle/>
          <a:p>
            <a:pPr marL="0" indent="0">
              <a:buNone/>
            </a:pPr>
            <a:endParaRPr lang="en-US" dirty="0"/>
          </a:p>
        </p:txBody>
      </p:sp>
      <p:sp>
        <p:nvSpPr>
          <p:cNvPr id="37" name="Text 34"/>
          <p:cNvSpPr/>
          <p:nvPr/>
        </p:nvSpPr>
        <p:spPr>
          <a:xfrm>
            <a:off x="3879056" y="3696891"/>
            <a:ext cx="1385888" cy="271463"/>
          </a:xfrm>
          <a:prstGeom prst="rect">
            <a:avLst/>
          </a:prstGeom>
          <a:noFill/>
          <a:ln/>
        </p:spPr>
        <p:txBody>
          <a:bodyPr wrap="square" lIns="57150" tIns="28575" rIns="57150" bIns="28575" rtlCol="0" anchor="t"/>
          <a:lstStyle/>
          <a:p>
            <a:pPr marL="0" indent="0" algn="l">
              <a:lnSpc>
                <a:spcPts val="844"/>
              </a:lnSpc>
              <a:buNone/>
            </a:pPr>
            <a:r>
              <a:rPr lang="en-US" sz="800" kern="0" spc="23" dirty="0">
                <a:solidFill>
                  <a:srgbClr val="E4541F"/>
                </a:solidFill>
                <a:latin typeface="Carlito" pitchFamily="34" charset="0"/>
                <a:ea typeface="Carlito" pitchFamily="34" charset="-122"/>
                <a:cs typeface="Carlito" pitchFamily="34" charset="-120"/>
              </a:rPr>
              <a:t>SPRING BOOT 4.1 • SERVICE LAYER • JPA</a:t>
            </a:r>
            <a:endParaRPr lang="en-US" sz="800" dirty="0"/>
          </a:p>
        </p:txBody>
      </p:sp>
      <p:sp>
        <p:nvSpPr>
          <p:cNvPr id="38" name="Text 35"/>
          <p:cNvSpPr/>
          <p:nvPr/>
        </p:nvSpPr>
        <p:spPr>
          <a:xfrm>
            <a:off x="5461397" y="2064544"/>
            <a:ext cx="1593056" cy="1993106"/>
          </a:xfrm>
          <a:prstGeom prst="roundRect">
            <a:avLst>
              <a:gd name="adj" fmla="val 7175"/>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9" name="Text 36"/>
          <p:cNvSpPr/>
          <p:nvPr/>
        </p:nvSpPr>
        <p:spPr>
          <a:xfrm>
            <a:off x="5564981" y="2153841"/>
            <a:ext cx="200025" cy="200025"/>
          </a:xfrm>
          <a:prstGeom prst="roundRect">
            <a:avLst>
              <a:gd name="adj" fmla="val 28571"/>
            </a:avLst>
          </a:prstGeom>
          <a:solidFill>
            <a:srgbClr val="0F172A"/>
          </a:solidFill>
          <a:ln/>
        </p:spPr>
        <p:txBody>
          <a:bodyPr wrap="square" rtlCol="0" anchor="ctr"/>
          <a:lstStyle/>
          <a:p>
            <a:pPr marL="0" indent="0">
              <a:buNone/>
            </a:pPr>
            <a:endParaRPr lang="en-US" dirty="0"/>
          </a:p>
        </p:txBody>
      </p:sp>
      <p:sp>
        <p:nvSpPr>
          <p:cNvPr id="40" name="Text 37"/>
          <p:cNvSpPr/>
          <p:nvPr/>
        </p:nvSpPr>
        <p:spPr>
          <a:xfrm>
            <a:off x="5564981" y="2153841"/>
            <a:ext cx="200025" cy="200025"/>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41" name="Text 38"/>
          <p:cNvSpPr/>
          <p:nvPr/>
        </p:nvSpPr>
        <p:spPr>
          <a:xfrm>
            <a:off x="5564981" y="2439591"/>
            <a:ext cx="228600" cy="228600"/>
          </a:xfrm>
          <a:prstGeom prst="rect">
            <a:avLst/>
          </a:prstGeom>
          <a:noFill/>
          <a:ln/>
        </p:spPr>
        <p:txBody>
          <a:bodyPr wrap="none" lIns="0" tIns="0" rIns="0" bIns="0" rtlCol="0" anchor="ctr"/>
          <a:lstStyle/>
          <a:p>
            <a:pPr marL="0" indent="0" algn="ctr">
              <a:buNone/>
            </a:pPr>
            <a:r>
              <a:rPr lang="en-US" sz="2250" dirty="0">
                <a:solidFill>
                  <a:srgbClr val="FF6B35"/>
                </a:solidFill>
                <a:latin typeface="Segoe UI Symbol" pitchFamily="34" charset="0"/>
                <a:ea typeface="Segoe UI Symbol" pitchFamily="34" charset="-122"/>
                <a:cs typeface="Segoe UI Symbol" pitchFamily="34" charset="-120"/>
              </a:rPr>
              <a:t>☁</a:t>
            </a:r>
            <a:endParaRPr lang="en-US" sz="2250" dirty="0"/>
          </a:p>
        </p:txBody>
      </p:sp>
      <p:sp>
        <p:nvSpPr>
          <p:cNvPr id="42" name="Text 39"/>
          <p:cNvSpPr/>
          <p:nvPr/>
        </p:nvSpPr>
        <p:spPr>
          <a:xfrm>
            <a:off x="5564981" y="2725341"/>
            <a:ext cx="1385887" cy="263298"/>
          </a:xfrm>
          <a:prstGeom prst="rect">
            <a:avLst/>
          </a:prstGeom>
          <a:noFill/>
          <a:ln/>
        </p:spPr>
        <p:txBody>
          <a:bodyPr wrap="none" lIns="0" tIns="0" rIns="0" bIns="0" rtlCol="0" anchor="t"/>
          <a:lstStyle/>
          <a:p>
            <a:pPr marL="0" indent="0" algn="l">
              <a:lnSpc>
                <a:spcPts val="945"/>
              </a:lnSpc>
              <a:buNone/>
            </a:pPr>
            <a:r>
              <a:rPr lang="en-US" sz="800" b="1" kern="0" spc="47" dirty="0">
                <a:solidFill>
                  <a:srgbClr val="0F172A"/>
                </a:solidFill>
                <a:latin typeface="Carlito" pitchFamily="34" charset="0"/>
                <a:ea typeface="Carlito" pitchFamily="34" charset="-122"/>
                <a:cs typeface="Carlito" pitchFamily="34" charset="-120"/>
              </a:rPr>
              <a:t>EXTERNAL AI SERVICES</a:t>
            </a:r>
            <a:endParaRPr lang="en-US" sz="800" dirty="0"/>
          </a:p>
        </p:txBody>
      </p:sp>
      <p:sp>
        <p:nvSpPr>
          <p:cNvPr id="43" name="Text 40"/>
          <p:cNvSpPr/>
          <p:nvPr/>
        </p:nvSpPr>
        <p:spPr>
          <a:xfrm>
            <a:off x="5564981" y="3022476"/>
            <a:ext cx="1469041" cy="646983"/>
          </a:xfrm>
          <a:prstGeom prst="rect">
            <a:avLst/>
          </a:prstGeom>
          <a:noFill/>
          <a:ln/>
        </p:spPr>
        <p:txBody>
          <a:bodyPr wrap="square" lIns="0" tIns="0" rIns="0" bIns="0" rtlCol="0" anchor="t">
            <a:normAutofit/>
          </a:bodyPr>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Azure OpenAI generates recommendations; Azure Maps returns ETA; Razorpay processes payments.</a:t>
            </a:r>
            <a:endParaRPr lang="en-US" sz="800" dirty="0"/>
          </a:p>
        </p:txBody>
      </p:sp>
      <p:sp>
        <p:nvSpPr>
          <p:cNvPr id="44" name="Text 41"/>
          <p:cNvSpPr/>
          <p:nvPr/>
        </p:nvSpPr>
        <p:spPr>
          <a:xfrm>
            <a:off x="5564981" y="3696891"/>
            <a:ext cx="1385888" cy="271463"/>
          </a:xfrm>
          <a:prstGeom prst="roundRect">
            <a:avLst>
              <a:gd name="adj" fmla="val 3505257"/>
            </a:avLst>
          </a:prstGeom>
          <a:solidFill>
            <a:srgbClr val="FFF1EC"/>
          </a:solidFill>
          <a:ln/>
        </p:spPr>
        <p:txBody>
          <a:bodyPr wrap="square" rtlCol="0" anchor="ctr"/>
          <a:lstStyle/>
          <a:p>
            <a:pPr marL="0" indent="0">
              <a:buNone/>
            </a:pPr>
            <a:endParaRPr lang="en-US" dirty="0"/>
          </a:p>
        </p:txBody>
      </p:sp>
      <p:sp>
        <p:nvSpPr>
          <p:cNvPr id="45" name="Text 42"/>
          <p:cNvSpPr/>
          <p:nvPr/>
        </p:nvSpPr>
        <p:spPr>
          <a:xfrm>
            <a:off x="5564981" y="3696891"/>
            <a:ext cx="1385888" cy="271463"/>
          </a:xfrm>
          <a:prstGeom prst="rect">
            <a:avLst/>
          </a:prstGeom>
          <a:noFill/>
          <a:ln/>
        </p:spPr>
        <p:txBody>
          <a:bodyPr wrap="square" lIns="57150" tIns="28575" rIns="57150" bIns="28575" rtlCol="0" anchor="t"/>
          <a:lstStyle/>
          <a:p>
            <a:pPr marL="0" indent="0" algn="l">
              <a:lnSpc>
                <a:spcPts val="844"/>
              </a:lnSpc>
              <a:buNone/>
            </a:pPr>
            <a:r>
              <a:rPr lang="en-US" sz="800" kern="0" spc="23" dirty="0">
                <a:solidFill>
                  <a:srgbClr val="E4541F"/>
                </a:solidFill>
                <a:latin typeface="Carlito" pitchFamily="34" charset="0"/>
                <a:ea typeface="Carlito" pitchFamily="34" charset="-122"/>
                <a:cs typeface="Carlito" pitchFamily="34" charset="-120"/>
              </a:rPr>
              <a:t>AZURE OPENAI • AZURE MAPS • RAZORPAY</a:t>
            </a:r>
            <a:endParaRPr lang="en-US" sz="800" dirty="0"/>
          </a:p>
        </p:txBody>
      </p:sp>
      <p:sp>
        <p:nvSpPr>
          <p:cNvPr id="46" name="Text 43"/>
          <p:cNvSpPr/>
          <p:nvPr/>
        </p:nvSpPr>
        <p:spPr>
          <a:xfrm>
            <a:off x="7147322" y="2064544"/>
            <a:ext cx="1593056" cy="1993106"/>
          </a:xfrm>
          <a:prstGeom prst="roundRect">
            <a:avLst>
              <a:gd name="adj" fmla="val 7175"/>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47" name="Text 44"/>
          <p:cNvSpPr/>
          <p:nvPr/>
        </p:nvSpPr>
        <p:spPr>
          <a:xfrm>
            <a:off x="7250906" y="2153841"/>
            <a:ext cx="200025" cy="200025"/>
          </a:xfrm>
          <a:prstGeom prst="roundRect">
            <a:avLst>
              <a:gd name="adj" fmla="val 28571"/>
            </a:avLst>
          </a:prstGeom>
          <a:solidFill>
            <a:srgbClr val="0F172A"/>
          </a:solidFill>
          <a:ln/>
        </p:spPr>
        <p:txBody>
          <a:bodyPr wrap="square" rtlCol="0" anchor="ctr"/>
          <a:lstStyle/>
          <a:p>
            <a:pPr marL="0" indent="0">
              <a:buNone/>
            </a:pPr>
            <a:endParaRPr lang="en-US" dirty="0"/>
          </a:p>
        </p:txBody>
      </p:sp>
      <p:sp>
        <p:nvSpPr>
          <p:cNvPr id="48" name="Text 45"/>
          <p:cNvSpPr/>
          <p:nvPr/>
        </p:nvSpPr>
        <p:spPr>
          <a:xfrm>
            <a:off x="7250906" y="2153841"/>
            <a:ext cx="200025" cy="200025"/>
          </a:xfrm>
          <a:prstGeom prst="rect">
            <a:avLst/>
          </a:prstGeom>
          <a:noFill/>
          <a:ln/>
        </p:spPr>
        <p:txBody>
          <a:bodyPr wrap="none" lIns="0" tIns="0" rIns="0" bIns="0" rtlCol="0" anchor="ctr"/>
          <a:lstStyle/>
          <a:p>
            <a:pPr marL="0" indent="0" algn="ctr">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49" name="Text 46"/>
          <p:cNvSpPr/>
          <p:nvPr/>
        </p:nvSpPr>
        <p:spPr>
          <a:xfrm>
            <a:off x="7250906" y="2439591"/>
            <a:ext cx="228600" cy="228600"/>
          </a:xfrm>
          <a:prstGeom prst="rect">
            <a:avLst/>
          </a:prstGeom>
          <a:noFill/>
          <a:ln/>
        </p:spPr>
        <p:txBody>
          <a:bodyPr wrap="none" lIns="0" tIns="0" rIns="0" bIns="0" rtlCol="0" anchor="ctr"/>
          <a:lstStyle/>
          <a:p>
            <a:pPr marL="0" indent="0" algn="ctr">
              <a:buNone/>
            </a:pPr>
            <a:r>
              <a:rPr lang="en-US" sz="2250" dirty="0">
                <a:solidFill>
                  <a:srgbClr val="FF6B35"/>
                </a:solidFill>
                <a:latin typeface="Segoe UI Symbol" pitchFamily="34" charset="0"/>
                <a:ea typeface="Segoe UI Symbol" pitchFamily="34" charset="-122"/>
                <a:cs typeface="Segoe UI Symbol" pitchFamily="34" charset="-120"/>
              </a:rPr>
              <a:t>▦</a:t>
            </a:r>
            <a:endParaRPr lang="en-US" sz="2250" dirty="0"/>
          </a:p>
        </p:txBody>
      </p:sp>
      <p:sp>
        <p:nvSpPr>
          <p:cNvPr id="50" name="Text 47"/>
          <p:cNvSpPr/>
          <p:nvPr/>
        </p:nvSpPr>
        <p:spPr>
          <a:xfrm>
            <a:off x="7250906" y="2725341"/>
            <a:ext cx="1019189" cy="131649"/>
          </a:xfrm>
          <a:prstGeom prst="rect">
            <a:avLst/>
          </a:prstGeom>
          <a:noFill/>
          <a:ln/>
        </p:spPr>
        <p:txBody>
          <a:bodyPr wrap="none" lIns="0" tIns="0" rIns="0" bIns="0" rtlCol="0" anchor="t"/>
          <a:lstStyle/>
          <a:p>
            <a:pPr marL="0" indent="0" algn="l">
              <a:lnSpc>
                <a:spcPts val="945"/>
              </a:lnSpc>
              <a:buNone/>
            </a:pPr>
            <a:r>
              <a:rPr lang="en-US" sz="800" b="1" kern="0" spc="47" dirty="0">
                <a:solidFill>
                  <a:srgbClr val="0F172A"/>
                </a:solidFill>
                <a:latin typeface="Carlito" pitchFamily="34" charset="0"/>
                <a:ea typeface="Carlito" pitchFamily="34" charset="-122"/>
                <a:cs typeface="Carlito" pitchFamily="34" charset="-120"/>
              </a:rPr>
              <a:t>PERSISTENCE</a:t>
            </a:r>
            <a:endParaRPr lang="en-US" sz="800" dirty="0"/>
          </a:p>
        </p:txBody>
      </p:sp>
      <p:sp>
        <p:nvSpPr>
          <p:cNvPr id="51" name="Text 48"/>
          <p:cNvSpPr/>
          <p:nvPr/>
        </p:nvSpPr>
        <p:spPr>
          <a:xfrm>
            <a:off x="7250906" y="2902483"/>
            <a:ext cx="1469041" cy="658368"/>
          </a:xfrm>
          <a:prstGeom prst="rect">
            <a:avLst/>
          </a:prstGeom>
          <a:noFill/>
          <a:ln/>
        </p:spPr>
        <p:txBody>
          <a:bodyPr wrap="square" lIns="0" tIns="0" rIns="0" bIns="0" rtlCol="0" anchor="t"/>
          <a:lstStyle/>
          <a:p>
            <a:pPr marL="0" indent="0" algn="l">
              <a:lnSpc>
                <a:spcPts val="1013"/>
              </a:lnSpc>
              <a:buNone/>
            </a:pPr>
            <a:r>
              <a:rPr lang="en-US" sz="800" dirty="0">
                <a:solidFill>
                  <a:srgbClr val="334155"/>
                </a:solidFill>
                <a:latin typeface="Carlito" pitchFamily="34" charset="0"/>
                <a:ea typeface="Carlito" pitchFamily="34" charset="-122"/>
                <a:cs typeface="Carlito" pitchFamily="34" charset="-120"/>
              </a:rPr>
              <a:t>MySQL stores users, orders, menu, payments; Redis-optional cache for sessions and recommendations.</a:t>
            </a:r>
            <a:endParaRPr lang="en-US" sz="800" dirty="0"/>
          </a:p>
        </p:txBody>
      </p:sp>
      <p:sp>
        <p:nvSpPr>
          <p:cNvPr id="52" name="Text 49"/>
          <p:cNvSpPr/>
          <p:nvPr/>
        </p:nvSpPr>
        <p:spPr>
          <a:xfrm>
            <a:off x="7250906" y="3696891"/>
            <a:ext cx="1385888" cy="271463"/>
          </a:xfrm>
          <a:prstGeom prst="roundRect">
            <a:avLst>
              <a:gd name="adj" fmla="val 3505257"/>
            </a:avLst>
          </a:prstGeom>
          <a:solidFill>
            <a:srgbClr val="FFF1EC"/>
          </a:solidFill>
          <a:ln/>
        </p:spPr>
        <p:txBody>
          <a:bodyPr wrap="square" rtlCol="0" anchor="ctr"/>
          <a:lstStyle/>
          <a:p>
            <a:pPr marL="0" indent="0">
              <a:buNone/>
            </a:pPr>
            <a:endParaRPr lang="en-US" dirty="0"/>
          </a:p>
        </p:txBody>
      </p:sp>
      <p:sp>
        <p:nvSpPr>
          <p:cNvPr id="53" name="Text 50"/>
          <p:cNvSpPr/>
          <p:nvPr/>
        </p:nvSpPr>
        <p:spPr>
          <a:xfrm>
            <a:off x="7250906" y="3696891"/>
            <a:ext cx="1385888" cy="271463"/>
          </a:xfrm>
          <a:prstGeom prst="rect">
            <a:avLst/>
          </a:prstGeom>
          <a:noFill/>
          <a:ln/>
        </p:spPr>
        <p:txBody>
          <a:bodyPr wrap="square" lIns="57150" tIns="28575" rIns="57150" bIns="28575" rtlCol="0" anchor="t"/>
          <a:lstStyle/>
          <a:p>
            <a:pPr marL="0" indent="0" algn="l">
              <a:lnSpc>
                <a:spcPts val="844"/>
              </a:lnSpc>
              <a:buNone/>
            </a:pPr>
            <a:r>
              <a:rPr lang="en-US" sz="800" kern="0" spc="23" dirty="0">
                <a:solidFill>
                  <a:srgbClr val="E4541F"/>
                </a:solidFill>
                <a:latin typeface="Carlito" pitchFamily="34" charset="0"/>
                <a:ea typeface="Carlito" pitchFamily="34" charset="-122"/>
                <a:cs typeface="Carlito" pitchFamily="34" charset="-120"/>
              </a:rPr>
              <a:t>MYSQL • HIBERNATE/JPA • SPRING DATA</a:t>
            </a:r>
            <a:endParaRPr lang="en-US" sz="800" dirty="0"/>
          </a:p>
        </p:txBody>
      </p:sp>
      <p:sp>
        <p:nvSpPr>
          <p:cNvPr id="54" name="Text 51"/>
          <p:cNvSpPr/>
          <p:nvPr/>
        </p:nvSpPr>
        <p:spPr>
          <a:xfrm>
            <a:off x="400050" y="4175522"/>
            <a:ext cx="8343900" cy="464344"/>
          </a:xfrm>
          <a:prstGeom prst="roundRect">
            <a:avLst>
              <a:gd name="adj" fmla="val 16410"/>
            </a:avLst>
          </a:prstGeom>
          <a:solidFill>
            <a:srgbClr val="FFFFFF"/>
          </a:solidFill>
          <a:ln/>
        </p:spPr>
        <p:txBody>
          <a:bodyPr wrap="square" rtlCol="0" anchor="ctr"/>
          <a:lstStyle/>
          <a:p>
            <a:pPr marL="0" indent="0">
              <a:buNone/>
            </a:pPr>
            <a:endParaRPr lang="en-US" dirty="0"/>
          </a:p>
        </p:txBody>
      </p:sp>
      <p:sp>
        <p:nvSpPr>
          <p:cNvPr id="55" name="Shape 52"/>
          <p:cNvSpPr/>
          <p:nvPr/>
        </p:nvSpPr>
        <p:spPr>
          <a:xfrm>
            <a:off x="400050" y="4179094"/>
            <a:ext cx="8343900" cy="0"/>
          </a:xfrm>
          <a:prstGeom prst="line">
            <a:avLst/>
          </a:prstGeom>
          <a:noFill/>
          <a:ln w="7144">
            <a:solidFill>
              <a:srgbClr val="E2E8F0"/>
            </a:solidFill>
            <a:prstDash val="solid"/>
          </a:ln>
        </p:spPr>
      </p:sp>
      <p:sp>
        <p:nvSpPr>
          <p:cNvPr id="56" name="Shape 53"/>
          <p:cNvSpPr/>
          <p:nvPr/>
        </p:nvSpPr>
        <p:spPr>
          <a:xfrm>
            <a:off x="8740378" y="4175522"/>
            <a:ext cx="0" cy="464344"/>
          </a:xfrm>
          <a:prstGeom prst="line">
            <a:avLst/>
          </a:prstGeom>
          <a:noFill/>
          <a:ln w="7144">
            <a:solidFill>
              <a:srgbClr val="E2E8F0"/>
            </a:solidFill>
            <a:prstDash val="solid"/>
          </a:ln>
        </p:spPr>
      </p:sp>
      <p:sp>
        <p:nvSpPr>
          <p:cNvPr id="57" name="Shape 54"/>
          <p:cNvSpPr/>
          <p:nvPr/>
        </p:nvSpPr>
        <p:spPr>
          <a:xfrm>
            <a:off x="400050" y="4636294"/>
            <a:ext cx="8343900" cy="0"/>
          </a:xfrm>
          <a:prstGeom prst="line">
            <a:avLst/>
          </a:prstGeom>
          <a:noFill/>
          <a:ln w="7144">
            <a:solidFill>
              <a:srgbClr val="E2E8F0"/>
            </a:solidFill>
            <a:prstDash val="solid"/>
          </a:ln>
        </p:spPr>
      </p:sp>
      <p:sp>
        <p:nvSpPr>
          <p:cNvPr id="58" name="Shape 55"/>
          <p:cNvSpPr/>
          <p:nvPr/>
        </p:nvSpPr>
        <p:spPr>
          <a:xfrm>
            <a:off x="414338" y="4175522"/>
            <a:ext cx="0" cy="464344"/>
          </a:xfrm>
          <a:prstGeom prst="line">
            <a:avLst/>
          </a:prstGeom>
          <a:noFill/>
          <a:ln w="28575">
            <a:solidFill>
              <a:srgbClr val="FF6B35"/>
            </a:solidFill>
            <a:prstDash val="solid"/>
          </a:ln>
        </p:spPr>
      </p:sp>
      <p:sp>
        <p:nvSpPr>
          <p:cNvPr id="59" name="Text 56"/>
          <p:cNvSpPr/>
          <p:nvPr/>
        </p:nvSpPr>
        <p:spPr>
          <a:xfrm>
            <a:off x="557213" y="4329113"/>
            <a:ext cx="157163" cy="157163"/>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60" name="Text 57"/>
          <p:cNvSpPr/>
          <p:nvPr/>
        </p:nvSpPr>
        <p:spPr>
          <a:xfrm>
            <a:off x="814388" y="4348758"/>
            <a:ext cx="1062048" cy="164592"/>
          </a:xfrm>
          <a:prstGeom prst="rect">
            <a:avLst/>
          </a:prstGeom>
          <a:noFill/>
          <a:ln/>
        </p:spPr>
        <p:txBody>
          <a:bodyPr wrap="none" lIns="0" tIns="0" rIns="0" bIns="0" rtlCol="0" anchor="t"/>
          <a:lstStyle/>
          <a:p>
            <a:pPr marL="0" indent="0" algn="l">
              <a:lnSpc>
                <a:spcPts val="928"/>
              </a:lnSpc>
              <a:buNone/>
            </a:pPr>
            <a:r>
              <a:rPr lang="en-US" sz="800" b="1" kern="0" spc="87" dirty="0">
                <a:solidFill>
                  <a:srgbClr val="E4541F"/>
                </a:solidFill>
                <a:latin typeface="Carlito" pitchFamily="34" charset="0"/>
                <a:ea typeface="Carlito" pitchFamily="34" charset="-122"/>
                <a:cs typeface="Carlito" pitchFamily="34" charset="-120"/>
              </a:rPr>
              <a:t>POLLING LOOP</a:t>
            </a:r>
            <a:endParaRPr lang="en-US" sz="800" dirty="0"/>
          </a:p>
        </p:txBody>
      </p:sp>
      <p:sp>
        <p:nvSpPr>
          <p:cNvPr id="61" name="Text 58"/>
          <p:cNvSpPr/>
          <p:nvPr/>
        </p:nvSpPr>
        <p:spPr>
          <a:xfrm>
            <a:off x="1696306" y="4268391"/>
            <a:ext cx="6911913" cy="278606"/>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Every </a:t>
            </a:r>
            <a:r>
              <a:rPr lang="en-US" sz="800" dirty="0">
                <a:solidFill>
                  <a:srgbClr val="0F172A"/>
                </a:solidFill>
                <a:latin typeface="Liberation Sans Narrow" pitchFamily="34" charset="0"/>
                <a:ea typeface="Liberation Sans Narrow" pitchFamily="34" charset="-122"/>
                <a:cs typeface="Liberation Sans Narrow" pitchFamily="34" charset="-120"/>
              </a:rPr>
              <a:t>15s</a:t>
            </a:r>
            <a:r>
              <a:rPr lang="en-US" sz="800" dirty="0">
                <a:solidFill>
                  <a:srgbClr val="334155"/>
                </a:solidFill>
                <a:latin typeface="Carlito" pitchFamily="34" charset="0"/>
                <a:ea typeface="Carlito" pitchFamily="34" charset="-122"/>
                <a:cs typeface="Carlito" pitchFamily="34" charset="-120"/>
              </a:rPr>
              <a:t>, the customer UI fetches the rider's latest GPS coordinate from the delivery service; the backend calls OSRM for the route polyline and Azure Maps for ETA, then returns both to the map.</a:t>
            </a:r>
            <a:endParaRPr lang="en-US" sz="800" dirty="0"/>
          </a:p>
        </p:txBody>
      </p:sp>
      <p:sp>
        <p:nvSpPr>
          <p:cNvPr id="62" name="Text 59"/>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63" name="Shape 60"/>
          <p:cNvSpPr/>
          <p:nvPr/>
        </p:nvSpPr>
        <p:spPr>
          <a:xfrm>
            <a:off x="0" y="4947047"/>
            <a:ext cx="9144000" cy="0"/>
          </a:xfrm>
          <a:prstGeom prst="line">
            <a:avLst/>
          </a:prstGeom>
          <a:noFill/>
          <a:ln w="7144">
            <a:solidFill>
              <a:srgbClr val="E2E8F0"/>
            </a:solidFill>
            <a:prstDash val="solid"/>
          </a:ln>
        </p:spPr>
      </p:sp>
      <p:sp>
        <p:nvSpPr>
          <p:cNvPr id="64" name="Text 61"/>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65" name="Text 62"/>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05 / 15</a:t>
            </a:r>
            <a:endParaRPr lang="en-US" sz="800" dirty="0"/>
          </a:p>
        </p:txBody>
      </p:sp>
      <p:sp>
        <p:nvSpPr>
          <p:cNvPr id="66" name="Text 63"/>
          <p:cNvSpPr/>
          <p:nvPr/>
        </p:nvSpPr>
        <p:spPr>
          <a:xfrm>
            <a:off x="1975917" y="2968228"/>
            <a:ext cx="185738" cy="185738"/>
          </a:xfrm>
          <a:prstGeom prst="roundRect">
            <a:avLst>
              <a:gd name="adj" fmla="val 66666"/>
            </a:avLst>
          </a:prstGeom>
          <a:solidFill>
            <a:srgbClr val="F6F7F9"/>
          </a:solidFill>
          <a:ln/>
        </p:spPr>
        <p:txBody>
          <a:bodyPr wrap="square" rtlCol="0" anchor="ctr"/>
          <a:lstStyle/>
          <a:p>
            <a:pPr marL="0" indent="0">
              <a:buNone/>
            </a:pPr>
            <a:endParaRPr lang="en-US" dirty="0"/>
          </a:p>
        </p:txBody>
      </p:sp>
      <p:sp>
        <p:nvSpPr>
          <p:cNvPr id="67" name="Text 64"/>
          <p:cNvSpPr/>
          <p:nvPr/>
        </p:nvSpPr>
        <p:spPr>
          <a:xfrm>
            <a:off x="1975917" y="2968228"/>
            <a:ext cx="293465" cy="200597"/>
          </a:xfrm>
          <a:prstGeom prst="rect">
            <a:avLst/>
          </a:prstGeom>
          <a:noFill/>
          <a:ln/>
        </p:spPr>
        <p:txBody>
          <a:bodyPr wrap="none" lIns="0" tIns="0" rIns="0" bIns="0" rtlCol="0" anchor="t"/>
          <a:lstStyle/>
          <a:p>
            <a:pPr marL="0" indent="0" algn="l">
              <a:lnSpc>
                <a:spcPts val="1350"/>
              </a:lnSpc>
              <a:buNone/>
            </a:pPr>
            <a:r>
              <a:rPr lang="en-US" sz="900" dirty="0">
                <a:solidFill>
                  <a:srgbClr val="FF6B35"/>
                </a:solidFill>
                <a:latin typeface="Segoe UI Symbol" pitchFamily="34" charset="0"/>
                <a:ea typeface="Segoe UI Symbol" pitchFamily="34" charset="-122"/>
                <a:cs typeface="Segoe UI Symbol" pitchFamily="34" charset="-120"/>
              </a:rPr>
              <a:t>›</a:t>
            </a:r>
            <a:endParaRPr lang="en-US" sz="900" dirty="0"/>
          </a:p>
        </p:txBody>
      </p:sp>
      <p:sp>
        <p:nvSpPr>
          <p:cNvPr id="68" name="Text 65"/>
          <p:cNvSpPr/>
          <p:nvPr/>
        </p:nvSpPr>
        <p:spPr>
          <a:xfrm>
            <a:off x="3644652" y="2968228"/>
            <a:ext cx="185738" cy="185738"/>
          </a:xfrm>
          <a:prstGeom prst="roundRect">
            <a:avLst>
              <a:gd name="adj" fmla="val 66666"/>
            </a:avLst>
          </a:prstGeom>
          <a:solidFill>
            <a:srgbClr val="F6F7F9"/>
          </a:solidFill>
          <a:ln/>
        </p:spPr>
        <p:txBody>
          <a:bodyPr wrap="square" rtlCol="0" anchor="ctr"/>
          <a:lstStyle/>
          <a:p>
            <a:pPr marL="0" indent="0">
              <a:buNone/>
            </a:pPr>
            <a:endParaRPr lang="en-US" dirty="0"/>
          </a:p>
        </p:txBody>
      </p:sp>
      <p:sp>
        <p:nvSpPr>
          <p:cNvPr id="69" name="Text 66"/>
          <p:cNvSpPr/>
          <p:nvPr/>
        </p:nvSpPr>
        <p:spPr>
          <a:xfrm>
            <a:off x="3644652" y="2968228"/>
            <a:ext cx="293465" cy="200597"/>
          </a:xfrm>
          <a:prstGeom prst="rect">
            <a:avLst/>
          </a:prstGeom>
          <a:noFill/>
          <a:ln/>
        </p:spPr>
        <p:txBody>
          <a:bodyPr wrap="none" lIns="0" tIns="0" rIns="0" bIns="0" rtlCol="0" anchor="t"/>
          <a:lstStyle/>
          <a:p>
            <a:pPr marL="0" indent="0" algn="l">
              <a:lnSpc>
                <a:spcPts val="1350"/>
              </a:lnSpc>
              <a:buNone/>
            </a:pPr>
            <a:r>
              <a:rPr lang="en-US" sz="900" dirty="0">
                <a:solidFill>
                  <a:srgbClr val="FF6B35"/>
                </a:solidFill>
                <a:latin typeface="Segoe UI Symbol" pitchFamily="34" charset="0"/>
                <a:ea typeface="Segoe UI Symbol" pitchFamily="34" charset="-122"/>
                <a:cs typeface="Segoe UI Symbol" pitchFamily="34" charset="-120"/>
              </a:rPr>
              <a:t>›</a:t>
            </a:r>
            <a:endParaRPr lang="en-US" sz="900" dirty="0"/>
          </a:p>
        </p:txBody>
      </p:sp>
      <p:sp>
        <p:nvSpPr>
          <p:cNvPr id="70" name="Text 67"/>
          <p:cNvSpPr/>
          <p:nvPr/>
        </p:nvSpPr>
        <p:spPr>
          <a:xfrm>
            <a:off x="5313499" y="2968228"/>
            <a:ext cx="185738" cy="185738"/>
          </a:xfrm>
          <a:prstGeom prst="roundRect">
            <a:avLst>
              <a:gd name="adj" fmla="val 66666"/>
            </a:avLst>
          </a:prstGeom>
          <a:solidFill>
            <a:srgbClr val="F6F7F9"/>
          </a:solidFill>
          <a:ln/>
        </p:spPr>
        <p:txBody>
          <a:bodyPr wrap="square" rtlCol="0" anchor="ctr"/>
          <a:lstStyle/>
          <a:p>
            <a:pPr marL="0" indent="0">
              <a:buNone/>
            </a:pPr>
            <a:endParaRPr lang="en-US" dirty="0"/>
          </a:p>
        </p:txBody>
      </p:sp>
      <p:sp>
        <p:nvSpPr>
          <p:cNvPr id="71" name="Text 68"/>
          <p:cNvSpPr/>
          <p:nvPr/>
        </p:nvSpPr>
        <p:spPr>
          <a:xfrm>
            <a:off x="5313499" y="2968228"/>
            <a:ext cx="293465" cy="200597"/>
          </a:xfrm>
          <a:prstGeom prst="rect">
            <a:avLst/>
          </a:prstGeom>
          <a:noFill/>
          <a:ln/>
        </p:spPr>
        <p:txBody>
          <a:bodyPr wrap="none" lIns="0" tIns="0" rIns="0" bIns="0" rtlCol="0" anchor="t"/>
          <a:lstStyle/>
          <a:p>
            <a:pPr marL="0" indent="0" algn="l">
              <a:lnSpc>
                <a:spcPts val="1350"/>
              </a:lnSpc>
              <a:buNone/>
            </a:pPr>
            <a:r>
              <a:rPr lang="en-US" sz="900" dirty="0">
                <a:solidFill>
                  <a:srgbClr val="FF6B35"/>
                </a:solidFill>
                <a:latin typeface="Segoe UI Symbol" pitchFamily="34" charset="0"/>
                <a:ea typeface="Segoe UI Symbol" pitchFamily="34" charset="-122"/>
                <a:cs typeface="Segoe UI Symbol" pitchFamily="34" charset="-120"/>
              </a:rPr>
              <a:t>›</a:t>
            </a:r>
            <a:endParaRPr lang="en-US" sz="900" dirty="0"/>
          </a:p>
        </p:txBody>
      </p:sp>
      <p:sp>
        <p:nvSpPr>
          <p:cNvPr id="72" name="Text 69"/>
          <p:cNvSpPr/>
          <p:nvPr/>
        </p:nvSpPr>
        <p:spPr>
          <a:xfrm>
            <a:off x="6982234" y="2968228"/>
            <a:ext cx="185738" cy="185738"/>
          </a:xfrm>
          <a:prstGeom prst="roundRect">
            <a:avLst>
              <a:gd name="adj" fmla="val 66666"/>
            </a:avLst>
          </a:prstGeom>
          <a:solidFill>
            <a:srgbClr val="F6F7F9"/>
          </a:solidFill>
          <a:ln/>
        </p:spPr>
        <p:txBody>
          <a:bodyPr wrap="square" rtlCol="0" anchor="ctr"/>
          <a:lstStyle/>
          <a:p>
            <a:pPr marL="0" indent="0">
              <a:buNone/>
            </a:pPr>
            <a:endParaRPr lang="en-US" dirty="0"/>
          </a:p>
        </p:txBody>
      </p:sp>
      <p:sp>
        <p:nvSpPr>
          <p:cNvPr id="73" name="Text 70"/>
          <p:cNvSpPr/>
          <p:nvPr/>
        </p:nvSpPr>
        <p:spPr>
          <a:xfrm>
            <a:off x="6982234" y="2968228"/>
            <a:ext cx="293465" cy="200597"/>
          </a:xfrm>
          <a:prstGeom prst="rect">
            <a:avLst/>
          </a:prstGeom>
          <a:noFill/>
          <a:ln/>
        </p:spPr>
        <p:txBody>
          <a:bodyPr wrap="none" lIns="0" tIns="0" rIns="0" bIns="0" rtlCol="0" anchor="t"/>
          <a:lstStyle/>
          <a:p>
            <a:pPr marL="0" indent="0" algn="l">
              <a:lnSpc>
                <a:spcPts val="1350"/>
              </a:lnSpc>
              <a:buNone/>
            </a:pPr>
            <a:r>
              <a:rPr lang="en-US" sz="900" dirty="0">
                <a:solidFill>
                  <a:srgbClr val="FF6B35"/>
                </a:solidFill>
                <a:latin typeface="Segoe UI Symbol" pitchFamily="34" charset="0"/>
                <a:ea typeface="Segoe UI Symbol" pitchFamily="34" charset="-122"/>
                <a:cs typeface="Segoe UI Symbol" pitchFamily="34" charset="-120"/>
              </a:rPr>
              <a: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2189133"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01</a:t>
            </a:r>
            <a:endParaRPr lang="en-US" sz="800" dirty="0"/>
          </a:p>
        </p:txBody>
      </p:sp>
      <p:sp>
        <p:nvSpPr>
          <p:cNvPr id="5" name="Text 3"/>
          <p:cNvSpPr/>
          <p:nvPr/>
        </p:nvSpPr>
        <p:spPr>
          <a:xfrm>
            <a:off x="400050" y="303609"/>
            <a:ext cx="1807801"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Auth &amp; Roles</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06 / 15</a:t>
            </a:r>
            <a:endParaRPr lang="en-US" sz="800" dirty="0"/>
          </a:p>
        </p:txBody>
      </p:sp>
      <p:sp>
        <p:nvSpPr>
          <p:cNvPr id="8" name="Text 6"/>
          <p:cNvSpPr/>
          <p:nvPr/>
        </p:nvSpPr>
        <p:spPr>
          <a:xfrm>
            <a:off x="400050" y="1092994"/>
            <a:ext cx="83439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JWT-based, role-aware access for three user types</a:t>
            </a:r>
            <a:endParaRPr lang="en-US" sz="1238" dirty="0"/>
          </a:p>
        </p:txBody>
      </p:sp>
      <p:sp>
        <p:nvSpPr>
          <p:cNvPr id="9" name="Text 7"/>
          <p:cNvSpPr/>
          <p:nvPr/>
        </p:nvSpPr>
        <p:spPr>
          <a:xfrm>
            <a:off x="400050" y="1428750"/>
            <a:ext cx="8343900" cy="346704"/>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Authentication is the foundation of the platform. Every login issues a signed JWT that carries the user's role claim; Spring Security intercepts each request, validates the token, and enforces endpoint-level authorization before any business logic runs.</a:t>
            </a:r>
            <a:endParaRPr lang="en-US" sz="816" dirty="0"/>
          </a:p>
        </p:txBody>
      </p:sp>
      <p:sp>
        <p:nvSpPr>
          <p:cNvPr id="10" name="Text 8"/>
          <p:cNvSpPr/>
          <p:nvPr/>
        </p:nvSpPr>
        <p:spPr>
          <a:xfrm>
            <a:off x="403622" y="1881932"/>
            <a:ext cx="2688394" cy="2076822"/>
          </a:xfrm>
          <a:prstGeom prst="roundRect">
            <a:avLst>
              <a:gd name="adj" fmla="val 550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1" name="Text 9"/>
          <p:cNvSpPr/>
          <p:nvPr/>
        </p:nvSpPr>
        <p:spPr>
          <a:xfrm>
            <a:off x="535781" y="2014091"/>
            <a:ext cx="400050" cy="400050"/>
          </a:xfrm>
          <a:prstGeom prst="roundRect">
            <a:avLst>
              <a:gd name="adj" fmla="val 28571"/>
            </a:avLst>
          </a:prstGeom>
          <a:solidFill>
            <a:srgbClr val="FF6B35"/>
          </a:solidFill>
          <a:ln/>
          <a:effectLst>
            <a:outerShdw blurRad="95250" dist="38100" dir="5400000" algn="bl" rotWithShape="0">
              <a:srgbClr val="0F172A">
                <a:alpha val="10000"/>
              </a:srgbClr>
            </a:outerShdw>
          </a:effectLst>
        </p:spPr>
        <p:txBody>
          <a:bodyPr wrap="square" rtlCol="0" anchor="ctr"/>
          <a:lstStyle/>
          <a:p>
            <a:pPr marL="0" indent="0">
              <a:buNone/>
            </a:pPr>
            <a:endParaRPr lang="en-US" dirty="0"/>
          </a:p>
        </p:txBody>
      </p:sp>
      <p:sp>
        <p:nvSpPr>
          <p:cNvPr id="12" name="Text 10"/>
          <p:cNvSpPr/>
          <p:nvPr/>
        </p:nvSpPr>
        <p:spPr>
          <a:xfrm>
            <a:off x="580430" y="2058739"/>
            <a:ext cx="310753" cy="31075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13" name="Text 11"/>
          <p:cNvSpPr/>
          <p:nvPr/>
        </p:nvSpPr>
        <p:spPr>
          <a:xfrm>
            <a:off x="535781" y="2485579"/>
            <a:ext cx="2424075" cy="208312"/>
          </a:xfrm>
          <a:prstGeom prst="rect">
            <a:avLst/>
          </a:prstGeom>
          <a:noFill/>
          <a:ln/>
        </p:spPr>
        <p:txBody>
          <a:bodyPr wrap="none" lIns="0" tIns="0" rIns="0" bIns="0" rtlCol="0" anchor="t"/>
          <a:lstStyle/>
          <a:p>
            <a:pPr marL="0" indent="0" algn="l">
              <a:lnSpc>
                <a:spcPts val="1519"/>
              </a:lnSpc>
              <a:buNone/>
            </a:pPr>
            <a:r>
              <a:rPr lang="en-US" sz="1013" b="1" kern="0" spc="-10" dirty="0">
                <a:solidFill>
                  <a:srgbClr val="0F172A"/>
                </a:solidFill>
                <a:latin typeface="Carlito" pitchFamily="34" charset="0"/>
                <a:ea typeface="Carlito" pitchFamily="34" charset="-122"/>
                <a:cs typeface="Carlito" pitchFamily="34" charset="-120"/>
              </a:rPr>
              <a:t>Customer</a:t>
            </a:r>
            <a:endParaRPr lang="en-US" sz="1013" dirty="0"/>
          </a:p>
        </p:txBody>
      </p:sp>
      <p:sp>
        <p:nvSpPr>
          <p:cNvPr id="14" name="Text 12"/>
          <p:cNvSpPr/>
          <p:nvPr/>
        </p:nvSpPr>
        <p:spPr>
          <a:xfrm>
            <a:off x="512921" y="2739396"/>
            <a:ext cx="1388745"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15" name="Text 13"/>
          <p:cNvSpPr/>
          <p:nvPr/>
        </p:nvSpPr>
        <p:spPr>
          <a:xfrm>
            <a:off x="535781" y="2749897"/>
            <a:ext cx="1343025"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ACCESS TIER · STANDARD</a:t>
            </a:r>
            <a:endParaRPr lang="en-US" sz="800" dirty="0"/>
          </a:p>
        </p:txBody>
      </p:sp>
      <p:sp>
        <p:nvSpPr>
          <p:cNvPr id="16" name="Text 14"/>
          <p:cNvSpPr/>
          <p:nvPr/>
        </p:nvSpPr>
        <p:spPr>
          <a:xfrm>
            <a:off x="535781" y="2996357"/>
            <a:ext cx="2424075" cy="795367"/>
          </a:xfrm>
          <a:prstGeom prst="rect">
            <a:avLst/>
          </a:prstGeom>
          <a:noFill/>
          <a:ln/>
        </p:spPr>
        <p:txBody>
          <a:bodyPr wrap="square" lIns="0" tIns="0" rIns="0" bIns="0" rtlCol="0" anchor="t"/>
          <a:lstStyle/>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Browse menu, place orders, apply coupons</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View live order tracking &amp; ETA</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Manage address book &amp; order history</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Re-order favorites and view AI recommendations</a:t>
            </a:r>
            <a:endParaRPr lang="en-US" sz="800" dirty="0"/>
          </a:p>
        </p:txBody>
      </p:sp>
      <p:sp>
        <p:nvSpPr>
          <p:cNvPr id="17" name="Text 15"/>
          <p:cNvSpPr/>
          <p:nvPr/>
        </p:nvSpPr>
        <p:spPr>
          <a:xfrm>
            <a:off x="3227747" y="1881932"/>
            <a:ext cx="2688394" cy="2076822"/>
          </a:xfrm>
          <a:prstGeom prst="roundRect">
            <a:avLst>
              <a:gd name="adj" fmla="val 550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8" name="Text 16"/>
          <p:cNvSpPr/>
          <p:nvPr/>
        </p:nvSpPr>
        <p:spPr>
          <a:xfrm>
            <a:off x="3359907" y="2014091"/>
            <a:ext cx="400050" cy="400050"/>
          </a:xfrm>
          <a:prstGeom prst="roundRect">
            <a:avLst>
              <a:gd name="adj" fmla="val 28571"/>
            </a:avLst>
          </a:prstGeom>
          <a:solidFill>
            <a:srgbClr val="0F172A"/>
          </a:solidFill>
          <a:ln/>
          <a:effectLst>
            <a:outerShdw blurRad="95250" dist="38100" dir="5400000" algn="bl" rotWithShape="0">
              <a:srgbClr val="0F172A">
                <a:alpha val="10000"/>
              </a:srgbClr>
            </a:outerShdw>
          </a:effectLst>
        </p:spPr>
        <p:txBody>
          <a:bodyPr wrap="square" rtlCol="0" anchor="ctr"/>
          <a:lstStyle/>
          <a:p>
            <a:pPr marL="0" indent="0">
              <a:buNone/>
            </a:pPr>
            <a:endParaRPr lang="en-US" dirty="0"/>
          </a:p>
        </p:txBody>
      </p:sp>
      <p:sp>
        <p:nvSpPr>
          <p:cNvPr id="19" name="Text 17"/>
          <p:cNvSpPr/>
          <p:nvPr/>
        </p:nvSpPr>
        <p:spPr>
          <a:xfrm>
            <a:off x="3404555" y="2058739"/>
            <a:ext cx="310753" cy="31075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20" name="Text 18"/>
          <p:cNvSpPr/>
          <p:nvPr/>
        </p:nvSpPr>
        <p:spPr>
          <a:xfrm>
            <a:off x="3359907" y="2485579"/>
            <a:ext cx="2424075" cy="208312"/>
          </a:xfrm>
          <a:prstGeom prst="rect">
            <a:avLst/>
          </a:prstGeom>
          <a:noFill/>
          <a:ln/>
        </p:spPr>
        <p:txBody>
          <a:bodyPr wrap="none" lIns="0" tIns="0" rIns="0" bIns="0" rtlCol="0" anchor="t"/>
          <a:lstStyle/>
          <a:p>
            <a:pPr marL="0" indent="0" algn="l">
              <a:lnSpc>
                <a:spcPts val="1519"/>
              </a:lnSpc>
              <a:buNone/>
            </a:pPr>
            <a:r>
              <a:rPr lang="en-US" sz="1013" b="1" kern="0" spc="-10" dirty="0">
                <a:solidFill>
                  <a:srgbClr val="0F172A"/>
                </a:solidFill>
                <a:latin typeface="Carlito" pitchFamily="34" charset="0"/>
                <a:ea typeface="Carlito" pitchFamily="34" charset="-122"/>
                <a:cs typeface="Carlito" pitchFamily="34" charset="-120"/>
              </a:rPr>
              <a:t>Admin</a:t>
            </a:r>
            <a:endParaRPr lang="en-US" sz="1013" dirty="0"/>
          </a:p>
        </p:txBody>
      </p:sp>
      <p:sp>
        <p:nvSpPr>
          <p:cNvPr id="21" name="Text 19"/>
          <p:cNvSpPr/>
          <p:nvPr/>
        </p:nvSpPr>
        <p:spPr>
          <a:xfrm>
            <a:off x="3337047" y="2739396"/>
            <a:ext cx="1111255"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22" name="Text 20"/>
          <p:cNvSpPr/>
          <p:nvPr/>
        </p:nvSpPr>
        <p:spPr>
          <a:xfrm>
            <a:off x="3359907" y="2749897"/>
            <a:ext cx="1065535"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ACCESS TIER · FULL</a:t>
            </a:r>
            <a:endParaRPr lang="en-US" sz="800" dirty="0"/>
          </a:p>
        </p:txBody>
      </p:sp>
      <p:sp>
        <p:nvSpPr>
          <p:cNvPr id="23" name="Text 21"/>
          <p:cNvSpPr/>
          <p:nvPr/>
        </p:nvSpPr>
        <p:spPr>
          <a:xfrm>
            <a:off x="3359907" y="2996357"/>
            <a:ext cx="2424075" cy="938059"/>
          </a:xfrm>
          <a:prstGeom prst="rect">
            <a:avLst/>
          </a:prstGeom>
          <a:noFill/>
          <a:ln/>
        </p:spPr>
        <p:txBody>
          <a:bodyPr wrap="square" lIns="0" tIns="0" rIns="0" bIns="0" rtlCol="0" anchor="t"/>
          <a:lstStyle/>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Manage menu items, prices, and availability</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Configure coupons and combo rules</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Assign orders to riders, monitor fleet</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View revenue, delivery KPIs, and customer trends</a:t>
            </a:r>
            <a:endParaRPr lang="en-US" sz="800" dirty="0"/>
          </a:p>
        </p:txBody>
      </p:sp>
      <p:sp>
        <p:nvSpPr>
          <p:cNvPr id="24" name="Text 22"/>
          <p:cNvSpPr/>
          <p:nvPr/>
        </p:nvSpPr>
        <p:spPr>
          <a:xfrm>
            <a:off x="6051872" y="1881932"/>
            <a:ext cx="2688506" cy="2076822"/>
          </a:xfrm>
          <a:prstGeom prst="roundRect">
            <a:avLst>
              <a:gd name="adj" fmla="val 550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5" name="Text 23"/>
          <p:cNvSpPr/>
          <p:nvPr/>
        </p:nvSpPr>
        <p:spPr>
          <a:xfrm>
            <a:off x="6184032" y="2014091"/>
            <a:ext cx="400050" cy="400050"/>
          </a:xfrm>
          <a:prstGeom prst="roundRect">
            <a:avLst>
              <a:gd name="adj" fmla="val 28571"/>
            </a:avLst>
          </a:prstGeom>
          <a:solidFill>
            <a:srgbClr val="0EA5E9"/>
          </a:solidFill>
          <a:ln/>
          <a:effectLst>
            <a:outerShdw blurRad="95250" dist="38100" dir="5400000" algn="bl" rotWithShape="0">
              <a:srgbClr val="0F172A">
                <a:alpha val="10000"/>
              </a:srgbClr>
            </a:outerShdw>
          </a:effectLst>
        </p:spPr>
        <p:txBody>
          <a:bodyPr wrap="square" rtlCol="0" anchor="ctr"/>
          <a:lstStyle/>
          <a:p>
            <a:pPr marL="0" indent="0">
              <a:buNone/>
            </a:pPr>
            <a:endParaRPr lang="en-US" dirty="0"/>
          </a:p>
        </p:txBody>
      </p:sp>
      <p:sp>
        <p:nvSpPr>
          <p:cNvPr id="26" name="Text 24"/>
          <p:cNvSpPr/>
          <p:nvPr/>
        </p:nvSpPr>
        <p:spPr>
          <a:xfrm>
            <a:off x="6228680" y="2058739"/>
            <a:ext cx="310753" cy="31075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27" name="Text 25"/>
          <p:cNvSpPr/>
          <p:nvPr/>
        </p:nvSpPr>
        <p:spPr>
          <a:xfrm>
            <a:off x="6184032" y="2485579"/>
            <a:ext cx="2424187" cy="208312"/>
          </a:xfrm>
          <a:prstGeom prst="rect">
            <a:avLst/>
          </a:prstGeom>
          <a:noFill/>
          <a:ln/>
        </p:spPr>
        <p:txBody>
          <a:bodyPr wrap="none" lIns="0" tIns="0" rIns="0" bIns="0" rtlCol="0" anchor="t"/>
          <a:lstStyle/>
          <a:p>
            <a:pPr marL="0" indent="0" algn="l">
              <a:lnSpc>
                <a:spcPts val="1519"/>
              </a:lnSpc>
              <a:buNone/>
            </a:pPr>
            <a:r>
              <a:rPr lang="en-US" sz="1013" b="1" kern="0" spc="-10" dirty="0">
                <a:solidFill>
                  <a:srgbClr val="0F172A"/>
                </a:solidFill>
                <a:latin typeface="Carlito" pitchFamily="34" charset="0"/>
                <a:ea typeface="Carlito" pitchFamily="34" charset="-122"/>
                <a:cs typeface="Carlito" pitchFamily="34" charset="-120"/>
              </a:rPr>
              <a:t>Delivery</a:t>
            </a:r>
            <a:endParaRPr lang="en-US" sz="1013" dirty="0"/>
          </a:p>
        </p:txBody>
      </p:sp>
      <p:sp>
        <p:nvSpPr>
          <p:cNvPr id="28" name="Text 26"/>
          <p:cNvSpPr/>
          <p:nvPr/>
        </p:nvSpPr>
        <p:spPr>
          <a:xfrm>
            <a:off x="6184032" y="2749897"/>
            <a:ext cx="1489583" cy="175022"/>
          </a:xfrm>
          <a:prstGeom prst="roundRect">
            <a:avLst>
              <a:gd name="adj" fmla="val 5436731"/>
            </a:avLst>
          </a:prstGeom>
          <a:solidFill>
            <a:srgbClr val="FFF1EC"/>
          </a:solidFill>
          <a:ln/>
        </p:spPr>
        <p:txBody>
          <a:bodyPr wrap="square" rtlCol="0" anchor="ctr"/>
          <a:lstStyle/>
          <a:p>
            <a:pPr marL="0" indent="0">
              <a:buNone/>
            </a:pPr>
            <a:endParaRPr lang="en-US" dirty="0"/>
          </a:p>
        </p:txBody>
      </p:sp>
      <p:sp>
        <p:nvSpPr>
          <p:cNvPr id="29" name="Text 27"/>
          <p:cNvSpPr/>
          <p:nvPr/>
        </p:nvSpPr>
        <p:spPr>
          <a:xfrm>
            <a:off x="6184032" y="2749897"/>
            <a:ext cx="1489583" cy="219027"/>
          </a:xfrm>
          <a:prstGeom prst="rect">
            <a:avLst/>
          </a:prstGeom>
          <a:noFill/>
          <a:ln/>
        </p:spPr>
        <p:txBody>
          <a:bodyPr wrap="none" lIns="71438" tIns="28575" rIns="71438" bIns="28575" rtlCol="0" anchor="t">
            <a:normAutofit/>
          </a:bodyPr>
          <a:lstStyle/>
          <a:p>
            <a:pPr marL="0" indent="0" algn="l">
              <a:lnSpc>
                <a:spcPts val="928"/>
              </a:lnSpc>
              <a:buNone/>
            </a:pPr>
            <a:r>
              <a:rPr lang="en-US" sz="800" kern="0" spc="25" dirty="0">
                <a:solidFill>
                  <a:srgbClr val="E4541F"/>
                </a:solidFill>
                <a:latin typeface="Carlito" pitchFamily="34" charset="0"/>
                <a:ea typeface="Carlito" pitchFamily="34" charset="-122"/>
                <a:cs typeface="Carlito" pitchFamily="34" charset="-120"/>
              </a:rPr>
              <a:t>ACCESS TIER · OPERATIONAL</a:t>
            </a:r>
            <a:endParaRPr lang="en-US" sz="800" dirty="0"/>
          </a:p>
        </p:txBody>
      </p:sp>
      <p:sp>
        <p:nvSpPr>
          <p:cNvPr id="30" name="Text 28"/>
          <p:cNvSpPr/>
          <p:nvPr/>
        </p:nvSpPr>
        <p:spPr>
          <a:xfrm>
            <a:off x="6184032" y="2996357"/>
            <a:ext cx="2424187" cy="938059"/>
          </a:xfrm>
          <a:prstGeom prst="rect">
            <a:avLst/>
          </a:prstGeom>
          <a:noFill/>
          <a:ln/>
        </p:spPr>
        <p:txBody>
          <a:bodyPr wrap="square" lIns="0" tIns="0" rIns="0" bIns="0" rtlCol="0" anchor="t"/>
          <a:lstStyle/>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Receive assigned orders with pickup address</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Update order status (picked, en route, delivered)</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Push live GPS coordinates every 15 seconds</a:t>
            </a:r>
            <a:endParaRPr lang="en-US" sz="800" dirty="0"/>
          </a:p>
          <a:p>
            <a:pPr marL="0" indent="0" algn="l">
              <a:lnSpc>
                <a:spcPts val="1060"/>
              </a:lnSpc>
              <a:spcAft>
                <a:spcPts val="338"/>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334155"/>
                </a:solidFill>
                <a:latin typeface="Carlito" pitchFamily="34" charset="0"/>
                <a:ea typeface="Carlito" pitchFamily="34" charset="-122"/>
                <a:cs typeface="Carlito" pitchFamily="34" charset="-120"/>
              </a:rPr>
              <a:t>View assigned route and customer drop-off details</a:t>
            </a:r>
            <a:endParaRPr lang="en-US" sz="800" dirty="0"/>
          </a:p>
        </p:txBody>
      </p:sp>
      <p:sp>
        <p:nvSpPr>
          <p:cNvPr id="31" name="Text 29"/>
          <p:cNvSpPr/>
          <p:nvPr/>
        </p:nvSpPr>
        <p:spPr>
          <a:xfrm>
            <a:off x="400050" y="4076626"/>
            <a:ext cx="5840685" cy="785813"/>
          </a:xfrm>
          <a:prstGeom prst="roundRect">
            <a:avLst>
              <a:gd name="adj" fmla="val 9697"/>
            </a:avLst>
          </a:prstGeom>
          <a:solidFill>
            <a:srgbClr val="FFFFFF"/>
          </a:solidFill>
          <a:ln/>
        </p:spPr>
        <p:txBody>
          <a:bodyPr wrap="square" rtlCol="0" anchor="ctr"/>
          <a:lstStyle/>
          <a:p>
            <a:pPr marL="0" indent="0">
              <a:buNone/>
            </a:pPr>
            <a:endParaRPr lang="en-US" dirty="0"/>
          </a:p>
        </p:txBody>
      </p:sp>
      <p:sp>
        <p:nvSpPr>
          <p:cNvPr id="32" name="Shape 30"/>
          <p:cNvSpPr/>
          <p:nvPr/>
        </p:nvSpPr>
        <p:spPr>
          <a:xfrm>
            <a:off x="400050" y="4080197"/>
            <a:ext cx="5840685" cy="0"/>
          </a:xfrm>
          <a:prstGeom prst="line">
            <a:avLst/>
          </a:prstGeom>
          <a:noFill/>
          <a:ln w="7144">
            <a:solidFill>
              <a:srgbClr val="E2E8F0"/>
            </a:solidFill>
            <a:prstDash val="solid"/>
          </a:ln>
        </p:spPr>
      </p:sp>
      <p:sp>
        <p:nvSpPr>
          <p:cNvPr id="33" name="Shape 31"/>
          <p:cNvSpPr/>
          <p:nvPr/>
        </p:nvSpPr>
        <p:spPr>
          <a:xfrm>
            <a:off x="6237163" y="4076626"/>
            <a:ext cx="0" cy="785813"/>
          </a:xfrm>
          <a:prstGeom prst="line">
            <a:avLst/>
          </a:prstGeom>
          <a:noFill/>
          <a:ln w="7144">
            <a:solidFill>
              <a:srgbClr val="E2E8F0"/>
            </a:solidFill>
            <a:prstDash val="solid"/>
          </a:ln>
        </p:spPr>
      </p:sp>
      <p:sp>
        <p:nvSpPr>
          <p:cNvPr id="34" name="Shape 32"/>
          <p:cNvSpPr/>
          <p:nvPr/>
        </p:nvSpPr>
        <p:spPr>
          <a:xfrm>
            <a:off x="400050" y="4858866"/>
            <a:ext cx="5840685" cy="0"/>
          </a:xfrm>
          <a:prstGeom prst="line">
            <a:avLst/>
          </a:prstGeom>
          <a:noFill/>
          <a:ln w="7144">
            <a:solidFill>
              <a:srgbClr val="E2E8F0"/>
            </a:solidFill>
            <a:prstDash val="solid"/>
          </a:ln>
        </p:spPr>
      </p:sp>
      <p:sp>
        <p:nvSpPr>
          <p:cNvPr id="35" name="Shape 33"/>
          <p:cNvSpPr/>
          <p:nvPr/>
        </p:nvSpPr>
        <p:spPr>
          <a:xfrm>
            <a:off x="414338" y="4076626"/>
            <a:ext cx="0" cy="785813"/>
          </a:xfrm>
          <a:prstGeom prst="line">
            <a:avLst/>
          </a:prstGeom>
          <a:noFill/>
          <a:ln w="28575">
            <a:solidFill>
              <a:srgbClr val="FF6B35"/>
            </a:solidFill>
            <a:prstDash val="solid"/>
          </a:ln>
        </p:spPr>
      </p:sp>
      <p:sp>
        <p:nvSpPr>
          <p:cNvPr id="36" name="Text 34"/>
          <p:cNvSpPr/>
          <p:nvPr/>
        </p:nvSpPr>
        <p:spPr>
          <a:xfrm>
            <a:off x="534353" y="4371520"/>
            <a:ext cx="645795"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37" name="Text 35"/>
          <p:cNvSpPr/>
          <p:nvPr/>
        </p:nvSpPr>
        <p:spPr>
          <a:xfrm>
            <a:off x="557213" y="4382021"/>
            <a:ext cx="600075"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SECURITY</a:t>
            </a:r>
            <a:endParaRPr lang="en-US" sz="800" dirty="0"/>
          </a:p>
        </p:txBody>
      </p:sp>
      <p:sp>
        <p:nvSpPr>
          <p:cNvPr id="38" name="Text 36"/>
          <p:cNvSpPr/>
          <p:nvPr/>
        </p:nvSpPr>
        <p:spPr>
          <a:xfrm>
            <a:off x="1257300" y="4324871"/>
            <a:ext cx="4847704" cy="329184"/>
          </a:xfrm>
          <a:prstGeom prst="rect">
            <a:avLst/>
          </a:prstGeom>
          <a:noFill/>
          <a:ln/>
        </p:spPr>
        <p:txBody>
          <a:bodyPr wrap="square" lIns="0" tIns="0" rIns="0" bIns="0" rtlCol="0" anchor="t"/>
          <a:lstStyle/>
          <a:p>
            <a:pPr marL="0" indent="0" algn="l">
              <a:lnSpc>
                <a:spcPts val="1139"/>
              </a:lnSpc>
              <a:buNone/>
            </a:pPr>
            <a:r>
              <a:rPr lang="en-US" sz="800" dirty="0">
                <a:solidFill>
                  <a:srgbClr val="334155"/>
                </a:solidFill>
                <a:latin typeface="Carlito" pitchFamily="34" charset="0"/>
                <a:ea typeface="Carlito" pitchFamily="34" charset="-122"/>
                <a:cs typeface="Carlito" pitchFamily="34" charset="-120"/>
              </a:rPr>
              <a:t>JWT signed with HS256, 8-hour expiry, refresh-token rotation, BCrypt password hashing, and endpoint-level @PreAuthorize annotations on every controller.</a:t>
            </a:r>
            <a:endParaRPr lang="en-US" sz="800" dirty="0"/>
          </a:p>
        </p:txBody>
      </p:sp>
      <p:pic>
        <p:nvPicPr>
          <p:cNvPr id="39" name="Image 0" descr="/tmp/h2p-fit-1781702665993-1jrf23.png"/>
          <p:cNvPicPr>
            <a:picLocks noChangeAspect="1"/>
          </p:cNvPicPr>
          <p:nvPr/>
        </p:nvPicPr>
        <p:blipFill>
          <a:blip r:embed="rId3"/>
          <a:stretch>
            <a:fillRect/>
          </a:stretch>
        </p:blipFill>
        <p:spPr>
          <a:xfrm>
            <a:off x="6340748" y="4076626"/>
            <a:ext cx="1143000" cy="785813"/>
          </a:xfrm>
          <a:prstGeom prst="rect">
            <a:avLst/>
          </a:prstGeom>
          <a:effectLst>
            <a:outerShdw blurRad="57150" dist="19050" dir="5400000" algn="bl" rotWithShape="0">
              <a:srgbClr val="0F172A">
                <a:alpha val="8000"/>
              </a:srgbClr>
            </a:outerShdw>
          </a:effectLst>
        </p:spPr>
      </p:pic>
      <p:sp>
        <p:nvSpPr>
          <p:cNvPr id="40" name="Text 37"/>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41" name="Shape 38"/>
          <p:cNvSpPr/>
          <p:nvPr/>
        </p:nvSpPr>
        <p:spPr>
          <a:xfrm>
            <a:off x="0" y="4947047"/>
            <a:ext cx="9144000" cy="0"/>
          </a:xfrm>
          <a:prstGeom prst="line">
            <a:avLst/>
          </a:prstGeom>
          <a:noFill/>
          <a:ln w="7144">
            <a:solidFill>
              <a:srgbClr val="E2E8F0"/>
            </a:solidFill>
            <a:prstDash val="solid"/>
          </a:ln>
        </p:spPr>
      </p:sp>
      <p:sp>
        <p:nvSpPr>
          <p:cNvPr id="42" name="Text 39"/>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43" name="Text 40"/>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262113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02</a:t>
            </a:r>
            <a:endParaRPr lang="en-US" sz="800" dirty="0"/>
          </a:p>
        </p:txBody>
      </p:sp>
      <p:sp>
        <p:nvSpPr>
          <p:cNvPr id="5" name="Text 3"/>
          <p:cNvSpPr/>
          <p:nvPr/>
        </p:nvSpPr>
        <p:spPr>
          <a:xfrm>
            <a:off x="400050" y="303609"/>
            <a:ext cx="1939227"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Smart Ordering</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07 / 15</a:t>
            </a:r>
            <a:endParaRPr lang="en-US" sz="800" dirty="0"/>
          </a:p>
        </p:txBody>
      </p:sp>
      <p:sp>
        <p:nvSpPr>
          <p:cNvPr id="8" name="Text 6"/>
          <p:cNvSpPr/>
          <p:nvPr/>
        </p:nvSpPr>
        <p:spPr>
          <a:xfrm>
            <a:off x="400050" y="992981"/>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114425"/>
            <a:ext cx="4258345" cy="509207"/>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From menu browse to cart checkout in under 30 seconds</a:t>
            </a:r>
            <a:endParaRPr lang="en-US" sz="1238" dirty="0"/>
          </a:p>
        </p:txBody>
      </p:sp>
      <p:sp>
        <p:nvSpPr>
          <p:cNvPr id="10" name="Text 8"/>
          <p:cNvSpPr/>
          <p:nvPr/>
        </p:nvSpPr>
        <p:spPr>
          <a:xfrm>
            <a:off x="400050" y="1685925"/>
            <a:ext cx="4258345" cy="520056"/>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The ordering flow is built for speed and conversion. The menu is searchable, filterable by dietary tag, and surfaces AI-suggested combos right next to the cart — so upsell happens at the moment of intent, not as an afterthought.</a:t>
            </a:r>
            <a:endParaRPr lang="en-US" sz="816" dirty="0"/>
          </a:p>
        </p:txBody>
      </p:sp>
      <p:sp>
        <p:nvSpPr>
          <p:cNvPr id="11" name="Text 9"/>
          <p:cNvSpPr/>
          <p:nvPr/>
        </p:nvSpPr>
        <p:spPr>
          <a:xfrm>
            <a:off x="400050" y="2281758"/>
            <a:ext cx="4258345" cy="1654493"/>
          </a:xfrm>
          <a:prstGeom prst="rect">
            <a:avLst/>
          </a:prstGeom>
          <a:noFill/>
          <a:ln/>
        </p:spPr>
        <p:txBody>
          <a:bodyPr wrap="square" lIns="0" tIns="0" rIns="0" bIns="0" rtlCol="0" anchor="t"/>
          <a:lstStyle/>
          <a:p>
            <a:pPr marL="342900" indent="-342900" algn="l">
              <a:lnSpc>
                <a:spcPts val="1139"/>
              </a:lnSpc>
              <a:spcAft>
                <a:spcPts val="506"/>
              </a:spcAft>
              <a:buSzPct val="100000"/>
              <a:buFont typeface="+mj-lt"/>
              <a:buAutoNum type="arabicPeriod"/>
            </a:pPr>
            <a:r>
              <a:rPr lang="en-US" sz="800" dirty="0">
                <a:solidFill>
                  <a:srgbClr val="334155"/>
                </a:solidFill>
                <a:latin typeface="Carlito" pitchFamily="34" charset="0"/>
                <a:ea typeface="Carlito" pitchFamily="34" charset="-122"/>
                <a:cs typeface="Carlito" pitchFamily="34" charset="-120"/>
              </a:rPr>
              <a:t>Browse the live menu with category filters, search, and dietary tags (veg / vegan / spicy)</a:t>
            </a:r>
            <a:endParaRPr lang="en-US" sz="800" dirty="0"/>
          </a:p>
          <a:p>
            <a:pPr marL="342900" indent="-342900" algn="l">
              <a:lnSpc>
                <a:spcPts val="1139"/>
              </a:lnSpc>
              <a:spcAft>
                <a:spcPts val="506"/>
              </a:spcAft>
              <a:buSzPct val="100000"/>
              <a:buFont typeface="+mj-lt"/>
              <a:buAutoNum type="arabicPeriod"/>
            </a:pPr>
            <a:r>
              <a:rPr lang="en-US" sz="800" dirty="0">
                <a:solidFill>
                  <a:srgbClr val="334155"/>
                </a:solidFill>
                <a:latin typeface="Carlito" pitchFamily="34" charset="0"/>
                <a:ea typeface="Carlito" pitchFamily="34" charset="-122"/>
                <a:cs typeface="Carlito" pitchFamily="34" charset="-120"/>
              </a:rPr>
              <a:t>Add pizzas to cart with size, crust, and topping customization</a:t>
            </a:r>
            <a:endParaRPr lang="en-US" sz="800" dirty="0"/>
          </a:p>
          <a:p>
            <a:pPr marL="342900" indent="-342900" algn="l">
              <a:lnSpc>
                <a:spcPts val="1139"/>
              </a:lnSpc>
              <a:spcAft>
                <a:spcPts val="506"/>
              </a:spcAft>
              <a:buSzPct val="100000"/>
              <a:buFont typeface="+mj-lt"/>
              <a:buAutoNum type="arabicPeriod"/>
            </a:pPr>
            <a:r>
              <a:rPr lang="en-US" sz="800" dirty="0">
                <a:solidFill>
                  <a:srgbClr val="334155"/>
                </a:solidFill>
                <a:latin typeface="Carlito" pitchFamily="34" charset="0"/>
                <a:ea typeface="Carlito" pitchFamily="34" charset="-122"/>
                <a:cs typeface="Carlito" pitchFamily="34" charset="-120"/>
              </a:rPr>
              <a:t>Apply coupon codes — engine validates type, expiry, min-basket, and stacking rules</a:t>
            </a:r>
            <a:endParaRPr lang="en-US" sz="800" dirty="0"/>
          </a:p>
          <a:p>
            <a:pPr marL="342900" indent="-342900" algn="l">
              <a:lnSpc>
                <a:spcPts val="1139"/>
              </a:lnSpc>
              <a:spcAft>
                <a:spcPts val="506"/>
              </a:spcAft>
              <a:buSzPct val="100000"/>
              <a:buFont typeface="+mj-lt"/>
              <a:buAutoNum type="arabicPeriod"/>
            </a:pPr>
            <a:r>
              <a:rPr lang="en-US" sz="800" dirty="0">
                <a:solidFill>
                  <a:srgbClr val="334155"/>
                </a:solidFill>
                <a:latin typeface="Carlito" pitchFamily="34" charset="0"/>
                <a:ea typeface="Carlito" pitchFamily="34" charset="-122"/>
                <a:cs typeface="Carlito" pitchFamily="34" charset="-120"/>
              </a:rPr>
              <a:t>Accept AI combo suggestions (sides, drinks, desserts) baked into the cart drawer</a:t>
            </a:r>
            <a:endParaRPr lang="en-US" sz="800" dirty="0"/>
          </a:p>
          <a:p>
            <a:pPr marL="342900" indent="-342900" algn="l">
              <a:lnSpc>
                <a:spcPts val="1139"/>
              </a:lnSpc>
              <a:spcAft>
                <a:spcPts val="506"/>
              </a:spcAft>
              <a:buSzPct val="100000"/>
              <a:buFont typeface="+mj-lt"/>
              <a:buAutoNum type="arabicPeriod"/>
            </a:pPr>
            <a:r>
              <a:rPr lang="en-US" sz="800" dirty="0">
                <a:solidFill>
                  <a:srgbClr val="334155"/>
                </a:solidFill>
                <a:latin typeface="Carlito" pitchFamily="34" charset="0"/>
                <a:ea typeface="Carlito" pitchFamily="34" charset="-122"/>
                <a:cs typeface="Carlito" pitchFamily="34" charset="-120"/>
              </a:rPr>
              <a:t>Proceed to checkout with address selection and order summary auto-recalculated</a:t>
            </a:r>
            <a:endParaRPr lang="en-US" sz="800" dirty="0"/>
          </a:p>
        </p:txBody>
      </p:sp>
      <p:pic>
        <p:nvPicPr>
          <p:cNvPr id="12" name="Image 0" descr="/tmp/h2p-fit-1781702665444-nbrg3z.png"/>
          <p:cNvPicPr>
            <a:picLocks noChangeAspect="1"/>
          </p:cNvPicPr>
          <p:nvPr/>
        </p:nvPicPr>
        <p:blipFill>
          <a:blip r:embed="rId3"/>
          <a:stretch>
            <a:fillRect/>
          </a:stretch>
        </p:blipFill>
        <p:spPr>
          <a:xfrm>
            <a:off x="7886700" y="992981"/>
            <a:ext cx="857250" cy="1285875"/>
          </a:xfrm>
          <a:prstGeom prst="rect">
            <a:avLst/>
          </a:prstGeom>
          <a:effectLst>
            <a:outerShdw blurRad="114300" dist="38100" dir="5400000" algn="bl" rotWithShape="0">
              <a:srgbClr val="0F172A">
                <a:alpha val="10000"/>
              </a:srgbClr>
            </a:outerShdw>
          </a:effectLst>
        </p:spPr>
      </p:pic>
      <p:sp>
        <p:nvSpPr>
          <p:cNvPr id="13" name="Text 10"/>
          <p:cNvSpPr/>
          <p:nvPr/>
        </p:nvSpPr>
        <p:spPr>
          <a:xfrm>
            <a:off x="4872707" y="2357438"/>
            <a:ext cx="114300" cy="114300"/>
          </a:xfrm>
          <a:prstGeom prst="rect">
            <a:avLst/>
          </a:prstGeom>
          <a:noFill/>
          <a:ln/>
        </p:spPr>
        <p:txBody>
          <a:bodyPr wrap="none" lIns="0" tIns="0" rIns="0" bIns="0" rtlCol="0" anchor="ctr"/>
          <a:lstStyle/>
          <a:p>
            <a:pPr marL="0" indent="0" algn="ctr">
              <a:buNone/>
            </a:pPr>
            <a:r>
              <a:rPr lang="en-US" sz="1125" dirty="0">
                <a:solidFill>
                  <a:srgbClr val="FF6B35"/>
                </a:solidFill>
                <a:latin typeface="Segoe UI Symbol" pitchFamily="34" charset="0"/>
                <a:ea typeface="Segoe UI Symbol" pitchFamily="34" charset="-122"/>
                <a:cs typeface="Segoe UI Symbol" pitchFamily="34" charset="-120"/>
              </a:rPr>
              <a:t>🛒</a:t>
            </a:r>
            <a:endParaRPr lang="en-US" sz="1125" dirty="0"/>
          </a:p>
        </p:txBody>
      </p:sp>
      <p:sp>
        <p:nvSpPr>
          <p:cNvPr id="14" name="Text 11"/>
          <p:cNvSpPr/>
          <p:nvPr/>
        </p:nvSpPr>
        <p:spPr>
          <a:xfrm>
            <a:off x="5044157" y="2350294"/>
            <a:ext cx="3699793"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64748B"/>
                </a:solidFill>
                <a:latin typeface="Carlito" pitchFamily="34" charset="0"/>
                <a:ea typeface="Carlito" pitchFamily="34" charset="-122"/>
                <a:cs typeface="Carlito" pitchFamily="34" charset="-120"/>
              </a:rPr>
              <a:t>LIVE CART FLOW</a:t>
            </a:r>
            <a:endParaRPr lang="en-US" sz="800" dirty="0"/>
          </a:p>
        </p:txBody>
      </p:sp>
      <p:sp>
        <p:nvSpPr>
          <p:cNvPr id="15" name="Text 12"/>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16" name="Shape 13"/>
          <p:cNvSpPr/>
          <p:nvPr/>
        </p:nvSpPr>
        <p:spPr>
          <a:xfrm>
            <a:off x="0" y="4947047"/>
            <a:ext cx="9144000" cy="0"/>
          </a:xfrm>
          <a:prstGeom prst="line">
            <a:avLst/>
          </a:prstGeom>
          <a:noFill/>
          <a:ln w="7144">
            <a:solidFill>
              <a:srgbClr val="E2E8F0"/>
            </a:solidFill>
            <a:prstDash val="solid"/>
          </a:ln>
        </p:spPr>
      </p:sp>
      <p:sp>
        <p:nvSpPr>
          <p:cNvPr id="17" name="Text 14"/>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18" name="Text 15"/>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07 / 15</a:t>
            </a:r>
            <a:endParaRPr lang="en-US" sz="800" dirty="0"/>
          </a:p>
        </p:txBody>
      </p:sp>
      <p:sp>
        <p:nvSpPr>
          <p:cNvPr id="19" name="Text 16"/>
          <p:cNvSpPr/>
          <p:nvPr/>
        </p:nvSpPr>
        <p:spPr>
          <a:xfrm>
            <a:off x="4876279" y="2568178"/>
            <a:ext cx="3864099" cy="350044"/>
          </a:xfrm>
          <a:prstGeom prst="roundRect">
            <a:avLst>
              <a:gd name="adj" fmla="val 27211"/>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0" name="Text 17"/>
          <p:cNvSpPr/>
          <p:nvPr/>
        </p:nvSpPr>
        <p:spPr>
          <a:xfrm>
            <a:off x="4979863" y="2614613"/>
            <a:ext cx="257175" cy="257175"/>
          </a:xfrm>
          <a:prstGeom prst="roundRect">
            <a:avLst>
              <a:gd name="adj" fmla="val 29630"/>
            </a:avLst>
          </a:prstGeom>
          <a:solidFill>
            <a:srgbClr val="0F172A"/>
          </a:solidFill>
          <a:ln/>
        </p:spPr>
        <p:txBody>
          <a:bodyPr wrap="square" rtlCol="0" anchor="ctr"/>
          <a:lstStyle/>
          <a:p>
            <a:pPr marL="0" indent="0">
              <a:buNone/>
            </a:pPr>
            <a:endParaRPr lang="en-US" dirty="0"/>
          </a:p>
        </p:txBody>
      </p:sp>
      <p:sp>
        <p:nvSpPr>
          <p:cNvPr id="21" name="Text 18"/>
          <p:cNvSpPr/>
          <p:nvPr/>
        </p:nvSpPr>
        <p:spPr>
          <a:xfrm>
            <a:off x="5004867" y="2639616"/>
            <a:ext cx="207169" cy="207169"/>
          </a:xfrm>
          <a:prstGeom prst="rect">
            <a:avLst/>
          </a:prstGeom>
          <a:noFill/>
          <a:ln/>
        </p:spPr>
        <p:txBody>
          <a:bodyPr wrap="none" lIns="0" tIns="0" rIns="0" bIns="0" rtlCol="0" anchor="ctr"/>
          <a:lstStyle/>
          <a:p>
            <a:pPr marL="0" indent="0" algn="ctr">
              <a:buNone/>
            </a:pPr>
            <a:r>
              <a:rPr lang="en-US" sz="1406" dirty="0">
                <a:solidFill>
                  <a:srgbClr val="FF6B35"/>
                </a:solidFill>
                <a:latin typeface="Segoe UI Symbol" pitchFamily="34" charset="0"/>
                <a:ea typeface="Segoe UI Symbol" pitchFamily="34" charset="-122"/>
                <a:cs typeface="Segoe UI Symbol" pitchFamily="34" charset="-120"/>
              </a:rPr>
              <a:t>⊕</a:t>
            </a:r>
            <a:endParaRPr lang="en-US" sz="1406" dirty="0"/>
          </a:p>
        </p:txBody>
      </p:sp>
      <p:sp>
        <p:nvSpPr>
          <p:cNvPr id="22" name="Text 19"/>
          <p:cNvSpPr/>
          <p:nvPr/>
        </p:nvSpPr>
        <p:spPr>
          <a:xfrm>
            <a:off x="5322763" y="2625328"/>
            <a:ext cx="3100700" cy="96802"/>
          </a:xfrm>
          <a:prstGeom prst="rect">
            <a:avLst/>
          </a:prstGeom>
          <a:noFill/>
          <a:ln/>
        </p:spPr>
        <p:txBody>
          <a:bodyPr wrap="none" lIns="0" tIns="0" rIns="0" bIns="0" rtlCol="0" anchor="t">
            <a:normAutofit fontScale="40000" lnSpcReduction="20000"/>
          </a:bodyPr>
          <a:lstStyle/>
          <a:p>
            <a:pPr marL="0" indent="0" algn="l">
              <a:lnSpc>
                <a:spcPts val="866"/>
              </a:lnSpc>
              <a:buNone/>
            </a:pPr>
            <a:r>
              <a:rPr lang="en-US" sz="800" b="1" dirty="0">
                <a:solidFill>
                  <a:srgbClr val="0F172A"/>
                </a:solidFill>
                <a:latin typeface="Carlito" pitchFamily="34" charset="0"/>
                <a:ea typeface="Carlito" pitchFamily="34" charset="-122"/>
                <a:cs typeface="Carlito" pitchFamily="34" charset="-120"/>
              </a:rPr>
              <a:t>Add Margherita (L)</a:t>
            </a:r>
            <a:endParaRPr lang="en-US" sz="800" dirty="0"/>
          </a:p>
        </p:txBody>
      </p:sp>
      <p:sp>
        <p:nvSpPr>
          <p:cNvPr id="23" name="Text 20"/>
          <p:cNvSpPr/>
          <p:nvPr/>
        </p:nvSpPr>
        <p:spPr>
          <a:xfrm>
            <a:off x="5322763" y="2749562"/>
            <a:ext cx="3189291" cy="115081"/>
          </a:xfrm>
          <a:prstGeom prst="rect">
            <a:avLst/>
          </a:prstGeom>
          <a:noFill/>
          <a:ln/>
        </p:spPr>
        <p:txBody>
          <a:bodyPr wrap="square" lIns="0" tIns="0" rIns="0" bIns="0" rtlCol="0" anchor="t"/>
          <a:lstStyle/>
          <a:p>
            <a:pPr marL="0" indent="0" algn="l">
              <a:lnSpc>
                <a:spcPts val="877"/>
              </a:lnSpc>
              <a:buNone/>
            </a:pPr>
            <a:r>
              <a:rPr lang="en-US" sz="800" dirty="0">
                <a:solidFill>
                  <a:srgbClr val="64748B"/>
                </a:solidFill>
                <a:latin typeface="Carlito" pitchFamily="34" charset="0"/>
                <a:ea typeface="Carlito" pitchFamily="34" charset="-122"/>
                <a:cs typeface="Carlito" pitchFamily="34" charset="-120"/>
              </a:rPr>
              <a:t>Classic tomato + mozzarella</a:t>
            </a:r>
            <a:endParaRPr lang="en-US" sz="800" dirty="0"/>
          </a:p>
        </p:txBody>
      </p:sp>
      <p:sp>
        <p:nvSpPr>
          <p:cNvPr id="24" name="Text 21"/>
          <p:cNvSpPr/>
          <p:nvPr/>
        </p:nvSpPr>
        <p:spPr>
          <a:xfrm>
            <a:off x="8361536" y="2657475"/>
            <a:ext cx="275258" cy="185166"/>
          </a:xfrm>
          <a:prstGeom prst="rect">
            <a:avLst/>
          </a:prstGeom>
          <a:noFill/>
          <a:ln/>
        </p:spPr>
        <p:txBody>
          <a:bodyPr wrap="none" lIns="0" tIns="0" rIns="0" bIns="0" rtlCol="0" anchor="t"/>
          <a:lstStyle/>
          <a:p>
            <a:pPr marL="0" indent="0" algn="l">
              <a:lnSpc>
                <a:spcPts val="1350"/>
              </a:lnSpc>
              <a:buNone/>
            </a:pPr>
            <a:r>
              <a:rPr lang="en-US" sz="900" dirty="0">
                <a:solidFill>
                  <a:srgbClr val="E4541F"/>
                </a:solidFill>
                <a:latin typeface="Liberation Sans Narrow" pitchFamily="34" charset="0"/>
                <a:ea typeface="Liberation Sans Narrow" pitchFamily="34" charset="-122"/>
                <a:cs typeface="Liberation Sans Narrow" pitchFamily="34" charset="-120"/>
              </a:rPr>
              <a:t>₹249</a:t>
            </a:r>
            <a:endParaRPr lang="en-US" sz="900" dirty="0"/>
          </a:p>
        </p:txBody>
      </p:sp>
      <p:sp>
        <p:nvSpPr>
          <p:cNvPr id="25" name="Text 22"/>
          <p:cNvSpPr/>
          <p:nvPr/>
        </p:nvSpPr>
        <p:spPr>
          <a:xfrm>
            <a:off x="4876279" y="2982516"/>
            <a:ext cx="3864099" cy="350044"/>
          </a:xfrm>
          <a:prstGeom prst="roundRect">
            <a:avLst>
              <a:gd name="adj" fmla="val 27211"/>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6" name="Text 23"/>
          <p:cNvSpPr/>
          <p:nvPr/>
        </p:nvSpPr>
        <p:spPr>
          <a:xfrm>
            <a:off x="4979863" y="3028950"/>
            <a:ext cx="257175" cy="257175"/>
          </a:xfrm>
          <a:prstGeom prst="roundRect">
            <a:avLst>
              <a:gd name="adj" fmla="val 29630"/>
            </a:avLst>
          </a:prstGeom>
          <a:solidFill>
            <a:srgbClr val="0F172A"/>
          </a:solidFill>
          <a:ln/>
        </p:spPr>
        <p:txBody>
          <a:bodyPr wrap="square" rtlCol="0" anchor="ctr"/>
          <a:lstStyle/>
          <a:p>
            <a:pPr marL="0" indent="0">
              <a:buNone/>
            </a:pPr>
            <a:endParaRPr lang="en-US" dirty="0"/>
          </a:p>
        </p:txBody>
      </p:sp>
      <p:sp>
        <p:nvSpPr>
          <p:cNvPr id="27" name="Text 24"/>
          <p:cNvSpPr/>
          <p:nvPr/>
        </p:nvSpPr>
        <p:spPr>
          <a:xfrm>
            <a:off x="5004867" y="3053953"/>
            <a:ext cx="207169" cy="207169"/>
          </a:xfrm>
          <a:prstGeom prst="rect">
            <a:avLst/>
          </a:prstGeom>
          <a:noFill/>
          <a:ln/>
        </p:spPr>
        <p:txBody>
          <a:bodyPr wrap="none" lIns="0" tIns="0" rIns="0" bIns="0" rtlCol="0" anchor="ctr"/>
          <a:lstStyle/>
          <a:p>
            <a:pPr marL="0" indent="0" algn="ctr">
              <a:buNone/>
            </a:pPr>
            <a:r>
              <a:rPr lang="en-US" sz="1406" dirty="0">
                <a:solidFill>
                  <a:srgbClr val="FF6B35"/>
                </a:solidFill>
                <a:latin typeface="Segoe UI Symbol" pitchFamily="34" charset="0"/>
                <a:ea typeface="Segoe UI Symbol" pitchFamily="34" charset="-122"/>
                <a:cs typeface="Segoe UI Symbol" pitchFamily="34" charset="-120"/>
              </a:rPr>
              <a:t>⊕</a:t>
            </a:r>
            <a:endParaRPr lang="en-US" sz="1406" dirty="0"/>
          </a:p>
        </p:txBody>
      </p:sp>
      <p:sp>
        <p:nvSpPr>
          <p:cNvPr id="28" name="Text 25"/>
          <p:cNvSpPr/>
          <p:nvPr/>
        </p:nvSpPr>
        <p:spPr>
          <a:xfrm>
            <a:off x="5322763" y="3039666"/>
            <a:ext cx="3100700" cy="96802"/>
          </a:xfrm>
          <a:prstGeom prst="rect">
            <a:avLst/>
          </a:prstGeom>
          <a:noFill/>
          <a:ln/>
        </p:spPr>
        <p:txBody>
          <a:bodyPr wrap="none" lIns="0" tIns="0" rIns="0" bIns="0" rtlCol="0" anchor="t">
            <a:normAutofit fontScale="40000" lnSpcReduction="20000"/>
          </a:bodyPr>
          <a:lstStyle/>
          <a:p>
            <a:pPr marL="0" indent="0" algn="l">
              <a:lnSpc>
                <a:spcPts val="866"/>
              </a:lnSpc>
              <a:buNone/>
            </a:pPr>
            <a:r>
              <a:rPr lang="en-US" sz="800" b="1" dirty="0">
                <a:solidFill>
                  <a:srgbClr val="0F172A"/>
                </a:solidFill>
                <a:latin typeface="Carlito" pitchFamily="34" charset="0"/>
                <a:ea typeface="Carlito" pitchFamily="34" charset="-122"/>
                <a:cs typeface="Carlito" pitchFamily="34" charset="-120"/>
              </a:rPr>
              <a:t>Add Garlic Bread</a:t>
            </a:r>
            <a:endParaRPr lang="en-US" sz="800" dirty="0"/>
          </a:p>
        </p:txBody>
      </p:sp>
      <p:sp>
        <p:nvSpPr>
          <p:cNvPr id="29" name="Text 26"/>
          <p:cNvSpPr/>
          <p:nvPr/>
        </p:nvSpPr>
        <p:spPr>
          <a:xfrm>
            <a:off x="5322763" y="3163900"/>
            <a:ext cx="3100700" cy="115081"/>
          </a:xfrm>
          <a:prstGeom prst="rect">
            <a:avLst/>
          </a:prstGeom>
          <a:noFill/>
          <a:ln/>
        </p:spPr>
        <p:txBody>
          <a:bodyPr wrap="none" lIns="0" tIns="0" rIns="0" bIns="0" rtlCol="0" anchor="t"/>
          <a:lstStyle/>
          <a:p>
            <a:pPr marL="0" indent="0" algn="l">
              <a:lnSpc>
                <a:spcPts val="877"/>
              </a:lnSpc>
              <a:buNone/>
            </a:pPr>
            <a:r>
              <a:rPr lang="en-US" sz="800" dirty="0">
                <a:solidFill>
                  <a:srgbClr val="64748B"/>
                </a:solidFill>
                <a:latin typeface="Carlito" pitchFamily="34" charset="0"/>
                <a:ea typeface="Carlito" pitchFamily="34" charset="-122"/>
                <a:cs typeface="Carlito" pitchFamily="34" charset="-120"/>
              </a:rPr>
              <a:t>AI combo suggestion</a:t>
            </a:r>
            <a:endParaRPr lang="en-US" sz="800" dirty="0"/>
          </a:p>
        </p:txBody>
      </p:sp>
      <p:sp>
        <p:nvSpPr>
          <p:cNvPr id="30" name="Text 27"/>
          <p:cNvSpPr/>
          <p:nvPr/>
        </p:nvSpPr>
        <p:spPr>
          <a:xfrm>
            <a:off x="8361536" y="3071813"/>
            <a:ext cx="275258" cy="185166"/>
          </a:xfrm>
          <a:prstGeom prst="rect">
            <a:avLst/>
          </a:prstGeom>
          <a:noFill/>
          <a:ln/>
        </p:spPr>
        <p:txBody>
          <a:bodyPr wrap="none" lIns="0" tIns="0" rIns="0" bIns="0" rtlCol="0" anchor="t"/>
          <a:lstStyle/>
          <a:p>
            <a:pPr marL="0" indent="0" algn="l">
              <a:lnSpc>
                <a:spcPts val="1350"/>
              </a:lnSpc>
              <a:buNone/>
            </a:pPr>
            <a:r>
              <a:rPr lang="en-US" sz="900" dirty="0">
                <a:solidFill>
                  <a:srgbClr val="E4541F"/>
                </a:solidFill>
                <a:latin typeface="Liberation Sans Narrow" pitchFamily="34" charset="0"/>
                <a:ea typeface="Liberation Sans Narrow" pitchFamily="34" charset="-122"/>
                <a:cs typeface="Liberation Sans Narrow" pitchFamily="34" charset="-120"/>
              </a:rPr>
              <a:t>₹329</a:t>
            </a:r>
            <a:endParaRPr lang="en-US" sz="900" dirty="0"/>
          </a:p>
        </p:txBody>
      </p:sp>
      <p:sp>
        <p:nvSpPr>
          <p:cNvPr id="31" name="Text 28"/>
          <p:cNvSpPr/>
          <p:nvPr/>
        </p:nvSpPr>
        <p:spPr>
          <a:xfrm>
            <a:off x="4876279" y="3396853"/>
            <a:ext cx="3864099" cy="350044"/>
          </a:xfrm>
          <a:prstGeom prst="roundRect">
            <a:avLst>
              <a:gd name="adj" fmla="val 27211"/>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2" name="Text 29"/>
          <p:cNvSpPr/>
          <p:nvPr/>
        </p:nvSpPr>
        <p:spPr>
          <a:xfrm>
            <a:off x="4979863" y="3443288"/>
            <a:ext cx="257175" cy="257175"/>
          </a:xfrm>
          <a:prstGeom prst="roundRect">
            <a:avLst>
              <a:gd name="adj" fmla="val 29630"/>
            </a:avLst>
          </a:prstGeom>
          <a:solidFill>
            <a:srgbClr val="0F172A"/>
          </a:solidFill>
          <a:ln/>
        </p:spPr>
        <p:txBody>
          <a:bodyPr wrap="square" rtlCol="0" anchor="ctr"/>
          <a:lstStyle/>
          <a:p>
            <a:pPr marL="0" indent="0">
              <a:buNone/>
            </a:pPr>
            <a:endParaRPr lang="en-US" dirty="0"/>
          </a:p>
        </p:txBody>
      </p:sp>
      <p:sp>
        <p:nvSpPr>
          <p:cNvPr id="33" name="Text 30"/>
          <p:cNvSpPr/>
          <p:nvPr/>
        </p:nvSpPr>
        <p:spPr>
          <a:xfrm>
            <a:off x="5004867" y="3468291"/>
            <a:ext cx="207169" cy="207169"/>
          </a:xfrm>
          <a:prstGeom prst="rect">
            <a:avLst/>
          </a:prstGeom>
          <a:noFill/>
          <a:ln/>
        </p:spPr>
        <p:txBody>
          <a:bodyPr wrap="none" lIns="0" tIns="0" rIns="0" bIns="0" rtlCol="0" anchor="ctr"/>
          <a:lstStyle/>
          <a:p>
            <a:pPr marL="0" indent="0" algn="ctr">
              <a:buNone/>
            </a:pPr>
            <a:r>
              <a:rPr lang="en-US" sz="1406" dirty="0">
                <a:solidFill>
                  <a:srgbClr val="FF6B35"/>
                </a:solidFill>
                <a:latin typeface="Segoe UI Symbol" pitchFamily="34" charset="0"/>
                <a:ea typeface="Segoe UI Symbol" pitchFamily="34" charset="-122"/>
                <a:cs typeface="Segoe UI Symbol" pitchFamily="34" charset="-120"/>
              </a:rPr>
              <a:t>⌧</a:t>
            </a:r>
            <a:endParaRPr lang="en-US" sz="1406" dirty="0"/>
          </a:p>
        </p:txBody>
      </p:sp>
      <p:sp>
        <p:nvSpPr>
          <p:cNvPr id="34" name="Text 31"/>
          <p:cNvSpPr/>
          <p:nvPr/>
        </p:nvSpPr>
        <p:spPr>
          <a:xfrm>
            <a:off x="5322763" y="3454003"/>
            <a:ext cx="3314030" cy="96802"/>
          </a:xfrm>
          <a:prstGeom prst="rect">
            <a:avLst/>
          </a:prstGeom>
          <a:noFill/>
          <a:ln/>
        </p:spPr>
        <p:txBody>
          <a:bodyPr wrap="none" lIns="0" tIns="0" rIns="0" bIns="0" rtlCol="0" anchor="t">
            <a:normAutofit fontScale="40000" lnSpcReduction="20000"/>
          </a:bodyPr>
          <a:lstStyle/>
          <a:p>
            <a:pPr marL="0" indent="0" algn="l">
              <a:lnSpc>
                <a:spcPts val="866"/>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Apply PIZZA10</a:t>
            </a:r>
            <a:endParaRPr lang="en-US" sz="800" dirty="0"/>
          </a:p>
        </p:txBody>
      </p:sp>
      <p:sp>
        <p:nvSpPr>
          <p:cNvPr id="35" name="Text 32"/>
          <p:cNvSpPr/>
          <p:nvPr/>
        </p:nvSpPr>
        <p:spPr>
          <a:xfrm>
            <a:off x="5322763" y="3578237"/>
            <a:ext cx="3100700" cy="115081"/>
          </a:xfrm>
          <a:prstGeom prst="rect">
            <a:avLst/>
          </a:prstGeom>
          <a:noFill/>
          <a:ln/>
        </p:spPr>
        <p:txBody>
          <a:bodyPr wrap="none" lIns="0" tIns="0" rIns="0" bIns="0" rtlCol="0" anchor="t"/>
          <a:lstStyle/>
          <a:p>
            <a:pPr marL="0" indent="0" algn="l">
              <a:lnSpc>
                <a:spcPts val="877"/>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10% off • min ₹300</a:t>
            </a:r>
            <a:endParaRPr lang="en-US" sz="800" dirty="0"/>
          </a:p>
        </p:txBody>
      </p:sp>
      <p:sp>
        <p:nvSpPr>
          <p:cNvPr id="36" name="Text 33"/>
          <p:cNvSpPr/>
          <p:nvPr/>
        </p:nvSpPr>
        <p:spPr>
          <a:xfrm>
            <a:off x="8361536" y="3486150"/>
            <a:ext cx="275258" cy="185166"/>
          </a:xfrm>
          <a:prstGeom prst="rect">
            <a:avLst/>
          </a:prstGeom>
          <a:noFill/>
          <a:ln/>
        </p:spPr>
        <p:txBody>
          <a:bodyPr wrap="none" lIns="0" tIns="0" rIns="0" bIns="0" rtlCol="0" anchor="t"/>
          <a:lstStyle/>
          <a:p>
            <a:pPr marL="0" indent="0" algn="l">
              <a:lnSpc>
                <a:spcPts val="1350"/>
              </a:lnSpc>
              <a:buNone/>
            </a:pPr>
            <a:r>
              <a:rPr lang="en-US" sz="900" dirty="0">
                <a:solidFill>
                  <a:srgbClr val="E4541F"/>
                </a:solidFill>
                <a:latin typeface="Liberation Sans Narrow" pitchFamily="34" charset="0"/>
                <a:ea typeface="Liberation Sans Narrow" pitchFamily="34" charset="-122"/>
                <a:cs typeface="Liberation Sans Narrow" pitchFamily="34" charset="-120"/>
              </a:rPr>
              <a:t>₹296</a:t>
            </a:r>
            <a:endParaRPr lang="en-US" sz="900" dirty="0"/>
          </a:p>
        </p:txBody>
      </p:sp>
      <p:sp>
        <p:nvSpPr>
          <p:cNvPr id="37" name="Text 34"/>
          <p:cNvSpPr/>
          <p:nvPr/>
        </p:nvSpPr>
        <p:spPr>
          <a:xfrm>
            <a:off x="4876279" y="3811191"/>
            <a:ext cx="3864099" cy="350044"/>
          </a:xfrm>
          <a:prstGeom prst="roundRect">
            <a:avLst>
              <a:gd name="adj" fmla="val 27211"/>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8" name="Text 35"/>
          <p:cNvSpPr/>
          <p:nvPr/>
        </p:nvSpPr>
        <p:spPr>
          <a:xfrm>
            <a:off x="4979863" y="3857625"/>
            <a:ext cx="257175" cy="257175"/>
          </a:xfrm>
          <a:prstGeom prst="roundRect">
            <a:avLst>
              <a:gd name="adj" fmla="val 29630"/>
            </a:avLst>
          </a:prstGeom>
          <a:solidFill>
            <a:srgbClr val="0F172A"/>
          </a:solidFill>
          <a:ln/>
        </p:spPr>
        <p:txBody>
          <a:bodyPr wrap="square" rtlCol="0" anchor="ctr"/>
          <a:lstStyle/>
          <a:p>
            <a:pPr marL="0" indent="0">
              <a:buNone/>
            </a:pPr>
            <a:endParaRPr lang="en-US" dirty="0"/>
          </a:p>
        </p:txBody>
      </p:sp>
      <p:sp>
        <p:nvSpPr>
          <p:cNvPr id="39" name="Text 36"/>
          <p:cNvSpPr/>
          <p:nvPr/>
        </p:nvSpPr>
        <p:spPr>
          <a:xfrm>
            <a:off x="5004867" y="3882628"/>
            <a:ext cx="207169" cy="207169"/>
          </a:xfrm>
          <a:prstGeom prst="rect">
            <a:avLst/>
          </a:prstGeom>
          <a:noFill/>
          <a:ln/>
        </p:spPr>
        <p:txBody>
          <a:bodyPr wrap="none" lIns="0" tIns="0" rIns="0" bIns="0" rtlCol="0" anchor="ctr"/>
          <a:lstStyle/>
          <a:p>
            <a:pPr marL="0" indent="0" algn="ctr">
              <a:buNone/>
            </a:pPr>
            <a:r>
              <a:rPr lang="en-US" sz="1406" dirty="0">
                <a:solidFill>
                  <a:srgbClr val="FF6B35"/>
                </a:solidFill>
                <a:latin typeface="Segoe UI Symbol" pitchFamily="34" charset="0"/>
                <a:ea typeface="Segoe UI Symbol" pitchFamily="34" charset="-122"/>
                <a:cs typeface="Segoe UI Symbol" pitchFamily="34" charset="-120"/>
              </a:rPr>
              <a:t>✦</a:t>
            </a:r>
            <a:endParaRPr lang="en-US" sz="1406" dirty="0"/>
          </a:p>
        </p:txBody>
      </p:sp>
      <p:sp>
        <p:nvSpPr>
          <p:cNvPr id="40" name="Text 37"/>
          <p:cNvSpPr/>
          <p:nvPr/>
        </p:nvSpPr>
        <p:spPr>
          <a:xfrm>
            <a:off x="5322763" y="3868341"/>
            <a:ext cx="3314030" cy="96802"/>
          </a:xfrm>
          <a:prstGeom prst="rect">
            <a:avLst/>
          </a:prstGeom>
          <a:noFill/>
          <a:ln/>
        </p:spPr>
        <p:txBody>
          <a:bodyPr wrap="none" lIns="0" tIns="0" rIns="0" bIns="0" rtlCol="0" anchor="t">
            <a:normAutofit fontScale="40000" lnSpcReduction="20000"/>
          </a:bodyPr>
          <a:lstStyle/>
          <a:p>
            <a:pPr marL="0" indent="0" algn="l">
              <a:lnSpc>
                <a:spcPts val="866"/>
              </a:lnSpc>
              <a:buNone/>
            </a:pPr>
            <a:r>
              <a:rPr lang="en-US" sz="800" b="1" dirty="0">
                <a:solidFill>
                  <a:srgbClr val="0F172A"/>
                </a:solidFill>
                <a:latin typeface="Carlito" pitchFamily="34" charset="0"/>
                <a:ea typeface="Carlito" pitchFamily="34" charset="-122"/>
                <a:cs typeface="Carlito" pitchFamily="34" charset="-120"/>
              </a:rPr>
              <a:t>Tax + GST</a:t>
            </a:r>
            <a:endParaRPr lang="en-US" sz="800" dirty="0"/>
          </a:p>
        </p:txBody>
      </p:sp>
      <p:sp>
        <p:nvSpPr>
          <p:cNvPr id="41" name="Text 38"/>
          <p:cNvSpPr/>
          <p:nvPr/>
        </p:nvSpPr>
        <p:spPr>
          <a:xfrm>
            <a:off x="5322763" y="3992575"/>
            <a:ext cx="3100700" cy="115081"/>
          </a:xfrm>
          <a:prstGeom prst="rect">
            <a:avLst/>
          </a:prstGeom>
          <a:noFill/>
          <a:ln/>
        </p:spPr>
        <p:txBody>
          <a:bodyPr wrap="none" lIns="0" tIns="0" rIns="0" bIns="0" rtlCol="0" anchor="t"/>
          <a:lstStyle/>
          <a:p>
            <a:pPr marL="0" indent="0" algn="l">
              <a:lnSpc>
                <a:spcPts val="877"/>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5% GST on food items</a:t>
            </a:r>
            <a:endParaRPr lang="en-US" sz="800" dirty="0"/>
          </a:p>
        </p:txBody>
      </p:sp>
      <p:sp>
        <p:nvSpPr>
          <p:cNvPr id="42" name="Text 39"/>
          <p:cNvSpPr/>
          <p:nvPr/>
        </p:nvSpPr>
        <p:spPr>
          <a:xfrm>
            <a:off x="8361536" y="3900488"/>
            <a:ext cx="275258" cy="185166"/>
          </a:xfrm>
          <a:prstGeom prst="rect">
            <a:avLst/>
          </a:prstGeom>
          <a:noFill/>
          <a:ln/>
        </p:spPr>
        <p:txBody>
          <a:bodyPr wrap="none" lIns="0" tIns="0" rIns="0" bIns="0" rtlCol="0" anchor="t"/>
          <a:lstStyle/>
          <a:p>
            <a:pPr marL="0" indent="0" algn="l">
              <a:lnSpc>
                <a:spcPts val="1350"/>
              </a:lnSpc>
              <a:buNone/>
            </a:pPr>
            <a:r>
              <a:rPr lang="en-US" sz="900" dirty="0">
                <a:solidFill>
                  <a:srgbClr val="E4541F"/>
                </a:solidFill>
                <a:latin typeface="Liberation Sans Narrow" pitchFamily="34" charset="0"/>
                <a:ea typeface="Liberation Sans Narrow" pitchFamily="34" charset="-122"/>
                <a:cs typeface="Liberation Sans Narrow" pitchFamily="34" charset="-120"/>
              </a:rPr>
              <a:t>₹311</a:t>
            </a:r>
            <a:endParaRPr lang="en-US" sz="900" dirty="0"/>
          </a:p>
        </p:txBody>
      </p:sp>
      <p:sp>
        <p:nvSpPr>
          <p:cNvPr id="43" name="Text 40"/>
          <p:cNvSpPr/>
          <p:nvPr/>
        </p:nvSpPr>
        <p:spPr>
          <a:xfrm>
            <a:off x="4876279" y="4225528"/>
            <a:ext cx="3864099" cy="350044"/>
          </a:xfrm>
          <a:prstGeom prst="roundRect">
            <a:avLst>
              <a:gd name="adj" fmla="val 27211"/>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44" name="Text 41"/>
          <p:cNvSpPr/>
          <p:nvPr/>
        </p:nvSpPr>
        <p:spPr>
          <a:xfrm>
            <a:off x="4979863" y="4271963"/>
            <a:ext cx="257175" cy="257175"/>
          </a:xfrm>
          <a:prstGeom prst="roundRect">
            <a:avLst>
              <a:gd name="adj" fmla="val 29630"/>
            </a:avLst>
          </a:prstGeom>
          <a:solidFill>
            <a:srgbClr val="0F172A"/>
          </a:solidFill>
          <a:ln/>
        </p:spPr>
        <p:txBody>
          <a:bodyPr wrap="square" rtlCol="0" anchor="ctr"/>
          <a:lstStyle/>
          <a:p>
            <a:pPr marL="0" indent="0">
              <a:buNone/>
            </a:pPr>
            <a:endParaRPr lang="en-US" dirty="0"/>
          </a:p>
        </p:txBody>
      </p:sp>
      <p:sp>
        <p:nvSpPr>
          <p:cNvPr id="45" name="Text 42"/>
          <p:cNvSpPr/>
          <p:nvPr/>
        </p:nvSpPr>
        <p:spPr>
          <a:xfrm>
            <a:off x="5004867" y="4296966"/>
            <a:ext cx="207169" cy="207169"/>
          </a:xfrm>
          <a:prstGeom prst="rect">
            <a:avLst/>
          </a:prstGeom>
          <a:noFill/>
          <a:ln/>
        </p:spPr>
        <p:txBody>
          <a:bodyPr wrap="none" lIns="0" tIns="0" rIns="0" bIns="0" rtlCol="0" anchor="ctr"/>
          <a:lstStyle/>
          <a:p>
            <a:pPr marL="0" indent="0" algn="ctr">
              <a:buNone/>
            </a:pPr>
            <a:r>
              <a:rPr lang="en-US" sz="1406" dirty="0">
                <a:solidFill>
                  <a:srgbClr val="FF6B35"/>
                </a:solidFill>
                <a:latin typeface="Segoe UI Symbol" pitchFamily="34" charset="0"/>
                <a:ea typeface="Segoe UI Symbol" pitchFamily="34" charset="-122"/>
                <a:cs typeface="Segoe UI Symbol" pitchFamily="34" charset="-120"/>
              </a:rPr>
              <a:t>✓</a:t>
            </a:r>
            <a:endParaRPr lang="en-US" sz="1406" dirty="0"/>
          </a:p>
        </p:txBody>
      </p:sp>
      <p:sp>
        <p:nvSpPr>
          <p:cNvPr id="46" name="Text 43"/>
          <p:cNvSpPr/>
          <p:nvPr/>
        </p:nvSpPr>
        <p:spPr>
          <a:xfrm>
            <a:off x="5322763" y="4282678"/>
            <a:ext cx="3100700" cy="96802"/>
          </a:xfrm>
          <a:prstGeom prst="rect">
            <a:avLst/>
          </a:prstGeom>
          <a:noFill/>
          <a:ln/>
        </p:spPr>
        <p:txBody>
          <a:bodyPr wrap="none" lIns="0" tIns="0" rIns="0" bIns="0" rtlCol="0" anchor="t">
            <a:normAutofit fontScale="40000" lnSpcReduction="20000"/>
          </a:bodyPr>
          <a:lstStyle/>
          <a:p>
            <a:pPr marL="0" indent="0" algn="l">
              <a:lnSpc>
                <a:spcPts val="866"/>
              </a:lnSpc>
              <a:buNone/>
            </a:pPr>
            <a:r>
              <a:rPr lang="en-US" sz="800" b="1" dirty="0">
                <a:solidFill>
                  <a:srgbClr val="0F172A"/>
                </a:solidFill>
                <a:latin typeface="Carlito" pitchFamily="34" charset="0"/>
                <a:ea typeface="Carlito" pitchFamily="34" charset="-122"/>
                <a:cs typeface="Carlito" pitchFamily="34" charset="-120"/>
              </a:rPr>
              <a:t>Proceed to Pay</a:t>
            </a:r>
            <a:endParaRPr lang="en-US" sz="800" dirty="0"/>
          </a:p>
        </p:txBody>
      </p:sp>
      <p:sp>
        <p:nvSpPr>
          <p:cNvPr id="47" name="Text 44"/>
          <p:cNvSpPr/>
          <p:nvPr/>
        </p:nvSpPr>
        <p:spPr>
          <a:xfrm>
            <a:off x="5322763" y="4406912"/>
            <a:ext cx="3100700" cy="115081"/>
          </a:xfrm>
          <a:prstGeom prst="rect">
            <a:avLst/>
          </a:prstGeom>
          <a:noFill/>
          <a:ln/>
        </p:spPr>
        <p:txBody>
          <a:bodyPr wrap="none" lIns="0" tIns="0" rIns="0" bIns="0" rtlCol="0" anchor="t"/>
          <a:lstStyle/>
          <a:p>
            <a:pPr marL="0" indent="0" algn="l">
              <a:lnSpc>
                <a:spcPts val="877"/>
              </a:lnSpc>
              <a:buNone/>
            </a:pPr>
            <a:r>
              <a:rPr lang="en-US" sz="800" dirty="0">
                <a:solidFill>
                  <a:srgbClr val="64748B"/>
                </a:solidFill>
                <a:latin typeface="Carlito" pitchFamily="34" charset="0"/>
                <a:ea typeface="Carlito" pitchFamily="34" charset="-122"/>
                <a:cs typeface="Carlito" pitchFamily="34" charset="-120"/>
              </a:rPr>
              <a:t>Razorpay checkout →</a:t>
            </a:r>
            <a:endParaRPr lang="en-US" sz="800" dirty="0"/>
          </a:p>
        </p:txBody>
      </p:sp>
      <p:sp>
        <p:nvSpPr>
          <p:cNvPr id="48" name="Text 45"/>
          <p:cNvSpPr/>
          <p:nvPr/>
        </p:nvSpPr>
        <p:spPr>
          <a:xfrm>
            <a:off x="8361536" y="4314825"/>
            <a:ext cx="275258" cy="185166"/>
          </a:xfrm>
          <a:prstGeom prst="rect">
            <a:avLst/>
          </a:prstGeom>
          <a:noFill/>
          <a:ln/>
        </p:spPr>
        <p:txBody>
          <a:bodyPr wrap="none" lIns="0" tIns="0" rIns="0" bIns="0" rtlCol="0" anchor="t"/>
          <a:lstStyle/>
          <a:p>
            <a:pPr marL="0" indent="0" algn="l">
              <a:lnSpc>
                <a:spcPts val="1350"/>
              </a:lnSpc>
              <a:buNone/>
            </a:pPr>
            <a:r>
              <a:rPr lang="en-US" sz="900" dirty="0">
                <a:solidFill>
                  <a:srgbClr val="E4541F"/>
                </a:solidFill>
                <a:latin typeface="Liberation Sans Narrow" pitchFamily="34" charset="0"/>
                <a:ea typeface="Liberation Sans Narrow" pitchFamily="34" charset="-122"/>
                <a:cs typeface="Liberation Sans Narrow" pitchFamily="34" charset="-120"/>
              </a:rPr>
              <a:t>₹311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4641077"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03</a:t>
            </a:r>
            <a:endParaRPr lang="en-US" sz="800" dirty="0"/>
          </a:p>
        </p:txBody>
      </p:sp>
      <p:sp>
        <p:nvSpPr>
          <p:cNvPr id="5" name="Text 3"/>
          <p:cNvSpPr/>
          <p:nvPr/>
        </p:nvSpPr>
        <p:spPr>
          <a:xfrm>
            <a:off x="400050" y="303609"/>
            <a:ext cx="3433671"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AI Recommendation Engine</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08 / 15</a:t>
            </a:r>
            <a:endParaRPr lang="en-US" sz="800" dirty="0"/>
          </a:p>
        </p:txBody>
      </p:sp>
      <p:sp>
        <p:nvSpPr>
          <p:cNvPr id="8" name="Text 6"/>
          <p:cNvSpPr/>
          <p:nvPr/>
        </p:nvSpPr>
        <p:spPr>
          <a:xfrm>
            <a:off x="400050" y="992981"/>
            <a:ext cx="257175" cy="21208"/>
          </a:xfrm>
          <a:prstGeom prst="roundRect">
            <a:avLst>
              <a:gd name="adj" fmla="val 89825"/>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114202"/>
            <a:ext cx="83439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Personalized pizza suggestions powered by Azure OpenAI</a:t>
            </a:r>
            <a:endParaRPr lang="en-US" sz="1238" dirty="0"/>
          </a:p>
        </p:txBody>
      </p:sp>
      <p:sp>
        <p:nvSpPr>
          <p:cNvPr id="10" name="Text 8"/>
          <p:cNvSpPr/>
          <p:nvPr/>
        </p:nvSpPr>
        <p:spPr>
          <a:xfrm>
            <a:off x="400050" y="1449958"/>
            <a:ext cx="8343900" cy="346704"/>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The recommendation engine feeds a customer's order history, dietary preferences, and seasonal context into Azure OpenAI, which returns a ranked list of pizza and combo suggestions tailored to that user at that moment.</a:t>
            </a:r>
            <a:endParaRPr lang="en-US" sz="816" dirty="0"/>
          </a:p>
        </p:txBody>
      </p:sp>
      <p:sp>
        <p:nvSpPr>
          <p:cNvPr id="11" name="Text 9"/>
          <p:cNvSpPr/>
          <p:nvPr/>
        </p:nvSpPr>
        <p:spPr>
          <a:xfrm>
            <a:off x="400050" y="1899568"/>
            <a:ext cx="2695538" cy="1631566"/>
          </a:xfrm>
          <a:prstGeom prst="roundRect">
            <a:avLst>
              <a:gd name="adj" fmla="val 4670"/>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00050" y="1903140"/>
            <a:ext cx="2695538" cy="0"/>
          </a:xfrm>
          <a:prstGeom prst="line">
            <a:avLst/>
          </a:prstGeom>
          <a:noFill/>
          <a:ln w="7144">
            <a:solidFill>
              <a:srgbClr val="E2E8F0"/>
            </a:solidFill>
            <a:prstDash val="solid"/>
          </a:ln>
        </p:spPr>
      </p:sp>
      <p:sp>
        <p:nvSpPr>
          <p:cNvPr id="13" name="Shape 11"/>
          <p:cNvSpPr/>
          <p:nvPr/>
        </p:nvSpPr>
        <p:spPr>
          <a:xfrm>
            <a:off x="3092016" y="1899568"/>
            <a:ext cx="0" cy="1631566"/>
          </a:xfrm>
          <a:prstGeom prst="line">
            <a:avLst/>
          </a:prstGeom>
          <a:noFill/>
          <a:ln w="7144">
            <a:solidFill>
              <a:srgbClr val="E2E8F0"/>
            </a:solidFill>
            <a:prstDash val="solid"/>
          </a:ln>
        </p:spPr>
      </p:sp>
      <p:sp>
        <p:nvSpPr>
          <p:cNvPr id="14" name="Shape 12"/>
          <p:cNvSpPr/>
          <p:nvPr/>
        </p:nvSpPr>
        <p:spPr>
          <a:xfrm>
            <a:off x="400050" y="3527561"/>
            <a:ext cx="2695538" cy="0"/>
          </a:xfrm>
          <a:prstGeom prst="line">
            <a:avLst/>
          </a:prstGeom>
          <a:noFill/>
          <a:ln w="7144">
            <a:solidFill>
              <a:srgbClr val="E2E8F0"/>
            </a:solidFill>
            <a:prstDash val="solid"/>
          </a:ln>
        </p:spPr>
      </p:sp>
      <p:sp>
        <p:nvSpPr>
          <p:cNvPr id="15" name="Shape 13"/>
          <p:cNvSpPr/>
          <p:nvPr/>
        </p:nvSpPr>
        <p:spPr>
          <a:xfrm>
            <a:off x="414338" y="1899568"/>
            <a:ext cx="0" cy="1631566"/>
          </a:xfrm>
          <a:prstGeom prst="line">
            <a:avLst/>
          </a:prstGeom>
          <a:noFill/>
          <a:ln w="28575">
            <a:solidFill>
              <a:srgbClr val="FF6B35"/>
            </a:solidFill>
            <a:prstDash val="solid"/>
          </a:ln>
        </p:spPr>
      </p:sp>
      <p:sp>
        <p:nvSpPr>
          <p:cNvPr id="16" name="Text 14"/>
          <p:cNvSpPr/>
          <p:nvPr/>
        </p:nvSpPr>
        <p:spPr>
          <a:xfrm>
            <a:off x="557213" y="2021012"/>
            <a:ext cx="200025" cy="200025"/>
          </a:xfrm>
          <a:prstGeom prst="rect">
            <a:avLst/>
          </a:prstGeom>
          <a:noFill/>
          <a:ln/>
        </p:spPr>
        <p:txBody>
          <a:bodyPr wrap="none" lIns="0" tIns="0" rIns="0" bIns="0" rtlCol="0" anchor="ctr"/>
          <a:lstStyle/>
          <a:p>
            <a:pPr marL="0" indent="0" algn="ctr">
              <a:buNone/>
            </a:pPr>
            <a:r>
              <a:rPr lang="en-US" sz="1969" dirty="0">
                <a:solidFill>
                  <a:srgbClr val="FF6B35"/>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557213" y="2278187"/>
            <a:ext cx="2402644" cy="157319"/>
          </a:xfrm>
          <a:prstGeom prst="rect">
            <a:avLst/>
          </a:prstGeom>
          <a:noFill/>
          <a:ln/>
        </p:spPr>
        <p:txBody>
          <a:bodyPr wrap="none" lIns="0" tIns="0" rIns="0" bIns="0" rtlCol="0" anchor="t"/>
          <a:lstStyle/>
          <a:p>
            <a:pPr marL="0" indent="0" algn="l">
              <a:lnSpc>
                <a:spcPts val="1148"/>
              </a:lnSpc>
              <a:buNone/>
            </a:pPr>
            <a:r>
              <a:rPr lang="en-US" sz="956" b="1" kern="0" spc="-10" dirty="0">
                <a:solidFill>
                  <a:srgbClr val="0F172A"/>
                </a:solidFill>
                <a:latin typeface="Carlito" pitchFamily="34" charset="0"/>
                <a:ea typeface="Carlito" pitchFamily="34" charset="-122"/>
                <a:cs typeface="Carlito" pitchFamily="34" charset="-120"/>
              </a:rPr>
              <a:t>Order History Analysis</a:t>
            </a:r>
            <a:endParaRPr lang="en-US" sz="956" dirty="0"/>
          </a:p>
        </p:txBody>
      </p:sp>
      <p:sp>
        <p:nvSpPr>
          <p:cNvPr id="18" name="Text 16"/>
          <p:cNvSpPr/>
          <p:nvPr/>
        </p:nvSpPr>
        <p:spPr>
          <a:xfrm>
            <a:off x="557213" y="2481002"/>
            <a:ext cx="2402644" cy="72623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Looks at the customer's last 20 orders to identify favorite crusts, recurring toppings, average basket size, and ordering cadence. The model learns what the customer reaches for repeatedly and surfaces variants they haven't tried yet.</a:t>
            </a:r>
            <a:endParaRPr lang="en-US" sz="800" dirty="0"/>
          </a:p>
        </p:txBody>
      </p:sp>
      <p:sp>
        <p:nvSpPr>
          <p:cNvPr id="19" name="Text 17"/>
          <p:cNvSpPr/>
          <p:nvPr/>
        </p:nvSpPr>
        <p:spPr>
          <a:xfrm>
            <a:off x="534353" y="3224166"/>
            <a:ext cx="1332041"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20" name="Text 18"/>
          <p:cNvSpPr/>
          <p:nvPr/>
        </p:nvSpPr>
        <p:spPr>
          <a:xfrm>
            <a:off x="557213" y="3234668"/>
            <a:ext cx="1286321"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SOURCE: ORDERS TABLE</a:t>
            </a:r>
            <a:endParaRPr lang="en-US" sz="800" dirty="0"/>
          </a:p>
        </p:txBody>
      </p:sp>
      <p:sp>
        <p:nvSpPr>
          <p:cNvPr id="21" name="Text 19"/>
          <p:cNvSpPr/>
          <p:nvPr/>
        </p:nvSpPr>
        <p:spPr>
          <a:xfrm>
            <a:off x="3224175" y="1899568"/>
            <a:ext cx="2695538" cy="1631566"/>
          </a:xfrm>
          <a:prstGeom prst="roundRect">
            <a:avLst>
              <a:gd name="adj" fmla="val 4670"/>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3224175" y="1903140"/>
            <a:ext cx="2695538" cy="0"/>
          </a:xfrm>
          <a:prstGeom prst="line">
            <a:avLst/>
          </a:prstGeom>
          <a:noFill/>
          <a:ln w="7144">
            <a:solidFill>
              <a:srgbClr val="E2E8F0"/>
            </a:solidFill>
            <a:prstDash val="solid"/>
          </a:ln>
        </p:spPr>
      </p:sp>
      <p:sp>
        <p:nvSpPr>
          <p:cNvPr id="23" name="Shape 21"/>
          <p:cNvSpPr/>
          <p:nvPr/>
        </p:nvSpPr>
        <p:spPr>
          <a:xfrm>
            <a:off x="5916141" y="1899568"/>
            <a:ext cx="0" cy="1631566"/>
          </a:xfrm>
          <a:prstGeom prst="line">
            <a:avLst/>
          </a:prstGeom>
          <a:noFill/>
          <a:ln w="7144">
            <a:solidFill>
              <a:srgbClr val="E2E8F0"/>
            </a:solidFill>
            <a:prstDash val="solid"/>
          </a:ln>
        </p:spPr>
      </p:sp>
      <p:sp>
        <p:nvSpPr>
          <p:cNvPr id="24" name="Shape 22"/>
          <p:cNvSpPr/>
          <p:nvPr/>
        </p:nvSpPr>
        <p:spPr>
          <a:xfrm>
            <a:off x="3224175" y="3527561"/>
            <a:ext cx="2695538" cy="0"/>
          </a:xfrm>
          <a:prstGeom prst="line">
            <a:avLst/>
          </a:prstGeom>
          <a:noFill/>
          <a:ln w="7144">
            <a:solidFill>
              <a:srgbClr val="E2E8F0"/>
            </a:solidFill>
            <a:prstDash val="solid"/>
          </a:ln>
        </p:spPr>
      </p:sp>
      <p:sp>
        <p:nvSpPr>
          <p:cNvPr id="25" name="Shape 23"/>
          <p:cNvSpPr/>
          <p:nvPr/>
        </p:nvSpPr>
        <p:spPr>
          <a:xfrm>
            <a:off x="3238463" y="1899568"/>
            <a:ext cx="0" cy="1631566"/>
          </a:xfrm>
          <a:prstGeom prst="line">
            <a:avLst/>
          </a:prstGeom>
          <a:noFill/>
          <a:ln w="28575">
            <a:solidFill>
              <a:srgbClr val="FF6B35"/>
            </a:solidFill>
            <a:prstDash val="solid"/>
          </a:ln>
        </p:spPr>
      </p:sp>
      <p:sp>
        <p:nvSpPr>
          <p:cNvPr id="26" name="Text 24"/>
          <p:cNvSpPr/>
          <p:nvPr/>
        </p:nvSpPr>
        <p:spPr>
          <a:xfrm>
            <a:off x="3381338" y="2021012"/>
            <a:ext cx="200025" cy="200025"/>
          </a:xfrm>
          <a:prstGeom prst="rect">
            <a:avLst/>
          </a:prstGeom>
          <a:noFill/>
          <a:ln/>
        </p:spPr>
        <p:txBody>
          <a:bodyPr wrap="none" lIns="0" tIns="0" rIns="0" bIns="0" rtlCol="0" anchor="ctr"/>
          <a:lstStyle/>
          <a:p>
            <a:pPr marL="0" indent="0" algn="ctr">
              <a:buNone/>
            </a:pPr>
            <a:r>
              <a:rPr lang="en-US" sz="1969" dirty="0">
                <a:solidFill>
                  <a:srgbClr val="FF6B35"/>
                </a:solidFill>
                <a:latin typeface="Segoe UI Symbol" pitchFamily="34" charset="0"/>
                <a:ea typeface="Segoe UI Symbol" pitchFamily="34" charset="-122"/>
                <a:cs typeface="Segoe UI Symbol" pitchFamily="34" charset="-120"/>
              </a:rPr>
              <a:t>◎</a:t>
            </a:r>
            <a:endParaRPr lang="en-US" sz="1969" dirty="0"/>
          </a:p>
        </p:txBody>
      </p:sp>
      <p:sp>
        <p:nvSpPr>
          <p:cNvPr id="27" name="Text 25"/>
          <p:cNvSpPr/>
          <p:nvPr/>
        </p:nvSpPr>
        <p:spPr>
          <a:xfrm>
            <a:off x="3381338" y="2278187"/>
            <a:ext cx="2402644" cy="157319"/>
          </a:xfrm>
          <a:prstGeom prst="rect">
            <a:avLst/>
          </a:prstGeom>
          <a:noFill/>
          <a:ln/>
        </p:spPr>
        <p:txBody>
          <a:bodyPr wrap="none" lIns="0" tIns="0" rIns="0" bIns="0" rtlCol="0" anchor="t"/>
          <a:lstStyle/>
          <a:p>
            <a:pPr marL="0" indent="0" algn="l">
              <a:lnSpc>
                <a:spcPts val="1148"/>
              </a:lnSpc>
              <a:buNone/>
            </a:pPr>
            <a:r>
              <a:rPr lang="en-US" sz="956" b="1" kern="0" spc="-10" dirty="0">
                <a:solidFill>
                  <a:srgbClr val="0F172A"/>
                </a:solidFill>
                <a:latin typeface="Carlito" pitchFamily="34" charset="0"/>
                <a:ea typeface="Carlito" pitchFamily="34" charset="-122"/>
                <a:cs typeface="Carlito" pitchFamily="34" charset="-120"/>
              </a:rPr>
              <a:t>Preference Profile</a:t>
            </a:r>
            <a:endParaRPr lang="en-US" sz="956" dirty="0"/>
          </a:p>
        </p:txBody>
      </p:sp>
      <p:sp>
        <p:nvSpPr>
          <p:cNvPr id="28" name="Text 26"/>
          <p:cNvSpPr/>
          <p:nvPr/>
        </p:nvSpPr>
        <p:spPr>
          <a:xfrm>
            <a:off x="3381338" y="2481002"/>
            <a:ext cx="2402644" cy="72623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Combines dietary tags (veg/vegan/spicy tolerance), allergen exclusions, and explicit likes/dislikes captured at signup and via post-order feedback. The profile acts as a hard filter on candidate pizzas before ranking.</a:t>
            </a:r>
            <a:endParaRPr lang="en-US" sz="800" dirty="0"/>
          </a:p>
        </p:txBody>
      </p:sp>
      <p:sp>
        <p:nvSpPr>
          <p:cNvPr id="29" name="Text 27"/>
          <p:cNvSpPr/>
          <p:nvPr/>
        </p:nvSpPr>
        <p:spPr>
          <a:xfrm>
            <a:off x="3358478" y="3224166"/>
            <a:ext cx="1302908"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30" name="Text 28"/>
          <p:cNvSpPr/>
          <p:nvPr/>
        </p:nvSpPr>
        <p:spPr>
          <a:xfrm>
            <a:off x="3381338" y="3234668"/>
            <a:ext cx="1257188"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SOURCE: USER PROFILE</a:t>
            </a:r>
            <a:endParaRPr lang="en-US" sz="800" dirty="0"/>
          </a:p>
        </p:txBody>
      </p:sp>
      <p:sp>
        <p:nvSpPr>
          <p:cNvPr id="31" name="Text 29"/>
          <p:cNvSpPr/>
          <p:nvPr/>
        </p:nvSpPr>
        <p:spPr>
          <a:xfrm>
            <a:off x="6048301" y="1899568"/>
            <a:ext cx="2695649" cy="1631566"/>
          </a:xfrm>
          <a:prstGeom prst="roundRect">
            <a:avLst>
              <a:gd name="adj" fmla="val 4670"/>
            </a:avLst>
          </a:prstGeom>
          <a:solidFill>
            <a:srgbClr val="FFFFFF"/>
          </a:solidFill>
          <a:ln/>
        </p:spPr>
        <p:txBody>
          <a:bodyPr wrap="square" rtlCol="0" anchor="ctr"/>
          <a:lstStyle/>
          <a:p>
            <a:pPr marL="0" indent="0">
              <a:buNone/>
            </a:pPr>
            <a:endParaRPr lang="en-US" dirty="0"/>
          </a:p>
        </p:txBody>
      </p:sp>
      <p:sp>
        <p:nvSpPr>
          <p:cNvPr id="32" name="Shape 30"/>
          <p:cNvSpPr/>
          <p:nvPr/>
        </p:nvSpPr>
        <p:spPr>
          <a:xfrm>
            <a:off x="6048301" y="1903140"/>
            <a:ext cx="2695649" cy="0"/>
          </a:xfrm>
          <a:prstGeom prst="line">
            <a:avLst/>
          </a:prstGeom>
          <a:noFill/>
          <a:ln w="7144">
            <a:solidFill>
              <a:srgbClr val="E2E8F0"/>
            </a:solidFill>
            <a:prstDash val="solid"/>
          </a:ln>
        </p:spPr>
      </p:sp>
      <p:sp>
        <p:nvSpPr>
          <p:cNvPr id="33" name="Shape 31"/>
          <p:cNvSpPr/>
          <p:nvPr/>
        </p:nvSpPr>
        <p:spPr>
          <a:xfrm>
            <a:off x="8740378" y="1899568"/>
            <a:ext cx="0" cy="1631566"/>
          </a:xfrm>
          <a:prstGeom prst="line">
            <a:avLst/>
          </a:prstGeom>
          <a:noFill/>
          <a:ln w="7144">
            <a:solidFill>
              <a:srgbClr val="E2E8F0"/>
            </a:solidFill>
            <a:prstDash val="solid"/>
          </a:ln>
        </p:spPr>
      </p:sp>
      <p:sp>
        <p:nvSpPr>
          <p:cNvPr id="34" name="Shape 32"/>
          <p:cNvSpPr/>
          <p:nvPr/>
        </p:nvSpPr>
        <p:spPr>
          <a:xfrm>
            <a:off x="6048301" y="3527561"/>
            <a:ext cx="2695649" cy="0"/>
          </a:xfrm>
          <a:prstGeom prst="line">
            <a:avLst/>
          </a:prstGeom>
          <a:noFill/>
          <a:ln w="7144">
            <a:solidFill>
              <a:srgbClr val="E2E8F0"/>
            </a:solidFill>
            <a:prstDash val="solid"/>
          </a:ln>
        </p:spPr>
      </p:sp>
      <p:sp>
        <p:nvSpPr>
          <p:cNvPr id="35" name="Shape 33"/>
          <p:cNvSpPr/>
          <p:nvPr/>
        </p:nvSpPr>
        <p:spPr>
          <a:xfrm>
            <a:off x="6062588" y="1899568"/>
            <a:ext cx="0" cy="1631566"/>
          </a:xfrm>
          <a:prstGeom prst="line">
            <a:avLst/>
          </a:prstGeom>
          <a:noFill/>
          <a:ln w="28575">
            <a:solidFill>
              <a:srgbClr val="FF6B35"/>
            </a:solidFill>
            <a:prstDash val="solid"/>
          </a:ln>
        </p:spPr>
      </p:sp>
      <p:sp>
        <p:nvSpPr>
          <p:cNvPr id="36" name="Text 34"/>
          <p:cNvSpPr/>
          <p:nvPr/>
        </p:nvSpPr>
        <p:spPr>
          <a:xfrm>
            <a:off x="6205463" y="2021012"/>
            <a:ext cx="200025" cy="200025"/>
          </a:xfrm>
          <a:prstGeom prst="rect">
            <a:avLst/>
          </a:prstGeom>
          <a:noFill/>
          <a:ln/>
        </p:spPr>
        <p:txBody>
          <a:bodyPr wrap="none" lIns="0" tIns="0" rIns="0" bIns="0" rtlCol="0" anchor="ctr"/>
          <a:lstStyle/>
          <a:p>
            <a:pPr marL="0" indent="0" algn="ctr">
              <a:buNone/>
            </a:pPr>
            <a:r>
              <a:rPr lang="en-US" sz="1969" dirty="0">
                <a:solidFill>
                  <a:srgbClr val="FF6B35"/>
                </a:solidFill>
                <a:latin typeface="Segoe UI Symbol" pitchFamily="34" charset="0"/>
                <a:ea typeface="Segoe UI Symbol" pitchFamily="34" charset="-122"/>
                <a:cs typeface="Segoe UI Symbol" pitchFamily="34" charset="-120"/>
              </a:rPr>
              <a:t>✿</a:t>
            </a:r>
            <a:endParaRPr lang="en-US" sz="1969" dirty="0"/>
          </a:p>
        </p:txBody>
      </p:sp>
      <p:sp>
        <p:nvSpPr>
          <p:cNvPr id="37" name="Text 35"/>
          <p:cNvSpPr/>
          <p:nvPr/>
        </p:nvSpPr>
        <p:spPr>
          <a:xfrm>
            <a:off x="6205463" y="2278187"/>
            <a:ext cx="2402756" cy="157319"/>
          </a:xfrm>
          <a:prstGeom prst="rect">
            <a:avLst/>
          </a:prstGeom>
          <a:noFill/>
          <a:ln/>
        </p:spPr>
        <p:txBody>
          <a:bodyPr wrap="none" lIns="0" tIns="0" rIns="0" bIns="0" rtlCol="0" anchor="t"/>
          <a:lstStyle/>
          <a:p>
            <a:pPr marL="0" indent="0" algn="l">
              <a:lnSpc>
                <a:spcPts val="1148"/>
              </a:lnSpc>
              <a:buNone/>
            </a:pPr>
            <a:r>
              <a:rPr lang="en-US" sz="956" b="1" kern="0" spc="-10" dirty="0">
                <a:solidFill>
                  <a:srgbClr val="0F172A"/>
                </a:solidFill>
                <a:latin typeface="Carlito" pitchFamily="34" charset="0"/>
                <a:ea typeface="Carlito" pitchFamily="34" charset="-122"/>
                <a:cs typeface="Carlito" pitchFamily="34" charset="-120"/>
              </a:rPr>
              <a:t>Seasonal &amp; Trend Recs</a:t>
            </a:r>
            <a:endParaRPr lang="en-US" sz="956" dirty="0"/>
          </a:p>
        </p:txBody>
      </p:sp>
      <p:sp>
        <p:nvSpPr>
          <p:cNvPr id="38" name="Text 36"/>
          <p:cNvSpPr/>
          <p:nvPr/>
        </p:nvSpPr>
        <p:spPr>
          <a:xfrm>
            <a:off x="6205463" y="2481002"/>
            <a:ext cx="2402756" cy="72623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Injects seasonal context (festivals, weather, time of day) and trending items across the platform. A winter morning surfaces hearty stuffed-crust options; a Friday evening pushes party-sized combos.</a:t>
            </a:r>
            <a:endParaRPr lang="en-US" sz="800" dirty="0"/>
          </a:p>
        </p:txBody>
      </p:sp>
      <p:sp>
        <p:nvSpPr>
          <p:cNvPr id="39" name="Text 37"/>
          <p:cNvSpPr/>
          <p:nvPr/>
        </p:nvSpPr>
        <p:spPr>
          <a:xfrm>
            <a:off x="6182603" y="3224166"/>
            <a:ext cx="1447346"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40" name="Text 38"/>
          <p:cNvSpPr/>
          <p:nvPr/>
        </p:nvSpPr>
        <p:spPr>
          <a:xfrm>
            <a:off x="6205463" y="3234668"/>
            <a:ext cx="1401626"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SOURCE: CONTEXT ENGINE</a:t>
            </a:r>
            <a:endParaRPr lang="en-US" sz="800" dirty="0"/>
          </a:p>
        </p:txBody>
      </p:sp>
      <p:sp>
        <p:nvSpPr>
          <p:cNvPr id="41" name="Text 39"/>
          <p:cNvSpPr/>
          <p:nvPr/>
        </p:nvSpPr>
        <p:spPr>
          <a:xfrm>
            <a:off x="403622" y="3634718"/>
            <a:ext cx="8336756" cy="630101"/>
          </a:xfrm>
          <a:prstGeom prst="roundRect">
            <a:avLst>
              <a:gd name="adj" fmla="val 9070"/>
            </a:avLst>
          </a:prstGeom>
          <a:noFill/>
          <a:ln w="7144">
            <a:solidFill>
              <a:srgbClr val="E2E8F0"/>
            </a:solidFill>
            <a:prstDash val="solid"/>
          </a:ln>
          <a:effectLst>
            <a:outerShdw blurRad="57150" dist="19050" dir="5400000" algn="bl" rotWithShape="0">
              <a:srgbClr val="0F172A">
                <a:alpha val="8000"/>
              </a:srgbClr>
            </a:outerShdw>
          </a:effectLst>
        </p:spPr>
        <p:txBody>
          <a:bodyPr wrap="square" rtlCol="0" anchor="ctr"/>
          <a:lstStyle/>
          <a:p>
            <a:pPr marL="0" indent="0">
              <a:buNone/>
            </a:pPr>
            <a:endParaRPr lang="en-US" dirty="0"/>
          </a:p>
        </p:txBody>
      </p:sp>
      <p:sp>
        <p:nvSpPr>
          <p:cNvPr id="43" name="Text 40"/>
          <p:cNvSpPr/>
          <p:nvPr/>
        </p:nvSpPr>
        <p:spPr>
          <a:xfrm>
            <a:off x="484346" y="3712656"/>
            <a:ext cx="1708539" cy="212027"/>
          </a:xfrm>
          <a:prstGeom prst="roundRect">
            <a:avLst>
              <a:gd name="adj" fmla="val 4487860"/>
            </a:avLst>
          </a:prstGeom>
          <a:solidFill>
            <a:srgbClr val="FF6B35"/>
          </a:solidFill>
          <a:ln/>
          <a:effectLst>
            <a:outerShdw blurRad="57150" dist="19050" dir="5400000" algn="bl" rotWithShape="0">
              <a:srgbClr val="0F172A">
                <a:alpha val="18000"/>
              </a:srgbClr>
            </a:outerShdw>
          </a:effectLst>
        </p:spPr>
        <p:txBody>
          <a:bodyPr wrap="square" rtlCol="0" anchor="ctr"/>
          <a:lstStyle/>
          <a:p>
            <a:pPr marL="0" indent="0">
              <a:buNone/>
            </a:pPr>
            <a:endParaRPr lang="en-US" dirty="0"/>
          </a:p>
        </p:txBody>
      </p:sp>
      <p:sp>
        <p:nvSpPr>
          <p:cNvPr id="44" name="Text 41"/>
          <p:cNvSpPr/>
          <p:nvPr/>
        </p:nvSpPr>
        <p:spPr>
          <a:xfrm>
            <a:off x="507206" y="3724015"/>
            <a:ext cx="1662819" cy="189309"/>
          </a:xfrm>
          <a:prstGeom prst="rect">
            <a:avLst/>
          </a:prstGeom>
          <a:noFill/>
          <a:ln/>
        </p:spPr>
        <p:txBody>
          <a:bodyPr wrap="none" lIns="0" tIns="0" rIns="0" bIns="0" rtlCol="0" anchor="ctr"/>
          <a:lstStyle/>
          <a:p>
            <a:pPr marL="0" indent="0" algn="ctr">
              <a:lnSpc>
                <a:spcPts val="928"/>
              </a:lnSpc>
              <a:buNone/>
            </a:pPr>
            <a:r>
              <a:rPr lang="en-US" sz="800" b="1" kern="0" spc="50" dirty="0">
                <a:solidFill>
                  <a:srgbClr val="FFFFFF"/>
                </a:solidFill>
                <a:latin typeface="Carlito" pitchFamily="34" charset="0"/>
                <a:ea typeface="Carlito" pitchFamily="34" charset="-122"/>
                <a:cs typeface="Carlito" pitchFamily="34" charset="-120"/>
              </a:rPr>
              <a:t>AZURE OPENAI PROMPT FLOW</a:t>
            </a:r>
            <a:endParaRPr lang="en-US" sz="800" dirty="0"/>
          </a:p>
        </p:txBody>
      </p:sp>
      <p:sp>
        <p:nvSpPr>
          <p:cNvPr id="45" name="Text 42"/>
          <p:cNvSpPr/>
          <p:nvPr/>
        </p:nvSpPr>
        <p:spPr>
          <a:xfrm>
            <a:off x="400050" y="4354116"/>
            <a:ext cx="8343900" cy="389334"/>
          </a:xfrm>
          <a:prstGeom prst="roundRect">
            <a:avLst>
              <a:gd name="adj" fmla="val 19572"/>
            </a:avLst>
          </a:prstGeom>
          <a:solidFill>
            <a:srgbClr val="FFFFFF"/>
          </a:solidFill>
          <a:ln/>
        </p:spPr>
        <p:txBody>
          <a:bodyPr wrap="square" rtlCol="0" anchor="ctr"/>
          <a:lstStyle/>
          <a:p>
            <a:pPr marL="0" indent="0">
              <a:buNone/>
            </a:pPr>
            <a:endParaRPr lang="en-US" dirty="0"/>
          </a:p>
        </p:txBody>
      </p:sp>
      <p:sp>
        <p:nvSpPr>
          <p:cNvPr id="46" name="Shape 43"/>
          <p:cNvSpPr/>
          <p:nvPr/>
        </p:nvSpPr>
        <p:spPr>
          <a:xfrm>
            <a:off x="400050" y="4357688"/>
            <a:ext cx="8343900" cy="0"/>
          </a:xfrm>
          <a:prstGeom prst="line">
            <a:avLst/>
          </a:prstGeom>
          <a:noFill/>
          <a:ln w="7144">
            <a:solidFill>
              <a:srgbClr val="E2E8F0"/>
            </a:solidFill>
            <a:prstDash val="solid"/>
          </a:ln>
        </p:spPr>
      </p:sp>
      <p:sp>
        <p:nvSpPr>
          <p:cNvPr id="47" name="Shape 44"/>
          <p:cNvSpPr/>
          <p:nvPr/>
        </p:nvSpPr>
        <p:spPr>
          <a:xfrm>
            <a:off x="8740378" y="4354116"/>
            <a:ext cx="0" cy="389334"/>
          </a:xfrm>
          <a:prstGeom prst="line">
            <a:avLst/>
          </a:prstGeom>
          <a:noFill/>
          <a:ln w="7144">
            <a:solidFill>
              <a:srgbClr val="E2E8F0"/>
            </a:solidFill>
            <a:prstDash val="solid"/>
          </a:ln>
        </p:spPr>
      </p:sp>
      <p:sp>
        <p:nvSpPr>
          <p:cNvPr id="48" name="Shape 45"/>
          <p:cNvSpPr/>
          <p:nvPr/>
        </p:nvSpPr>
        <p:spPr>
          <a:xfrm>
            <a:off x="400050" y="4739878"/>
            <a:ext cx="8343900" cy="0"/>
          </a:xfrm>
          <a:prstGeom prst="line">
            <a:avLst/>
          </a:prstGeom>
          <a:noFill/>
          <a:ln w="7144">
            <a:solidFill>
              <a:srgbClr val="E2E8F0"/>
            </a:solidFill>
            <a:prstDash val="solid"/>
          </a:ln>
        </p:spPr>
      </p:sp>
      <p:sp>
        <p:nvSpPr>
          <p:cNvPr id="49" name="Shape 46"/>
          <p:cNvSpPr/>
          <p:nvPr/>
        </p:nvSpPr>
        <p:spPr>
          <a:xfrm>
            <a:off x="414338" y="4354116"/>
            <a:ext cx="0" cy="389334"/>
          </a:xfrm>
          <a:prstGeom prst="line">
            <a:avLst/>
          </a:prstGeom>
          <a:noFill/>
          <a:ln w="28575">
            <a:solidFill>
              <a:srgbClr val="FF6B35"/>
            </a:solidFill>
            <a:prstDash val="solid"/>
          </a:ln>
        </p:spPr>
      </p:sp>
      <p:sp>
        <p:nvSpPr>
          <p:cNvPr id="50" name="Text 47"/>
          <p:cNvSpPr/>
          <p:nvPr/>
        </p:nvSpPr>
        <p:spPr>
          <a:xfrm>
            <a:off x="548903" y="4450771"/>
            <a:ext cx="610108"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51" name="Text 48"/>
          <p:cNvSpPr/>
          <p:nvPr/>
        </p:nvSpPr>
        <p:spPr>
          <a:xfrm>
            <a:off x="571500" y="4461272"/>
            <a:ext cx="564914"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PIPELINE</a:t>
            </a:r>
            <a:endParaRPr lang="en-US" sz="800" dirty="0"/>
          </a:p>
        </p:txBody>
      </p:sp>
      <p:sp>
        <p:nvSpPr>
          <p:cNvPr id="52" name="Text 49"/>
          <p:cNvSpPr/>
          <p:nvPr/>
        </p:nvSpPr>
        <p:spPr>
          <a:xfrm>
            <a:off x="1250714" y="4480247"/>
            <a:ext cx="7343217" cy="155956"/>
          </a:xfrm>
          <a:prstGeom prst="rect">
            <a:avLst/>
          </a:prstGeom>
          <a:noFill/>
          <a:ln/>
        </p:spPr>
        <p:txBody>
          <a:bodyPr wrap="square" lIns="0" tIns="0" rIns="0" bIns="0" rtlCol="0" anchor="t"/>
          <a:lstStyle/>
          <a:p>
            <a:pPr marL="0" indent="0" algn="l">
              <a:lnSpc>
                <a:spcPts val="1063"/>
              </a:lnSpc>
              <a:buNone/>
            </a:pPr>
            <a:r>
              <a:rPr lang="en-US" sz="800" dirty="0">
                <a:solidFill>
                  <a:srgbClr val="0F172A"/>
                </a:solidFill>
                <a:latin typeface="Courier New" pitchFamily="34" charset="0"/>
                <a:ea typeface="Courier New" pitchFamily="34" charset="-122"/>
                <a:cs typeface="Courier New" pitchFamily="34" charset="-120"/>
              </a:rPr>
              <a:t>Signals</a:t>
            </a:r>
            <a:r>
              <a:rPr lang="en-US" sz="800" b="1" dirty="0">
                <a:solidFill>
                  <a:srgbClr val="FF6B35"/>
                </a:solidFill>
                <a:latin typeface="Carlito" pitchFamily="34" charset="0"/>
                <a:ea typeface="Carlito" pitchFamily="34" charset="-122"/>
                <a:cs typeface="Carlito" pitchFamily="34" charset="-120"/>
              </a:rPr>
              <a:t>→</a:t>
            </a:r>
            <a:r>
              <a:rPr lang="en-US" sz="800" dirty="0">
                <a:solidFill>
                  <a:srgbClr val="0F172A"/>
                </a:solidFill>
                <a:latin typeface="Liberation Sans Narrow" pitchFamily="34" charset="0"/>
                <a:ea typeface="Liberation Sans Narrow" pitchFamily="34" charset="-122"/>
                <a:cs typeface="Liberation Sans Narrow" pitchFamily="34" charset="-120"/>
              </a:rPr>
              <a:t>Azure OpenAI (GPT-4) prompt</a:t>
            </a:r>
            <a:r>
              <a:rPr lang="en-US" sz="800" b="1" dirty="0">
                <a:solidFill>
                  <a:srgbClr val="FF6B35"/>
                </a:solidFill>
                <a:latin typeface="Carlito" pitchFamily="34" charset="0"/>
                <a:ea typeface="Carlito" pitchFamily="34" charset="-122"/>
                <a:cs typeface="Carlito" pitchFamily="34" charset="-120"/>
              </a:rPr>
              <a:t>→</a:t>
            </a:r>
            <a:r>
              <a:rPr lang="en-US" sz="800" dirty="0">
                <a:solidFill>
                  <a:srgbClr val="0F172A"/>
                </a:solidFill>
                <a:latin typeface="Courier New" pitchFamily="34" charset="0"/>
                <a:ea typeface="Courier New" pitchFamily="34" charset="-122"/>
                <a:cs typeface="Courier New" pitchFamily="34" charset="-120"/>
              </a:rPr>
              <a:t>JSON ranking</a:t>
            </a:r>
            <a:r>
              <a:rPr lang="en-US" sz="800" b="1" dirty="0">
                <a:solidFill>
                  <a:srgbClr val="FF6B35"/>
                </a:solidFill>
                <a:latin typeface="Carlito" pitchFamily="34" charset="0"/>
                <a:ea typeface="Carlito" pitchFamily="34" charset="-122"/>
                <a:cs typeface="Carlito" pitchFamily="34" charset="-120"/>
              </a:rPr>
              <a:t>→</a:t>
            </a:r>
            <a:r>
              <a:rPr lang="en-US" sz="800" dirty="0">
                <a:solidFill>
                  <a:srgbClr val="0F172A"/>
                </a:solidFill>
                <a:latin typeface="Liberation Sans Narrow" pitchFamily="34" charset="0"/>
                <a:ea typeface="Liberation Sans Narrow" pitchFamily="34" charset="-122"/>
                <a:cs typeface="Liberation Sans Narrow" pitchFamily="34" charset="-120"/>
              </a:rPr>
              <a:t>cached 5 min</a:t>
            </a:r>
            <a:r>
              <a:rPr lang="en-US" sz="800" b="1" dirty="0">
                <a:solidFill>
                  <a:srgbClr val="FF6B35"/>
                </a:solidFill>
                <a:latin typeface="Carlito" pitchFamily="34" charset="0"/>
                <a:ea typeface="Carlito" pitchFamily="34" charset="-122"/>
                <a:cs typeface="Carlito" pitchFamily="34" charset="-120"/>
              </a:rPr>
              <a:t>→</a:t>
            </a:r>
            <a:r>
              <a:rPr lang="en-US" sz="800" dirty="0">
                <a:solidFill>
                  <a:srgbClr val="0F172A"/>
                </a:solidFill>
                <a:latin typeface="Courier New" pitchFamily="34" charset="0"/>
                <a:ea typeface="Courier New" pitchFamily="34" charset="-122"/>
                <a:cs typeface="Courier New" pitchFamily="34" charset="-120"/>
              </a:rPr>
              <a:t>served to React cart drawer &amp; menu sidebar</a:t>
            </a:r>
            <a:endParaRPr lang="en-US" sz="800" dirty="0"/>
          </a:p>
        </p:txBody>
      </p:sp>
      <p:sp>
        <p:nvSpPr>
          <p:cNvPr id="53" name="Text 50"/>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54" name="Shape 51"/>
          <p:cNvSpPr/>
          <p:nvPr/>
        </p:nvSpPr>
        <p:spPr>
          <a:xfrm>
            <a:off x="0" y="4947047"/>
            <a:ext cx="9144000" cy="0"/>
          </a:xfrm>
          <a:prstGeom prst="line">
            <a:avLst/>
          </a:prstGeom>
          <a:noFill/>
          <a:ln w="7144">
            <a:solidFill>
              <a:srgbClr val="E2E8F0"/>
            </a:solidFill>
            <a:prstDash val="solid"/>
          </a:ln>
        </p:spPr>
      </p:sp>
      <p:sp>
        <p:nvSpPr>
          <p:cNvPr id="55" name="Text 52"/>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56" name="Text 53"/>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5560675"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04</a:t>
            </a:r>
            <a:endParaRPr lang="en-US" sz="800" dirty="0"/>
          </a:p>
        </p:txBody>
      </p:sp>
      <p:sp>
        <p:nvSpPr>
          <p:cNvPr id="5" name="Text 3"/>
          <p:cNvSpPr/>
          <p:nvPr/>
        </p:nvSpPr>
        <p:spPr>
          <a:xfrm>
            <a:off x="400050" y="303609"/>
            <a:ext cx="4231574" cy="246459"/>
          </a:xfrm>
          <a:prstGeom prst="rect">
            <a:avLst/>
          </a:prstGeom>
          <a:noFill/>
          <a:ln/>
        </p:spPr>
        <p:txBody>
          <a:bodyPr wrap="squar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Delivery Tracking &amp; Optimization</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09 / 15</a:t>
            </a:r>
            <a:endParaRPr lang="en-US" sz="800" dirty="0"/>
          </a:p>
        </p:txBody>
      </p:sp>
      <p:sp>
        <p:nvSpPr>
          <p:cNvPr id="8" name="Text 6"/>
          <p:cNvSpPr/>
          <p:nvPr/>
        </p:nvSpPr>
        <p:spPr>
          <a:xfrm>
            <a:off x="400050" y="992981"/>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114425"/>
            <a:ext cx="409077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Live map. Live route. Live ETA.</a:t>
            </a:r>
            <a:endParaRPr lang="en-US" sz="1238" dirty="0"/>
          </a:p>
        </p:txBody>
      </p:sp>
      <p:sp>
        <p:nvSpPr>
          <p:cNvPr id="10" name="Text 8"/>
          <p:cNvSpPr/>
          <p:nvPr/>
        </p:nvSpPr>
        <p:spPr>
          <a:xfrm>
            <a:off x="400050" y="1450181"/>
            <a:ext cx="3787750" cy="678013"/>
          </a:xfrm>
          <a:prstGeom prst="rect">
            <a:avLst/>
          </a:prstGeom>
          <a:noFill/>
          <a:ln/>
        </p:spPr>
        <p:txBody>
          <a:bodyPr wrap="square" lIns="0" tIns="0" rIns="0" bIns="0" rtlCol="0" anchor="t">
            <a:normAutofit/>
          </a:bodyPr>
          <a:lstStyle/>
          <a:p>
            <a:pPr marL="0" indent="0" algn="l">
              <a:lnSpc>
                <a:spcPts val="1221"/>
              </a:lnSpc>
              <a:buNone/>
            </a:pPr>
            <a:r>
              <a:rPr lang="en-US" sz="800" dirty="0">
                <a:solidFill>
                  <a:srgbClr val="334155"/>
                </a:solidFill>
                <a:latin typeface="Carlito" pitchFamily="34" charset="0"/>
                <a:ea typeface="Carlito" pitchFamily="34" charset="-122"/>
                <a:cs typeface="Carlito" pitchFamily="34" charset="-120"/>
              </a:rPr>
              <a:t>Once an order is dispatched, the customer watches the rider move on a Leaflet map in near real time. OSRM draws the actual road polyline between rider and customer, and Azure Maps recomputes the ETA on every poll.</a:t>
            </a:r>
            <a:endParaRPr lang="en-US" sz="800" dirty="0"/>
          </a:p>
        </p:txBody>
      </p:sp>
      <p:sp>
        <p:nvSpPr>
          <p:cNvPr id="11" name="Text 9"/>
          <p:cNvSpPr/>
          <p:nvPr/>
        </p:nvSpPr>
        <p:spPr>
          <a:xfrm>
            <a:off x="400050" y="2155627"/>
            <a:ext cx="3787750" cy="1201007"/>
          </a:xfrm>
          <a:prstGeom prst="rect">
            <a:avLst/>
          </a:prstGeom>
          <a:noFill/>
          <a:ln/>
        </p:spPr>
        <p:txBody>
          <a:bodyPr wrap="square" lIns="0" tIns="0" rIns="0" bIns="0" rtlCol="0" anchor="t"/>
          <a:lstStyle/>
          <a:p>
            <a:pPr marL="0" indent="0" algn="l">
              <a:lnSpc>
                <a:spcPts val="1097"/>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b="1" dirty="0">
                <a:solidFill>
                  <a:srgbClr val="0F172A"/>
                </a:solidFill>
                <a:latin typeface="Carlito" pitchFamily="34" charset="0"/>
                <a:ea typeface="Carlito" pitchFamily="34" charset="-122"/>
                <a:cs typeface="Carlito" pitchFamily="34" charset="-120"/>
              </a:rPr>
              <a:t>Leaflet map</a:t>
            </a:r>
            <a:r>
              <a:rPr lang="en-US" sz="800" dirty="0">
                <a:solidFill>
                  <a:srgbClr val="334155"/>
                </a:solidFill>
                <a:latin typeface="Carlito" pitchFamily="34" charset="0"/>
                <a:ea typeface="Carlito" pitchFamily="34" charset="-122"/>
                <a:cs typeface="Carlito" pitchFamily="34" charset="-120"/>
              </a:rPr>
              <a:t> with OpenStreetMap tiles renders the live area</a:t>
            </a:r>
            <a:endParaRPr lang="en-US" sz="800" dirty="0"/>
          </a:p>
          <a:p>
            <a:pPr marL="0" indent="0" algn="l">
              <a:lnSpc>
                <a:spcPts val="1097"/>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b="1" dirty="0">
                <a:solidFill>
                  <a:srgbClr val="0F172A"/>
                </a:solidFill>
                <a:latin typeface="Carlito" pitchFamily="34" charset="0"/>
                <a:ea typeface="Carlito" pitchFamily="34" charset="-122"/>
                <a:cs typeface="Carlito" pitchFamily="34" charset="-120"/>
              </a:rPr>
              <a:t>Rider icon</a:t>
            </a:r>
            <a:r>
              <a:rPr lang="en-US" sz="800" dirty="0">
                <a:solidFill>
                  <a:srgbClr val="334155"/>
                </a:solidFill>
                <a:latin typeface="Carlito" pitchFamily="34" charset="0"/>
                <a:ea typeface="Carlito" pitchFamily="34" charset="-122"/>
                <a:cs typeface="Carlito" pitchFamily="34" charset="-120"/>
              </a:rPr>
              <a:t> (delivery_dining) and </a:t>
            </a:r>
            <a:r>
              <a:rPr lang="en-US" sz="800" b="1" dirty="0">
                <a:solidFill>
                  <a:srgbClr val="0F172A"/>
                </a:solidFill>
                <a:latin typeface="Carlito" pitchFamily="34" charset="0"/>
                <a:ea typeface="Carlito" pitchFamily="34" charset="-122"/>
                <a:cs typeface="Carlito" pitchFamily="34" charset="-120"/>
              </a:rPr>
              <a:t>customer icon</a:t>
            </a:r>
            <a:r>
              <a:rPr lang="en-US" sz="800" dirty="0">
                <a:solidFill>
                  <a:srgbClr val="334155"/>
                </a:solidFill>
                <a:latin typeface="Carlito" pitchFamily="34" charset="0"/>
                <a:ea typeface="Carlito" pitchFamily="34" charset="-122"/>
                <a:cs typeface="Carlito" pitchFamily="34" charset="-120"/>
              </a:rPr>
              <a:t> (home) are placed at their geocoded coordinates</a:t>
            </a:r>
            <a:endParaRPr lang="en-US" sz="800" dirty="0"/>
          </a:p>
          <a:p>
            <a:pPr marL="0" indent="0" algn="l">
              <a:lnSpc>
                <a:spcPts val="1097"/>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b="1" dirty="0">
                <a:solidFill>
                  <a:srgbClr val="0F172A"/>
                </a:solidFill>
                <a:latin typeface="Carlito" pitchFamily="34" charset="0"/>
                <a:ea typeface="Carlito" pitchFamily="34" charset="-122"/>
                <a:cs typeface="Carlito" pitchFamily="34" charset="-120"/>
              </a:rPr>
              <a:t>OSRM route polyline</a:t>
            </a:r>
            <a:r>
              <a:rPr lang="en-US" sz="800" dirty="0">
                <a:solidFill>
                  <a:srgbClr val="334155"/>
                </a:solidFill>
                <a:latin typeface="Carlito" pitchFamily="34" charset="0"/>
                <a:ea typeface="Carlito" pitchFamily="34" charset="-122"/>
                <a:cs typeface="Carlito" pitchFamily="34" charset="-120"/>
              </a:rPr>
              <a:t> draws the actual road path, not a straight line</a:t>
            </a:r>
            <a:endParaRPr lang="en-US" sz="800" dirty="0"/>
          </a:p>
          <a:p>
            <a:pPr marL="0" indent="0" algn="l">
              <a:lnSpc>
                <a:spcPts val="1097"/>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b="1" dirty="0">
                <a:solidFill>
                  <a:srgbClr val="0F172A"/>
                </a:solidFill>
                <a:latin typeface="Liberation Sans Narrow" pitchFamily="34" charset="0"/>
                <a:ea typeface="Liberation Sans Narrow" pitchFamily="34" charset="-122"/>
                <a:cs typeface="Liberation Sans Narrow" pitchFamily="34" charset="-120"/>
              </a:rPr>
              <a:t>15-second polling loop</a:t>
            </a:r>
            <a:r>
              <a:rPr lang="en-US" sz="800" dirty="0">
                <a:solidFill>
                  <a:srgbClr val="334155"/>
                </a:solidFill>
                <a:latin typeface="Carlito" pitchFamily="34" charset="0"/>
                <a:ea typeface="Carlito" pitchFamily="34" charset="-122"/>
                <a:cs typeface="Carlito" pitchFamily="34" charset="-120"/>
              </a:rPr>
              <a:t> fetches the rider's latest GPS from the backend</a:t>
            </a:r>
            <a:endParaRPr lang="en-US" sz="800" dirty="0"/>
          </a:p>
          <a:p>
            <a:pPr marL="0" indent="0" algn="l">
              <a:lnSpc>
                <a:spcPts val="1097"/>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b="1" dirty="0">
                <a:solidFill>
                  <a:srgbClr val="0F172A"/>
                </a:solidFill>
                <a:latin typeface="Carlito" pitchFamily="34" charset="0"/>
                <a:ea typeface="Carlito" pitchFamily="34" charset="-122"/>
                <a:cs typeface="Carlito" pitchFamily="34" charset="-120"/>
              </a:rPr>
              <a:t>Azure Maps ETA</a:t>
            </a:r>
            <a:r>
              <a:rPr lang="en-US" sz="800" dirty="0">
                <a:solidFill>
                  <a:srgbClr val="334155"/>
                </a:solidFill>
                <a:latin typeface="Carlito" pitchFamily="34" charset="0"/>
                <a:ea typeface="Carlito" pitchFamily="34" charset="-122"/>
                <a:cs typeface="Carlito" pitchFamily="34" charset="-120"/>
              </a:rPr>
              <a:t> is recalculated and shown next to the rider icon every cycle</a:t>
            </a:r>
            <a:endParaRPr lang="en-US" sz="800" dirty="0"/>
          </a:p>
        </p:txBody>
      </p:sp>
      <p:sp>
        <p:nvSpPr>
          <p:cNvPr id="12" name="Text 10"/>
          <p:cNvSpPr/>
          <p:nvPr/>
        </p:nvSpPr>
        <p:spPr>
          <a:xfrm>
            <a:off x="403622" y="3345061"/>
            <a:ext cx="1851013" cy="525066"/>
          </a:xfrm>
          <a:prstGeom prst="roundRect">
            <a:avLst>
              <a:gd name="adj" fmla="val 21769"/>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3" name="Text 11"/>
          <p:cNvSpPr/>
          <p:nvPr/>
        </p:nvSpPr>
        <p:spPr>
          <a:xfrm>
            <a:off x="507206" y="3434358"/>
            <a:ext cx="1643844" cy="201168"/>
          </a:xfrm>
          <a:prstGeom prst="rect">
            <a:avLst/>
          </a:prstGeom>
          <a:noFill/>
          <a:ln/>
        </p:spPr>
        <p:txBody>
          <a:bodyPr wrap="none" lIns="0" tIns="0" rIns="0" bIns="0" rtlCol="0" anchor="t">
            <a:normAutofit fontScale="85000" lnSpcReduction="10000"/>
          </a:bodyPr>
          <a:lstStyle/>
          <a:p>
            <a:pPr marL="0" indent="0" algn="l">
              <a:lnSpc>
                <a:spcPts val="1575"/>
              </a:lnSpc>
              <a:buNone/>
            </a:pPr>
            <a:r>
              <a:rPr lang="en-US" sz="1575" b="1" kern="0" spc="-32" dirty="0">
                <a:solidFill>
                  <a:srgbClr val="FF6B35"/>
                </a:solidFill>
                <a:latin typeface="Liberation Sans Narrow" pitchFamily="34" charset="0"/>
                <a:ea typeface="Liberation Sans Narrow" pitchFamily="34" charset="-122"/>
                <a:cs typeface="Liberation Sans Narrow" pitchFamily="34" charset="-120"/>
              </a:rPr>
              <a:t>15s</a:t>
            </a:r>
            <a:endParaRPr lang="en-US" sz="1575" dirty="0"/>
          </a:p>
        </p:txBody>
      </p:sp>
      <p:sp>
        <p:nvSpPr>
          <p:cNvPr id="14" name="Text 12"/>
          <p:cNvSpPr/>
          <p:nvPr/>
        </p:nvSpPr>
        <p:spPr>
          <a:xfrm>
            <a:off x="507206" y="3662958"/>
            <a:ext cx="164384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Carlito" pitchFamily="34" charset="0"/>
                <a:ea typeface="Carlito" pitchFamily="34" charset="-122"/>
                <a:cs typeface="Carlito" pitchFamily="34" charset="-120"/>
              </a:rPr>
              <a:t>POLL INTERVAL</a:t>
            </a:r>
            <a:endParaRPr lang="en-US" sz="800" dirty="0"/>
          </a:p>
        </p:txBody>
      </p:sp>
      <p:sp>
        <p:nvSpPr>
          <p:cNvPr id="15" name="Text 13"/>
          <p:cNvSpPr/>
          <p:nvPr/>
        </p:nvSpPr>
        <p:spPr>
          <a:xfrm>
            <a:off x="2333216" y="3345061"/>
            <a:ext cx="1851013" cy="525066"/>
          </a:xfrm>
          <a:prstGeom prst="roundRect">
            <a:avLst>
              <a:gd name="adj" fmla="val 21769"/>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6" name="Text 14"/>
          <p:cNvSpPr/>
          <p:nvPr/>
        </p:nvSpPr>
        <p:spPr>
          <a:xfrm>
            <a:off x="2436800" y="3434358"/>
            <a:ext cx="1643844" cy="201168"/>
          </a:xfrm>
          <a:prstGeom prst="rect">
            <a:avLst/>
          </a:prstGeom>
          <a:noFill/>
          <a:ln/>
        </p:spPr>
        <p:txBody>
          <a:bodyPr wrap="none" lIns="0" tIns="0" rIns="0" bIns="0" rtlCol="0" anchor="t">
            <a:normAutofit fontScale="85000" lnSpcReduction="10000"/>
          </a:bodyPr>
          <a:lstStyle/>
          <a:p>
            <a:pPr marL="0" indent="0" algn="l">
              <a:lnSpc>
                <a:spcPts val="1575"/>
              </a:lnSpc>
              <a:buNone/>
            </a:pPr>
            <a:r>
              <a:rPr lang="en-US" sz="1575" b="1" kern="0" spc="-32" dirty="0">
                <a:solidFill>
                  <a:srgbClr val="FF6B35"/>
                </a:solidFill>
                <a:latin typeface="Liberation Sans Narrow" pitchFamily="34" charset="0"/>
                <a:ea typeface="Liberation Sans Narrow" pitchFamily="34" charset="-122"/>
                <a:cs typeface="Liberation Sans Narrow" pitchFamily="34" charset="-120"/>
              </a:rPr>
              <a:t>&lt;3s</a:t>
            </a:r>
            <a:endParaRPr lang="en-US" sz="1575" dirty="0"/>
          </a:p>
        </p:txBody>
      </p:sp>
      <p:sp>
        <p:nvSpPr>
          <p:cNvPr id="17" name="Text 15"/>
          <p:cNvSpPr/>
          <p:nvPr/>
        </p:nvSpPr>
        <p:spPr>
          <a:xfrm>
            <a:off x="2436800" y="3662958"/>
            <a:ext cx="164384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Carlito" pitchFamily="34" charset="0"/>
                <a:ea typeface="Carlito" pitchFamily="34" charset="-122"/>
                <a:cs typeface="Carlito" pitchFamily="34" charset="-120"/>
              </a:rPr>
              <a:t>OSRM RESPONSE</a:t>
            </a:r>
            <a:endParaRPr lang="en-US" sz="800" dirty="0"/>
          </a:p>
        </p:txBody>
      </p:sp>
      <p:sp>
        <p:nvSpPr>
          <p:cNvPr id="18" name="Text 16"/>
          <p:cNvSpPr/>
          <p:nvPr/>
        </p:nvSpPr>
        <p:spPr>
          <a:xfrm>
            <a:off x="403622" y="3948708"/>
            <a:ext cx="1851013" cy="525066"/>
          </a:xfrm>
          <a:prstGeom prst="roundRect">
            <a:avLst>
              <a:gd name="adj" fmla="val 21769"/>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9" name="Text 17"/>
          <p:cNvSpPr/>
          <p:nvPr/>
        </p:nvSpPr>
        <p:spPr>
          <a:xfrm>
            <a:off x="507206" y="4038005"/>
            <a:ext cx="1643844" cy="201168"/>
          </a:xfrm>
          <a:prstGeom prst="rect">
            <a:avLst/>
          </a:prstGeom>
          <a:noFill/>
          <a:ln/>
        </p:spPr>
        <p:txBody>
          <a:bodyPr wrap="none" lIns="0" tIns="0" rIns="0" bIns="0" rtlCol="0" anchor="t">
            <a:normAutofit fontScale="85000" lnSpcReduction="10000"/>
          </a:bodyPr>
          <a:lstStyle/>
          <a:p>
            <a:pPr marL="0" indent="0" algn="l">
              <a:lnSpc>
                <a:spcPts val="1575"/>
              </a:lnSpc>
              <a:buNone/>
            </a:pPr>
            <a:r>
              <a:rPr lang="en-US" sz="1575" b="1" kern="0" spc="-32" dirty="0">
                <a:solidFill>
                  <a:srgbClr val="FF6B35"/>
                </a:solidFill>
                <a:latin typeface="Liberation Sans Narrow" pitchFamily="34" charset="0"/>
                <a:ea typeface="Liberation Sans Narrow" pitchFamily="34" charset="-122"/>
                <a:cs typeface="Liberation Sans Narrow" pitchFamily="34" charset="-120"/>
              </a:rPr>
              <a:t>2</a:t>
            </a:r>
            <a:endParaRPr lang="en-US" sz="1575" dirty="0"/>
          </a:p>
        </p:txBody>
      </p:sp>
      <p:sp>
        <p:nvSpPr>
          <p:cNvPr id="20" name="Text 18"/>
          <p:cNvSpPr/>
          <p:nvPr/>
        </p:nvSpPr>
        <p:spPr>
          <a:xfrm>
            <a:off x="507206" y="4266605"/>
            <a:ext cx="164384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Carlito" pitchFamily="34" charset="0"/>
                <a:ea typeface="Carlito" pitchFamily="34" charset="-122"/>
                <a:cs typeface="Carlito" pitchFamily="34" charset="-120"/>
              </a:rPr>
              <a:t>LIVE MARKERS</a:t>
            </a:r>
            <a:endParaRPr lang="en-US" sz="800" dirty="0"/>
          </a:p>
        </p:txBody>
      </p:sp>
      <p:sp>
        <p:nvSpPr>
          <p:cNvPr id="21" name="Text 19"/>
          <p:cNvSpPr/>
          <p:nvPr/>
        </p:nvSpPr>
        <p:spPr>
          <a:xfrm>
            <a:off x="2333216" y="3948708"/>
            <a:ext cx="1851013" cy="525066"/>
          </a:xfrm>
          <a:prstGeom prst="roundRect">
            <a:avLst>
              <a:gd name="adj" fmla="val 21769"/>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2" name="Text 20"/>
          <p:cNvSpPr/>
          <p:nvPr/>
        </p:nvSpPr>
        <p:spPr>
          <a:xfrm>
            <a:off x="2436800" y="4038005"/>
            <a:ext cx="1643844" cy="201168"/>
          </a:xfrm>
          <a:prstGeom prst="rect">
            <a:avLst/>
          </a:prstGeom>
          <a:noFill/>
          <a:ln/>
        </p:spPr>
        <p:txBody>
          <a:bodyPr wrap="none" lIns="0" tIns="0" rIns="0" bIns="0" rtlCol="0" anchor="t">
            <a:normAutofit fontScale="85000" lnSpcReduction="10000"/>
          </a:bodyPr>
          <a:lstStyle/>
          <a:p>
            <a:pPr marL="0" indent="0" algn="l">
              <a:lnSpc>
                <a:spcPts val="1575"/>
              </a:lnSpc>
              <a:buNone/>
            </a:pPr>
            <a:r>
              <a:rPr lang="en-US" sz="1575" b="1" kern="0" spc="-32" dirty="0">
                <a:solidFill>
                  <a:srgbClr val="FF6B35"/>
                </a:solidFill>
                <a:latin typeface="Liberation Sans Narrow" pitchFamily="34" charset="0"/>
                <a:ea typeface="Liberation Sans Narrow" pitchFamily="34" charset="-122"/>
                <a:cs typeface="Liberation Sans Narrow" pitchFamily="34" charset="-120"/>
              </a:rPr>
              <a:t>1</a:t>
            </a:r>
            <a:endParaRPr lang="en-US" sz="1575" dirty="0"/>
          </a:p>
        </p:txBody>
      </p:sp>
      <p:sp>
        <p:nvSpPr>
          <p:cNvPr id="23" name="Text 21"/>
          <p:cNvSpPr/>
          <p:nvPr/>
        </p:nvSpPr>
        <p:spPr>
          <a:xfrm>
            <a:off x="2436800" y="4266605"/>
            <a:ext cx="164384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64748B"/>
                </a:solidFill>
                <a:latin typeface="Carlito" pitchFamily="34" charset="0"/>
                <a:ea typeface="Carlito" pitchFamily="34" charset="-122"/>
                <a:cs typeface="Carlito" pitchFamily="34" charset="-120"/>
              </a:rPr>
              <a:t>ROUTE POLYLINE</a:t>
            </a:r>
            <a:endParaRPr lang="en-US" sz="800" dirty="0"/>
          </a:p>
        </p:txBody>
      </p:sp>
      <p:sp>
        <p:nvSpPr>
          <p:cNvPr id="24" name="Text 22"/>
          <p:cNvSpPr/>
          <p:nvPr/>
        </p:nvSpPr>
        <p:spPr>
          <a:xfrm>
            <a:off x="4394969" y="1000125"/>
            <a:ext cx="4341726" cy="3736181"/>
          </a:xfrm>
          <a:prstGeom prst="roundRect">
            <a:avLst>
              <a:gd name="adj" fmla="val 2549"/>
            </a:avLst>
          </a:prstGeom>
          <a:solidFill>
            <a:srgbClr val="FFFFFF"/>
          </a:solidFill>
          <a:ln w="14288">
            <a:solidFill>
              <a:srgbClr val="FF6B35"/>
            </a:solidFill>
            <a:prstDash val="dash"/>
          </a:ln>
        </p:spPr>
        <p:txBody>
          <a:bodyPr wrap="square" rtlCol="0" anchor="ctr"/>
          <a:lstStyle/>
          <a:p>
            <a:pPr marL="0" indent="0">
              <a:buNone/>
            </a:pPr>
            <a:endParaRPr lang="en-US" dirty="0"/>
          </a:p>
        </p:txBody>
      </p:sp>
      <p:sp>
        <p:nvSpPr>
          <p:cNvPr id="25" name="Text 23"/>
          <p:cNvSpPr/>
          <p:nvPr/>
        </p:nvSpPr>
        <p:spPr>
          <a:xfrm>
            <a:off x="6337176" y="2213000"/>
            <a:ext cx="457200" cy="457200"/>
          </a:xfrm>
          <a:prstGeom prst="rect">
            <a:avLst/>
          </a:prstGeom>
          <a:noFill/>
          <a:ln/>
        </p:spPr>
        <p:txBody>
          <a:bodyPr wrap="none" lIns="0" tIns="0" rIns="0" bIns="0" rtlCol="0" anchor="ctr"/>
          <a:lstStyle/>
          <a:p>
            <a:pPr marL="0" indent="0" algn="ctr">
              <a:buNone/>
            </a:pPr>
            <a:r>
              <a:rPr lang="en-US" sz="4500" dirty="0">
                <a:solidFill>
                  <a:srgbClr val="FF6B35"/>
                </a:solidFill>
                <a:latin typeface="Segoe UI Symbol" pitchFamily="34" charset="0"/>
                <a:ea typeface="Segoe UI Symbol" pitchFamily="34" charset="-122"/>
                <a:cs typeface="Segoe UI Symbol" pitchFamily="34" charset="-120"/>
              </a:rPr>
              <a:t>▣</a:t>
            </a:r>
            <a:endParaRPr lang="en-US" sz="4500" dirty="0"/>
          </a:p>
        </p:txBody>
      </p:sp>
      <p:sp>
        <p:nvSpPr>
          <p:cNvPr id="26" name="Text 24"/>
          <p:cNvSpPr/>
          <p:nvPr/>
        </p:nvSpPr>
        <p:spPr>
          <a:xfrm>
            <a:off x="5005246" y="2770212"/>
            <a:ext cx="3121060" cy="254603"/>
          </a:xfrm>
          <a:prstGeom prst="rect">
            <a:avLst/>
          </a:prstGeom>
          <a:noFill/>
          <a:ln/>
        </p:spPr>
        <p:txBody>
          <a:bodyPr wrap="square" lIns="0" tIns="0" rIns="0" bIns="0" rtlCol="0" anchor="t"/>
          <a:lstStyle/>
          <a:p>
            <a:pPr marL="0" indent="0" algn="ctr">
              <a:lnSpc>
                <a:spcPts val="1856"/>
              </a:lnSpc>
              <a:buNone/>
            </a:pPr>
            <a:r>
              <a:rPr lang="en-US" sz="1238" b="1" kern="0" spc="74" dirty="0">
                <a:solidFill>
                  <a:srgbClr val="E4541F"/>
                </a:solidFill>
                <a:latin typeface="Carlito" pitchFamily="34" charset="0"/>
                <a:ea typeface="Carlito" pitchFamily="34" charset="-122"/>
                <a:cs typeface="Carlito" pitchFamily="34" charset="-120"/>
              </a:rPr>
              <a:t>[SCREENSHOT PLACEHOLDER]</a:t>
            </a:r>
            <a:endParaRPr lang="en-US" sz="1238" dirty="0"/>
          </a:p>
        </p:txBody>
      </p:sp>
      <p:sp>
        <p:nvSpPr>
          <p:cNvPr id="27" name="Text 25"/>
          <p:cNvSpPr/>
          <p:nvPr/>
        </p:nvSpPr>
        <p:spPr>
          <a:xfrm>
            <a:off x="5208463" y="3091681"/>
            <a:ext cx="2714625" cy="509998"/>
          </a:xfrm>
          <a:prstGeom prst="rect">
            <a:avLst/>
          </a:prstGeom>
          <a:noFill/>
          <a:ln/>
        </p:spPr>
        <p:txBody>
          <a:bodyPr wrap="square" lIns="0" tIns="0" rIns="0" bIns="0" rtlCol="0" anchor="t"/>
          <a:lstStyle/>
          <a:p>
            <a:pPr marL="0" indent="0" algn="ctr">
              <a:lnSpc>
                <a:spcPts val="1133"/>
              </a:lnSpc>
              <a:buNone/>
            </a:pPr>
            <a:r>
              <a:rPr lang="en-US" sz="800" dirty="0">
                <a:solidFill>
                  <a:srgbClr val="E4541F">
                    <a:alpha val="85000"/>
                  </a:srgbClr>
                </a:solidFill>
                <a:latin typeface="Carlito" pitchFamily="34" charset="0"/>
                <a:ea typeface="Carlito" pitchFamily="34" charset="-122"/>
                <a:cs typeface="Carlito" pitchFamily="34" charset="-120"/>
              </a:rPr>
              <a:t>Paste your live delivery tracking screenshot here — Leaflet map with rider icon, customer icon, and OSRM route polyline.</a:t>
            </a:r>
            <a:endParaRPr lang="en-US" sz="800" dirty="0"/>
          </a:p>
        </p:txBody>
      </p:sp>
      <p:sp>
        <p:nvSpPr>
          <p:cNvPr id="28" name="Text 26"/>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29" name="Shape 27"/>
          <p:cNvSpPr/>
          <p:nvPr/>
        </p:nvSpPr>
        <p:spPr>
          <a:xfrm>
            <a:off x="0" y="4947047"/>
            <a:ext cx="9144000" cy="0"/>
          </a:xfrm>
          <a:prstGeom prst="line">
            <a:avLst/>
          </a:prstGeom>
          <a:noFill/>
          <a:ln w="7144">
            <a:solidFill>
              <a:srgbClr val="E2E8F0"/>
            </a:solidFill>
            <a:prstDash val="solid"/>
          </a:ln>
        </p:spPr>
      </p:sp>
      <p:sp>
        <p:nvSpPr>
          <p:cNvPr id="30" name="Text 28"/>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31" name="Text 29"/>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09 / 15</a:t>
            </a:r>
            <a:endParaRPr lang="en-US" sz="800" dirty="0"/>
          </a:p>
        </p:txBody>
      </p:sp>
      <p:pic>
        <p:nvPicPr>
          <p:cNvPr id="33" name="Picture 32">
            <a:extLst>
              <a:ext uri="{FF2B5EF4-FFF2-40B4-BE49-F238E27FC236}">
                <a16:creationId xmlns:a16="http://schemas.microsoft.com/office/drawing/2014/main" id="{982193FD-8FFC-197D-7E68-F0047D9CAC66}"/>
              </a:ext>
            </a:extLst>
          </p:cNvPr>
          <p:cNvPicPr>
            <a:picLocks noChangeAspect="1"/>
          </p:cNvPicPr>
          <p:nvPr/>
        </p:nvPicPr>
        <p:blipFill>
          <a:blip r:embed="rId3"/>
          <a:stretch>
            <a:fillRect/>
          </a:stretch>
        </p:blipFill>
        <p:spPr>
          <a:xfrm>
            <a:off x="4490820" y="1556300"/>
            <a:ext cx="4145974" cy="24278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3180493"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05</a:t>
            </a:r>
            <a:endParaRPr lang="en-US" sz="800" dirty="0"/>
          </a:p>
        </p:txBody>
      </p:sp>
      <p:sp>
        <p:nvSpPr>
          <p:cNvPr id="5" name="Text 3"/>
          <p:cNvSpPr/>
          <p:nvPr/>
        </p:nvSpPr>
        <p:spPr>
          <a:xfrm>
            <a:off x="400050" y="303609"/>
            <a:ext cx="2353068"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Billing &amp; Payments</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10 / 15</a:t>
            </a:r>
            <a:endParaRPr lang="en-US" sz="800" dirty="0"/>
          </a:p>
        </p:txBody>
      </p:sp>
      <p:sp>
        <p:nvSpPr>
          <p:cNvPr id="8" name="Text 6"/>
          <p:cNvSpPr/>
          <p:nvPr/>
        </p:nvSpPr>
        <p:spPr>
          <a:xfrm>
            <a:off x="400050" y="1092994"/>
            <a:ext cx="83439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Razorpay-powered checkout with transparent tax engine</a:t>
            </a:r>
            <a:endParaRPr lang="en-US" sz="1238" dirty="0"/>
          </a:p>
        </p:txBody>
      </p:sp>
      <p:sp>
        <p:nvSpPr>
          <p:cNvPr id="9" name="Text 7"/>
          <p:cNvSpPr/>
          <p:nvPr/>
        </p:nvSpPr>
        <p:spPr>
          <a:xfrm>
            <a:off x="400050" y="1428750"/>
            <a:ext cx="8343900" cy="346704"/>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The billing pipeline turns a cart into a paid order in four steps. Every line item, discount, and tax is itemized, persisted, and reproduced on the downloadable invoice.</a:t>
            </a:r>
            <a:endParaRPr lang="en-US" sz="816" dirty="0"/>
          </a:p>
        </p:txBody>
      </p:sp>
      <p:sp>
        <p:nvSpPr>
          <p:cNvPr id="10" name="Text 8"/>
          <p:cNvSpPr/>
          <p:nvPr/>
        </p:nvSpPr>
        <p:spPr>
          <a:xfrm>
            <a:off x="403622" y="1839069"/>
            <a:ext cx="2003822" cy="1206401"/>
          </a:xfrm>
          <a:prstGeom prst="roundRect">
            <a:avLst>
              <a:gd name="adj" fmla="val 947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1" name="Text 9"/>
          <p:cNvSpPr/>
          <p:nvPr/>
        </p:nvSpPr>
        <p:spPr>
          <a:xfrm>
            <a:off x="500567" y="1917865"/>
            <a:ext cx="565022"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12" name="Text 10"/>
          <p:cNvSpPr/>
          <p:nvPr/>
        </p:nvSpPr>
        <p:spPr>
          <a:xfrm>
            <a:off x="521494" y="1928366"/>
            <a:ext cx="523168"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Liberation Sans Narrow" pitchFamily="34" charset="0"/>
                <a:ea typeface="Liberation Sans Narrow" pitchFamily="34" charset="-122"/>
                <a:cs typeface="Liberation Sans Narrow" pitchFamily="34" charset="-120"/>
              </a:rPr>
              <a:t>STEP 01</a:t>
            </a:r>
            <a:endParaRPr lang="en-US" sz="800" dirty="0"/>
          </a:p>
        </p:txBody>
      </p:sp>
      <p:sp>
        <p:nvSpPr>
          <p:cNvPr id="13" name="Text 11"/>
          <p:cNvSpPr/>
          <p:nvPr/>
        </p:nvSpPr>
        <p:spPr>
          <a:xfrm>
            <a:off x="521494" y="2153394"/>
            <a:ext cx="185738" cy="185738"/>
          </a:xfrm>
          <a:prstGeom prst="rect">
            <a:avLst/>
          </a:prstGeom>
          <a:noFill/>
          <a:ln/>
        </p:spPr>
        <p:txBody>
          <a:bodyPr wrap="none" lIns="0" tIns="0" rIns="0" bIns="0" rtlCol="0" anchor="ctr"/>
          <a:lstStyle/>
          <a:p>
            <a:pPr marL="0" indent="0" algn="ctr">
              <a:buNone/>
            </a:pPr>
            <a:r>
              <a:rPr lang="en-US" sz="1828" dirty="0">
                <a:solidFill>
                  <a:srgbClr val="FF6B35"/>
                </a:solidFill>
                <a:latin typeface="Segoe UI Symbol" pitchFamily="34" charset="0"/>
                <a:ea typeface="Segoe UI Symbol" pitchFamily="34" charset="-122"/>
                <a:cs typeface="Segoe UI Symbol" pitchFamily="34" charset="-120"/>
              </a:rPr>
              <a:t>▤</a:t>
            </a:r>
            <a:endParaRPr lang="en-US" sz="1828" dirty="0"/>
          </a:p>
        </p:txBody>
      </p:sp>
      <p:sp>
        <p:nvSpPr>
          <p:cNvPr id="14" name="Text 12"/>
          <p:cNvSpPr/>
          <p:nvPr/>
        </p:nvSpPr>
        <p:spPr>
          <a:xfrm>
            <a:off x="521494" y="2389138"/>
            <a:ext cx="1768078" cy="138875"/>
          </a:xfrm>
          <a:prstGeom prst="rect">
            <a:avLst/>
          </a:prstGeom>
          <a:noFill/>
          <a:ln/>
        </p:spPr>
        <p:txBody>
          <a:bodyPr wrap="none" lIns="0" tIns="0" rIns="0" bIns="0" rtlCol="0" anchor="t"/>
          <a:lstStyle/>
          <a:p>
            <a:pPr marL="0" indent="0" algn="l">
              <a:lnSpc>
                <a:spcPts val="1013"/>
              </a:lnSpc>
              <a:buNone/>
            </a:pPr>
            <a:r>
              <a:rPr lang="en-US" sz="844" b="1" kern="0" spc="-8" dirty="0">
                <a:solidFill>
                  <a:srgbClr val="0F172A"/>
                </a:solidFill>
                <a:latin typeface="Carlito" pitchFamily="34" charset="0"/>
                <a:ea typeface="Carlito" pitchFamily="34" charset="-122"/>
                <a:cs typeface="Carlito" pitchFamily="34" charset="-120"/>
              </a:rPr>
              <a:t>Order Summary</a:t>
            </a:r>
            <a:endParaRPr lang="en-US" sz="844" dirty="0"/>
          </a:p>
        </p:txBody>
      </p:sp>
      <p:sp>
        <p:nvSpPr>
          <p:cNvPr id="15" name="Text 13"/>
          <p:cNvSpPr/>
          <p:nvPr/>
        </p:nvSpPr>
        <p:spPr>
          <a:xfrm>
            <a:off x="521494" y="2567732"/>
            <a:ext cx="1768078"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Cart items, quantities, sizes, toppings itemized and totals computed server-side.</a:t>
            </a:r>
            <a:endParaRPr lang="en-US" sz="800" dirty="0"/>
          </a:p>
        </p:txBody>
      </p:sp>
      <p:sp>
        <p:nvSpPr>
          <p:cNvPr id="16" name="Text 14"/>
          <p:cNvSpPr/>
          <p:nvPr/>
        </p:nvSpPr>
        <p:spPr>
          <a:xfrm>
            <a:off x="2514600" y="1839069"/>
            <a:ext cx="2003822" cy="1206401"/>
          </a:xfrm>
          <a:prstGeom prst="roundRect">
            <a:avLst>
              <a:gd name="adj" fmla="val 947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7" name="Text 15"/>
          <p:cNvSpPr/>
          <p:nvPr/>
        </p:nvSpPr>
        <p:spPr>
          <a:xfrm>
            <a:off x="2611545" y="1917865"/>
            <a:ext cx="565022"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18" name="Text 16"/>
          <p:cNvSpPr/>
          <p:nvPr/>
        </p:nvSpPr>
        <p:spPr>
          <a:xfrm>
            <a:off x="2632472" y="1928366"/>
            <a:ext cx="523168"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Liberation Sans Narrow" pitchFamily="34" charset="0"/>
                <a:ea typeface="Liberation Sans Narrow" pitchFamily="34" charset="-122"/>
                <a:cs typeface="Liberation Sans Narrow" pitchFamily="34" charset="-120"/>
              </a:rPr>
              <a:t>STEP 02</a:t>
            </a:r>
            <a:endParaRPr lang="en-US" sz="800" dirty="0"/>
          </a:p>
        </p:txBody>
      </p:sp>
      <p:sp>
        <p:nvSpPr>
          <p:cNvPr id="19" name="Text 17"/>
          <p:cNvSpPr/>
          <p:nvPr/>
        </p:nvSpPr>
        <p:spPr>
          <a:xfrm>
            <a:off x="2632472" y="2153394"/>
            <a:ext cx="185738" cy="185738"/>
          </a:xfrm>
          <a:prstGeom prst="rect">
            <a:avLst/>
          </a:prstGeom>
          <a:noFill/>
          <a:ln/>
        </p:spPr>
        <p:txBody>
          <a:bodyPr wrap="none" lIns="0" tIns="0" rIns="0" bIns="0" rtlCol="0" anchor="ctr"/>
          <a:lstStyle/>
          <a:p>
            <a:pPr marL="0" indent="0" algn="ctr">
              <a:buNone/>
            </a:pPr>
            <a:r>
              <a:rPr lang="en-US" sz="1828" dirty="0">
                <a:solidFill>
                  <a:srgbClr val="FF6B35"/>
                </a:solidFill>
                <a:latin typeface="Segoe UI Symbol" pitchFamily="34" charset="0"/>
                <a:ea typeface="Segoe UI Symbol" pitchFamily="34" charset="-122"/>
                <a:cs typeface="Segoe UI Symbol" pitchFamily="34" charset="-120"/>
              </a:rPr>
              <a:t>⌧</a:t>
            </a:r>
            <a:endParaRPr lang="en-US" sz="1828" dirty="0"/>
          </a:p>
        </p:txBody>
      </p:sp>
      <p:sp>
        <p:nvSpPr>
          <p:cNvPr id="20" name="Text 18"/>
          <p:cNvSpPr/>
          <p:nvPr/>
        </p:nvSpPr>
        <p:spPr>
          <a:xfrm>
            <a:off x="2632472" y="2389138"/>
            <a:ext cx="1768078" cy="138875"/>
          </a:xfrm>
          <a:prstGeom prst="rect">
            <a:avLst/>
          </a:prstGeom>
          <a:noFill/>
          <a:ln/>
        </p:spPr>
        <p:txBody>
          <a:bodyPr wrap="none" lIns="0" tIns="0" rIns="0" bIns="0" rtlCol="0" anchor="t"/>
          <a:lstStyle/>
          <a:p>
            <a:pPr marL="0" indent="0" algn="l">
              <a:lnSpc>
                <a:spcPts val="1013"/>
              </a:lnSpc>
              <a:buNone/>
            </a:pPr>
            <a:r>
              <a:rPr lang="en-US" sz="844" b="1" kern="0" spc="-8" dirty="0">
                <a:solidFill>
                  <a:srgbClr val="0F172A"/>
                </a:solidFill>
                <a:latin typeface="Carlito" pitchFamily="34" charset="0"/>
                <a:ea typeface="Carlito" pitchFamily="34" charset="-122"/>
                <a:cs typeface="Carlito" pitchFamily="34" charset="-120"/>
              </a:rPr>
              <a:t>Coupon &amp; Discounts</a:t>
            </a:r>
            <a:endParaRPr lang="en-US" sz="844" dirty="0"/>
          </a:p>
        </p:txBody>
      </p:sp>
      <p:sp>
        <p:nvSpPr>
          <p:cNvPr id="21" name="Text 19"/>
          <p:cNvSpPr/>
          <p:nvPr/>
        </p:nvSpPr>
        <p:spPr>
          <a:xfrm>
            <a:off x="2632472" y="2567732"/>
            <a:ext cx="1768078"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Engine validates promo type, min-basket, expiry, and stacking rules; recalculates subtotal.</a:t>
            </a:r>
            <a:endParaRPr lang="en-US" sz="800" dirty="0"/>
          </a:p>
        </p:txBody>
      </p:sp>
      <p:sp>
        <p:nvSpPr>
          <p:cNvPr id="22" name="Text 20"/>
          <p:cNvSpPr/>
          <p:nvPr/>
        </p:nvSpPr>
        <p:spPr>
          <a:xfrm>
            <a:off x="4625578" y="1839069"/>
            <a:ext cx="2003822" cy="1206401"/>
          </a:xfrm>
          <a:prstGeom prst="roundRect">
            <a:avLst>
              <a:gd name="adj" fmla="val 947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3" name="Text 21"/>
          <p:cNvSpPr/>
          <p:nvPr/>
        </p:nvSpPr>
        <p:spPr>
          <a:xfrm>
            <a:off x="4722523" y="1917865"/>
            <a:ext cx="565022"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24" name="Text 22"/>
          <p:cNvSpPr/>
          <p:nvPr/>
        </p:nvSpPr>
        <p:spPr>
          <a:xfrm>
            <a:off x="4743450" y="1928366"/>
            <a:ext cx="523168"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Liberation Sans Narrow" pitchFamily="34" charset="0"/>
                <a:ea typeface="Liberation Sans Narrow" pitchFamily="34" charset="-122"/>
                <a:cs typeface="Liberation Sans Narrow" pitchFamily="34" charset="-120"/>
              </a:rPr>
              <a:t>STEP 03</a:t>
            </a:r>
            <a:endParaRPr lang="en-US" sz="800" dirty="0"/>
          </a:p>
        </p:txBody>
      </p:sp>
      <p:sp>
        <p:nvSpPr>
          <p:cNvPr id="25" name="Text 23"/>
          <p:cNvSpPr/>
          <p:nvPr/>
        </p:nvSpPr>
        <p:spPr>
          <a:xfrm>
            <a:off x="4743450" y="2153394"/>
            <a:ext cx="185738" cy="185738"/>
          </a:xfrm>
          <a:prstGeom prst="rect">
            <a:avLst/>
          </a:prstGeom>
          <a:noFill/>
          <a:ln/>
        </p:spPr>
        <p:txBody>
          <a:bodyPr wrap="none" lIns="0" tIns="0" rIns="0" bIns="0" rtlCol="0" anchor="ctr"/>
          <a:lstStyle/>
          <a:p>
            <a:pPr marL="0" indent="0" algn="ctr">
              <a:buNone/>
            </a:pPr>
            <a:r>
              <a:rPr lang="en-US" sz="1828" dirty="0">
                <a:solidFill>
                  <a:srgbClr val="FF6B35"/>
                </a:solidFill>
                <a:latin typeface="Segoe UI Symbol" pitchFamily="34" charset="0"/>
                <a:ea typeface="Segoe UI Symbol" pitchFamily="34" charset="-122"/>
                <a:cs typeface="Segoe UI Symbol" pitchFamily="34" charset="-120"/>
              </a:rPr>
              <a:t>✦</a:t>
            </a:r>
            <a:endParaRPr lang="en-US" sz="1828" dirty="0"/>
          </a:p>
        </p:txBody>
      </p:sp>
      <p:sp>
        <p:nvSpPr>
          <p:cNvPr id="26" name="Text 24"/>
          <p:cNvSpPr/>
          <p:nvPr/>
        </p:nvSpPr>
        <p:spPr>
          <a:xfrm>
            <a:off x="4743450" y="2389138"/>
            <a:ext cx="1768078" cy="138875"/>
          </a:xfrm>
          <a:prstGeom prst="rect">
            <a:avLst/>
          </a:prstGeom>
          <a:noFill/>
          <a:ln/>
        </p:spPr>
        <p:txBody>
          <a:bodyPr wrap="none" lIns="0" tIns="0" rIns="0" bIns="0" rtlCol="0" anchor="t"/>
          <a:lstStyle/>
          <a:p>
            <a:pPr marL="0" indent="0" algn="l">
              <a:lnSpc>
                <a:spcPts val="1013"/>
              </a:lnSpc>
              <a:buNone/>
            </a:pPr>
            <a:r>
              <a:rPr lang="en-US" sz="844" b="1" kern="0" spc="-8" dirty="0">
                <a:solidFill>
                  <a:srgbClr val="0F172A"/>
                </a:solidFill>
                <a:latin typeface="Carlito" pitchFamily="34" charset="0"/>
                <a:ea typeface="Carlito" pitchFamily="34" charset="-122"/>
                <a:cs typeface="Carlito" pitchFamily="34" charset="-120"/>
              </a:rPr>
              <a:t>Tax &amp; GST</a:t>
            </a:r>
            <a:endParaRPr lang="en-US" sz="844" dirty="0"/>
          </a:p>
        </p:txBody>
      </p:sp>
      <p:sp>
        <p:nvSpPr>
          <p:cNvPr id="27" name="Text 25"/>
          <p:cNvSpPr/>
          <p:nvPr/>
        </p:nvSpPr>
        <p:spPr>
          <a:xfrm>
            <a:off x="4743450" y="2567732"/>
            <a:ext cx="1768078"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5% GST applied to food items, 18% to add-ons; cess calculated per state rules.</a:t>
            </a:r>
            <a:endParaRPr lang="en-US" sz="800" dirty="0"/>
          </a:p>
        </p:txBody>
      </p:sp>
      <p:sp>
        <p:nvSpPr>
          <p:cNvPr id="28" name="Text 26"/>
          <p:cNvSpPr/>
          <p:nvPr/>
        </p:nvSpPr>
        <p:spPr>
          <a:xfrm>
            <a:off x="6736556" y="1839069"/>
            <a:ext cx="2003822" cy="1206401"/>
          </a:xfrm>
          <a:prstGeom prst="roundRect">
            <a:avLst>
              <a:gd name="adj" fmla="val 9474"/>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9" name="Text 27"/>
          <p:cNvSpPr/>
          <p:nvPr/>
        </p:nvSpPr>
        <p:spPr>
          <a:xfrm>
            <a:off x="6833501" y="1917865"/>
            <a:ext cx="565022"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30" name="Text 28"/>
          <p:cNvSpPr/>
          <p:nvPr/>
        </p:nvSpPr>
        <p:spPr>
          <a:xfrm>
            <a:off x="6854428" y="1928366"/>
            <a:ext cx="523168"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Liberation Sans Narrow" pitchFamily="34" charset="0"/>
                <a:ea typeface="Liberation Sans Narrow" pitchFamily="34" charset="-122"/>
                <a:cs typeface="Liberation Sans Narrow" pitchFamily="34" charset="-120"/>
              </a:rPr>
              <a:t>STEP 04</a:t>
            </a:r>
            <a:endParaRPr lang="en-US" sz="800" dirty="0"/>
          </a:p>
        </p:txBody>
      </p:sp>
      <p:sp>
        <p:nvSpPr>
          <p:cNvPr id="31" name="Text 29"/>
          <p:cNvSpPr/>
          <p:nvPr/>
        </p:nvSpPr>
        <p:spPr>
          <a:xfrm>
            <a:off x="6854428" y="2153394"/>
            <a:ext cx="185738" cy="185738"/>
          </a:xfrm>
          <a:prstGeom prst="rect">
            <a:avLst/>
          </a:prstGeom>
          <a:noFill/>
          <a:ln/>
        </p:spPr>
        <p:txBody>
          <a:bodyPr wrap="none" lIns="0" tIns="0" rIns="0" bIns="0" rtlCol="0" anchor="ctr"/>
          <a:lstStyle/>
          <a:p>
            <a:pPr marL="0" indent="0" algn="ctr">
              <a:buNone/>
            </a:pPr>
            <a:r>
              <a:rPr lang="en-US" sz="1828" dirty="0">
                <a:solidFill>
                  <a:srgbClr val="FF6B35"/>
                </a:solidFill>
                <a:latin typeface="Segoe UI Symbol" pitchFamily="34" charset="0"/>
                <a:ea typeface="Segoe UI Symbol" pitchFamily="34" charset="-122"/>
                <a:cs typeface="Segoe UI Symbol" pitchFamily="34" charset="-120"/>
              </a:rPr>
              <a:t>▭</a:t>
            </a:r>
            <a:endParaRPr lang="en-US" sz="1828" dirty="0"/>
          </a:p>
        </p:txBody>
      </p:sp>
      <p:sp>
        <p:nvSpPr>
          <p:cNvPr id="32" name="Text 30"/>
          <p:cNvSpPr/>
          <p:nvPr/>
        </p:nvSpPr>
        <p:spPr>
          <a:xfrm>
            <a:off x="6854428" y="2389138"/>
            <a:ext cx="1768078" cy="138875"/>
          </a:xfrm>
          <a:prstGeom prst="rect">
            <a:avLst/>
          </a:prstGeom>
          <a:noFill/>
          <a:ln/>
        </p:spPr>
        <p:txBody>
          <a:bodyPr wrap="none" lIns="0" tIns="0" rIns="0" bIns="0" rtlCol="0" anchor="t"/>
          <a:lstStyle/>
          <a:p>
            <a:pPr marL="0" indent="0" algn="l">
              <a:lnSpc>
                <a:spcPts val="1013"/>
              </a:lnSpc>
              <a:buNone/>
            </a:pPr>
            <a:r>
              <a:rPr lang="en-US" sz="844" b="1" kern="0" spc="-8" dirty="0">
                <a:solidFill>
                  <a:srgbClr val="0F172A"/>
                </a:solidFill>
                <a:latin typeface="Carlito" pitchFamily="34" charset="0"/>
                <a:ea typeface="Carlito" pitchFamily="34" charset="-122"/>
                <a:cs typeface="Carlito" pitchFamily="34" charset="-120"/>
              </a:rPr>
              <a:t>Razorpay Payment</a:t>
            </a:r>
            <a:endParaRPr lang="en-US" sz="844" dirty="0"/>
          </a:p>
        </p:txBody>
      </p:sp>
      <p:sp>
        <p:nvSpPr>
          <p:cNvPr id="33" name="Text 31"/>
          <p:cNvSpPr/>
          <p:nvPr/>
        </p:nvSpPr>
        <p:spPr>
          <a:xfrm>
            <a:off x="6854428" y="2567732"/>
            <a:ext cx="1768078"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Razorpay checkout overlay handles card/UPI/wallet; webhook confirms payment success.</a:t>
            </a:r>
            <a:endParaRPr lang="en-US" sz="800" dirty="0"/>
          </a:p>
        </p:txBody>
      </p:sp>
      <p:sp>
        <p:nvSpPr>
          <p:cNvPr id="34" name="Text 32"/>
          <p:cNvSpPr/>
          <p:nvPr/>
        </p:nvSpPr>
        <p:spPr>
          <a:xfrm>
            <a:off x="403622" y="3138339"/>
            <a:ext cx="4785085" cy="1731913"/>
          </a:xfrm>
          <a:prstGeom prst="roundRect">
            <a:avLst>
              <a:gd name="adj" fmla="val 6600"/>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5" name="Text 33"/>
          <p:cNvSpPr/>
          <p:nvPr/>
        </p:nvSpPr>
        <p:spPr>
          <a:xfrm>
            <a:off x="527209" y="3245709"/>
            <a:ext cx="1202673"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36" name="Text 34"/>
          <p:cNvSpPr/>
          <p:nvPr/>
        </p:nvSpPr>
        <p:spPr>
          <a:xfrm>
            <a:off x="550069" y="3256211"/>
            <a:ext cx="1156953"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INVOICE GENERATION</a:t>
            </a:r>
            <a:endParaRPr lang="en-US" sz="800" dirty="0"/>
          </a:p>
        </p:txBody>
      </p:sp>
      <p:sp>
        <p:nvSpPr>
          <p:cNvPr id="37" name="Text 35"/>
          <p:cNvSpPr/>
          <p:nvPr/>
        </p:nvSpPr>
        <p:spPr>
          <a:xfrm>
            <a:off x="550069" y="3502670"/>
            <a:ext cx="4601919" cy="185166"/>
          </a:xfrm>
          <a:prstGeom prst="rect">
            <a:avLst/>
          </a:prstGeom>
          <a:noFill/>
          <a:ln/>
        </p:spPr>
        <p:txBody>
          <a:bodyPr wrap="square" lIns="0" tIns="0" rIns="0" bIns="0" rtlCol="0" anchor="t"/>
          <a:lstStyle/>
          <a:p>
            <a:pPr marL="0" indent="0" algn="l">
              <a:lnSpc>
                <a:spcPts val="1350"/>
              </a:lnSpc>
              <a:buNone/>
            </a:pPr>
            <a:r>
              <a:rPr lang="en-US" sz="900" b="1" kern="0" spc="-9" dirty="0">
                <a:solidFill>
                  <a:srgbClr val="0F172A"/>
                </a:solidFill>
                <a:latin typeface="Carlito" pitchFamily="34" charset="0"/>
                <a:ea typeface="Carlito" pitchFamily="34" charset="-122"/>
                <a:cs typeface="Carlito" pitchFamily="34" charset="-120"/>
              </a:rPr>
              <a:t>Every order produces a downloadable invoice</a:t>
            </a:r>
            <a:endParaRPr lang="en-US" sz="900" dirty="0"/>
          </a:p>
        </p:txBody>
      </p:sp>
      <p:sp>
        <p:nvSpPr>
          <p:cNvPr id="38" name="Text 36"/>
          <p:cNvSpPr/>
          <p:nvPr/>
        </p:nvSpPr>
        <p:spPr>
          <a:xfrm>
            <a:off x="550069" y="3745557"/>
            <a:ext cx="4492191" cy="509998"/>
          </a:xfrm>
          <a:prstGeom prst="rect">
            <a:avLst/>
          </a:prstGeom>
          <a:noFill/>
          <a:ln/>
        </p:spPr>
        <p:txBody>
          <a:bodyPr wrap="square" lIns="0" tIns="0" rIns="0" bIns="0" rtlCol="0" anchor="t"/>
          <a:lstStyle/>
          <a:p>
            <a:pPr marL="0" indent="0" algn="l">
              <a:lnSpc>
                <a:spcPts val="1133"/>
              </a:lnSpc>
              <a:buNone/>
            </a:pPr>
            <a:r>
              <a:rPr lang="en-US" sz="800" dirty="0">
                <a:solidFill>
                  <a:srgbClr val="334155"/>
                </a:solidFill>
                <a:latin typeface="Carlito" pitchFamily="34" charset="0"/>
                <a:ea typeface="Carlito" pitchFamily="34" charset="-122"/>
                <a:cs typeface="Carlito" pitchFamily="34" charset="-120"/>
              </a:rPr>
              <a:t>On payment success, the backend generates a PDF invoice with order ID, timestamp, itemized lines, tax breakdown, payment reference, and Razorpay transaction ID. The invoice is stored against the order and is downloadable from the customer's order history page.</a:t>
            </a:r>
            <a:endParaRPr lang="en-US" sz="800" dirty="0"/>
          </a:p>
        </p:txBody>
      </p:sp>
      <p:sp>
        <p:nvSpPr>
          <p:cNvPr id="39" name="Text 37"/>
          <p:cNvSpPr/>
          <p:nvPr/>
        </p:nvSpPr>
        <p:spPr>
          <a:xfrm>
            <a:off x="5324438" y="3138339"/>
            <a:ext cx="3415829" cy="1731913"/>
          </a:xfrm>
          <a:prstGeom prst="roundRect">
            <a:avLst>
              <a:gd name="adj" fmla="val 6600"/>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40" name="Text 38"/>
          <p:cNvSpPr/>
          <p:nvPr/>
        </p:nvSpPr>
        <p:spPr>
          <a:xfrm>
            <a:off x="5433737" y="3245709"/>
            <a:ext cx="1203566"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41" name="Text 39"/>
          <p:cNvSpPr/>
          <p:nvPr/>
        </p:nvSpPr>
        <p:spPr>
          <a:xfrm>
            <a:off x="5456597" y="3256211"/>
            <a:ext cx="1157846"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Carlito" pitchFamily="34" charset="0"/>
                <a:ea typeface="Carlito" pitchFamily="34" charset="-122"/>
                <a:cs typeface="Carlito" pitchFamily="34" charset="-120"/>
              </a:rPr>
              <a:t>SAMPLE BREAKDOWN</a:t>
            </a:r>
            <a:endParaRPr lang="en-US" sz="800" dirty="0"/>
          </a:p>
        </p:txBody>
      </p:sp>
      <p:graphicFrame>
        <p:nvGraphicFramePr>
          <p:cNvPr id="42" name="Table 0"/>
          <p:cNvGraphicFramePr>
            <a:graphicFrameLocks noGrp="1"/>
          </p:cNvGraphicFramePr>
          <p:nvPr>
            <p:extLst>
              <p:ext uri="{D42A27DB-BD31-4B8C-83A1-F6EECF244321}">
                <p14:modId xmlns:p14="http://schemas.microsoft.com/office/powerpoint/2010/main" val="4141595773"/>
              </p:ext>
            </p:extLst>
          </p:nvPr>
        </p:nvGraphicFramePr>
        <p:xfrm>
          <a:off x="3037653" y="1343141"/>
          <a:ext cx="8280400" cy="16677132"/>
        </p:xfrm>
        <a:graphic>
          <a:graphicData uri="http://schemas.openxmlformats.org/drawingml/2006/table">
            <a:tbl>
              <a:tblPr/>
              <a:tblGrid>
                <a:gridCol w="4140200">
                  <a:extLst>
                    <a:ext uri="{9D8B030D-6E8A-4147-A177-3AD203B41FA5}">
                      <a16:colId xmlns:a16="http://schemas.microsoft.com/office/drawing/2014/main" val="20000"/>
                    </a:ext>
                  </a:extLst>
                </a:gridCol>
                <a:gridCol w="4140200">
                  <a:extLst>
                    <a:ext uri="{9D8B030D-6E8A-4147-A177-3AD203B41FA5}">
                      <a16:colId xmlns:a16="http://schemas.microsoft.com/office/drawing/2014/main" val="20001"/>
                    </a:ext>
                  </a:extLst>
                </a:gridCol>
              </a:tblGrid>
              <a:tr h="0">
                <a:tc>
                  <a:txBody>
                    <a:bodyPr/>
                    <a:lstStyle/>
                    <a:p>
                      <a:pPr marL="0" indent="0" algn="l">
                        <a:buNone/>
                      </a:pPr>
                      <a:endParaRPr lang="en-US" sz="800" dirty="0">
                        <a:latin typeface="Carlito" charset="0"/>
                        <a:ea typeface="Carlito" charset="0"/>
                        <a:cs typeface="Carlito"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00" dirty="0">
                          <a:solidFill>
                            <a:srgbClr val="0F172A"/>
                          </a:solidFill>
                          <a:latin typeface="Courier New" pitchFamily="34" charset="0"/>
                          <a:ea typeface="Courier New" pitchFamily="34" charset="-122"/>
                          <a:cs typeface="Courier New" pitchFamily="34" charset="-120"/>
                        </a:rPr>
                        <a:t>₹249</a:t>
                      </a:r>
                      <a:endParaRPr lang="en-US" sz="800" dirty="0">
                        <a:latin typeface="Courier New" charset="0"/>
                        <a:ea typeface="Courier New" charset="0"/>
                        <a:cs typeface="Courier New"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endParaRPr lang="en-US" sz="800" dirty="0">
                        <a:latin typeface="Carlito" charset="0"/>
                        <a:ea typeface="Carlito" charset="0"/>
                        <a:cs typeface="Carlito"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00" dirty="0">
                          <a:solidFill>
                            <a:srgbClr val="0F172A"/>
                          </a:solidFill>
                          <a:latin typeface="Courier New" pitchFamily="34" charset="0"/>
                          <a:ea typeface="Courier New" pitchFamily="34" charset="-122"/>
                          <a:cs typeface="Courier New" pitchFamily="34" charset="-120"/>
                        </a:rPr>
                        <a:t>₹80</a:t>
                      </a:r>
                      <a:endParaRPr lang="en-US" sz="800" dirty="0">
                        <a:latin typeface="Courier New" charset="0"/>
                        <a:ea typeface="Courier New" charset="0"/>
                        <a:cs typeface="Courier New"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Subtotal</a:t>
                      </a:r>
                      <a:endParaRPr lang="en-US" sz="800" dirty="0">
                        <a:latin typeface="Carlito" charset="0"/>
                        <a:ea typeface="Carlito" charset="0"/>
                        <a:cs typeface="Carlito"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00" dirty="0">
                          <a:solidFill>
                            <a:srgbClr val="0F172A"/>
                          </a:solidFill>
                          <a:latin typeface="Courier New" pitchFamily="34" charset="0"/>
                          <a:ea typeface="Courier New" pitchFamily="34" charset="-122"/>
                          <a:cs typeface="Courier New" pitchFamily="34" charset="-120"/>
                        </a:rPr>
                        <a:t>₹329</a:t>
                      </a:r>
                      <a:endParaRPr lang="en-US" sz="800" dirty="0">
                        <a:latin typeface="Courier New" charset="0"/>
                        <a:ea typeface="Courier New" charset="0"/>
                        <a:cs typeface="Courier New"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64748B"/>
                          </a:solidFill>
                          <a:latin typeface="Carlito" pitchFamily="34" charset="0"/>
                          <a:ea typeface="Carlito" pitchFamily="34" charset="-122"/>
                          <a:cs typeface="Carlito" pitchFamily="34" charset="-120"/>
                        </a:rPr>
                        <a:t>PIZZA10 (−10%)</a:t>
                      </a:r>
                      <a:endParaRPr lang="en-US" sz="800" dirty="0">
                        <a:latin typeface="Carlito" charset="0"/>
                        <a:ea typeface="Carlito" charset="0"/>
                        <a:cs typeface="Carlito"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00" dirty="0">
                          <a:solidFill>
                            <a:srgbClr val="64748B"/>
                          </a:solidFill>
                          <a:latin typeface="Courier New" pitchFamily="34" charset="0"/>
                          <a:ea typeface="Courier New" pitchFamily="34" charset="-122"/>
                          <a:cs typeface="Courier New" pitchFamily="34" charset="-120"/>
                        </a:rPr>
                        <a:t>−₹33</a:t>
                      </a:r>
                      <a:endParaRPr lang="en-US" sz="800" dirty="0">
                        <a:latin typeface="Courier New" charset="0"/>
                        <a:ea typeface="Courier New" charset="0"/>
                        <a:cs typeface="Courier New"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334155"/>
                          </a:solidFill>
                          <a:latin typeface="Carlito" pitchFamily="34" charset="0"/>
                          <a:ea typeface="Carlito" pitchFamily="34" charset="-122"/>
                          <a:cs typeface="Carlito" pitchFamily="34" charset="-120"/>
                        </a:rPr>
                        <a:t>GST 5%</a:t>
                      </a:r>
                      <a:endParaRPr lang="en-US" sz="800" dirty="0">
                        <a:latin typeface="Carlito" charset="0"/>
                        <a:ea typeface="Carlito" charset="0"/>
                        <a:cs typeface="Carlito"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00" dirty="0">
                          <a:solidFill>
                            <a:srgbClr val="0F172A"/>
                          </a:solidFill>
                          <a:latin typeface="Courier New" pitchFamily="34" charset="0"/>
                          <a:ea typeface="Courier New" pitchFamily="34" charset="-122"/>
                          <a:cs typeface="Courier New" pitchFamily="34" charset="-120"/>
                        </a:rPr>
                        <a:t>₹15</a:t>
                      </a:r>
                      <a:endParaRPr lang="en-US" sz="800" dirty="0">
                        <a:latin typeface="Courier New" charset="0"/>
                        <a:ea typeface="Courier New" charset="0"/>
                        <a:cs typeface="Courier New" charset="0"/>
                      </a:endParaRPr>
                    </a:p>
                  </a:txBody>
                  <a:tcPr marL="20574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gridSpan="2">
                  <a:txBody>
                    <a:bodyPr/>
                    <a:lstStyle/>
                    <a:p>
                      <a:pPr marL="0" indent="0" algn="l">
                        <a:buNone/>
                      </a:pPr>
                      <a:endParaRPr lang="en-US" sz="800" dirty="0">
                        <a:latin typeface="Carlito" charset="0"/>
                        <a:ea typeface="Carlito" charset="0"/>
                        <a:cs typeface="Carlito" charset="0"/>
                      </a:endParaRPr>
                    </a:p>
                  </a:txBody>
                  <a:tcPr marL="30861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5"/>
                  </a:ext>
                </a:extLst>
              </a:tr>
              <a:tr h="0">
                <a:tc>
                  <a:txBody>
                    <a:bodyPr/>
                    <a:lstStyle/>
                    <a:p>
                      <a:pPr marL="0" indent="0" algn="l">
                        <a:buNone/>
                      </a:pPr>
                      <a:r>
                        <a:rPr lang="en-US" sz="844" b="1" dirty="0">
                          <a:solidFill>
                            <a:srgbClr val="FF6B35"/>
                          </a:solidFill>
                          <a:latin typeface="Carlito" pitchFamily="34" charset="0"/>
                          <a:ea typeface="Carlito" pitchFamily="34" charset="-122"/>
                          <a:cs typeface="Carlito" pitchFamily="34" charset="-120"/>
                        </a:rPr>
                        <a:t>Total payable</a:t>
                      </a:r>
                      <a:endParaRPr lang="en-US" sz="844" dirty="0">
                        <a:latin typeface="Carlito" charset="0"/>
                        <a:ea typeface="Carlito" charset="0"/>
                        <a:cs typeface="Carlito" charset="0"/>
                      </a:endParaRPr>
                    </a:p>
                  </a:txBody>
                  <a:tcPr marL="41148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844" b="1" dirty="0">
                          <a:solidFill>
                            <a:srgbClr val="FF6B35"/>
                          </a:solidFill>
                          <a:latin typeface="Courier New" pitchFamily="34" charset="0"/>
                          <a:ea typeface="Courier New" pitchFamily="34" charset="-122"/>
                          <a:cs typeface="Courier New" pitchFamily="34" charset="-120"/>
                        </a:rPr>
                        <a:t>₹311</a:t>
                      </a:r>
                      <a:endParaRPr lang="en-US" sz="844" dirty="0">
                        <a:latin typeface="Courier New" charset="0"/>
                        <a:ea typeface="Courier New" charset="0"/>
                        <a:cs typeface="Courier New" charset="0"/>
                      </a:endParaRPr>
                    </a:p>
                  </a:txBody>
                  <a:tcPr marL="4114800" marR="0" marT="0" marB="2057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43" name="Image 0" descr="/tmp/h2p-fit-1781702672962-4bo7xf.png"/>
          <p:cNvPicPr>
            <a:picLocks noChangeAspect="1"/>
          </p:cNvPicPr>
          <p:nvPr/>
        </p:nvPicPr>
        <p:blipFill>
          <a:blip r:embed="rId3"/>
          <a:stretch>
            <a:fillRect/>
          </a:stretch>
        </p:blipFill>
        <p:spPr>
          <a:xfrm>
            <a:off x="7822295" y="3474095"/>
            <a:ext cx="785813" cy="1214438"/>
          </a:xfrm>
          <a:prstGeom prst="rect">
            <a:avLst/>
          </a:prstGeom>
          <a:effectLst>
            <a:outerShdw blurRad="57150" dist="19050" dir="5400000" algn="bl" rotWithShape="0">
              <a:srgbClr val="0F172A">
                <a:alpha val="8000"/>
              </a:srgbClr>
            </a:outerShdw>
          </a:effectLst>
        </p:spPr>
      </p:pic>
      <p:sp>
        <p:nvSpPr>
          <p:cNvPr id="44" name="Text 40"/>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45" name="Shape 41"/>
          <p:cNvSpPr/>
          <p:nvPr/>
        </p:nvSpPr>
        <p:spPr>
          <a:xfrm>
            <a:off x="0" y="4947047"/>
            <a:ext cx="9144000" cy="0"/>
          </a:xfrm>
          <a:prstGeom prst="line">
            <a:avLst/>
          </a:prstGeom>
          <a:noFill/>
          <a:ln w="7144">
            <a:solidFill>
              <a:srgbClr val="E2E8F0"/>
            </a:solidFill>
            <a:prstDash val="solid"/>
          </a:ln>
        </p:spPr>
      </p:sp>
      <p:sp>
        <p:nvSpPr>
          <p:cNvPr id="46" name="Text 42"/>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47" name="Text 43"/>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10 / 15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3006078"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Liberation Sans Narrow" pitchFamily="34" charset="0"/>
                <a:ea typeface="Liberation Sans Narrow" pitchFamily="34" charset="-122"/>
                <a:cs typeface="Liberation Sans Narrow" pitchFamily="34" charset="-120"/>
              </a:rPr>
              <a:t>MODULE 06</a:t>
            </a:r>
            <a:endParaRPr lang="en-US" sz="800" dirty="0"/>
          </a:p>
        </p:txBody>
      </p:sp>
      <p:sp>
        <p:nvSpPr>
          <p:cNvPr id="5" name="Text 3"/>
          <p:cNvSpPr/>
          <p:nvPr/>
        </p:nvSpPr>
        <p:spPr>
          <a:xfrm>
            <a:off x="400050" y="303609"/>
            <a:ext cx="2224028"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Admin Dashboard</a:t>
            </a:r>
            <a:endParaRPr lang="en-US" sz="1688" dirty="0"/>
          </a:p>
        </p:txBody>
      </p:sp>
      <p:sp>
        <p:nvSpPr>
          <p:cNvPr id="6" name="Text 4"/>
          <p:cNvSpPr/>
          <p:nvPr/>
        </p:nvSpPr>
        <p:spPr>
          <a:xfrm>
            <a:off x="7886654" y="214313"/>
            <a:ext cx="857296"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779231" y="353616"/>
            <a:ext cx="96471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11 / 15</a:t>
            </a:r>
            <a:endParaRPr lang="en-US" sz="800" dirty="0"/>
          </a:p>
        </p:txBody>
      </p:sp>
      <p:sp>
        <p:nvSpPr>
          <p:cNvPr id="8" name="Text 6"/>
          <p:cNvSpPr/>
          <p:nvPr/>
        </p:nvSpPr>
        <p:spPr>
          <a:xfrm>
            <a:off x="400050" y="992981"/>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114425"/>
            <a:ext cx="409077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One pane of glass for operations</a:t>
            </a:r>
            <a:endParaRPr lang="en-US" sz="1238" dirty="0"/>
          </a:p>
        </p:txBody>
      </p:sp>
      <p:sp>
        <p:nvSpPr>
          <p:cNvPr id="10" name="Text 8"/>
          <p:cNvSpPr/>
          <p:nvPr/>
        </p:nvSpPr>
        <p:spPr>
          <a:xfrm>
            <a:off x="400050" y="1407319"/>
            <a:ext cx="3787750" cy="503420"/>
          </a:xfrm>
          <a:prstGeom prst="rect">
            <a:avLst/>
          </a:prstGeom>
          <a:noFill/>
          <a:ln/>
        </p:spPr>
        <p:txBody>
          <a:bodyPr wrap="square" lIns="0" tIns="0" rIns="0" bIns="0" rtlCol="0" anchor="t"/>
          <a:lstStyle/>
          <a:p>
            <a:pPr marL="0" indent="0" algn="l">
              <a:lnSpc>
                <a:spcPts val="1223"/>
              </a:lnSpc>
              <a:buNone/>
            </a:pPr>
            <a:r>
              <a:rPr lang="en-US" sz="816" dirty="0">
                <a:solidFill>
                  <a:srgbClr val="334155"/>
                </a:solidFill>
                <a:latin typeface="Carlito" pitchFamily="34" charset="0"/>
                <a:ea typeface="Carlito" pitchFamily="34" charset="-122"/>
                <a:cs typeface="Carlito" pitchFamily="34" charset="-120"/>
              </a:rPr>
              <a:t>The admin dashboard rolls up revenue, delivery performance, and customer behavior into a single live view. Filters let the team slice by date range, region, and order channel.</a:t>
            </a:r>
            <a:endParaRPr lang="en-US" sz="816" dirty="0"/>
          </a:p>
        </p:txBody>
      </p:sp>
      <p:sp>
        <p:nvSpPr>
          <p:cNvPr id="11" name="Text 9"/>
          <p:cNvSpPr/>
          <p:nvPr/>
        </p:nvSpPr>
        <p:spPr>
          <a:xfrm>
            <a:off x="403622" y="1977033"/>
            <a:ext cx="1843869" cy="575072"/>
          </a:xfrm>
          <a:prstGeom prst="roundRect">
            <a:avLst>
              <a:gd name="adj" fmla="val 19876"/>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2" name="Text 10"/>
          <p:cNvSpPr/>
          <p:nvPr/>
        </p:nvSpPr>
        <p:spPr>
          <a:xfrm>
            <a:off x="521494" y="2080617"/>
            <a:ext cx="1608125" cy="201168"/>
          </a:xfrm>
          <a:prstGeom prst="rect">
            <a:avLst/>
          </a:prstGeom>
          <a:noFill/>
          <a:ln/>
        </p:spPr>
        <p:txBody>
          <a:bodyPr wrap="none" lIns="0" tIns="0" rIns="0" bIns="0" rtlCol="0" anchor="t">
            <a:normAutofit fontScale="70000" lnSpcReduction="20000"/>
          </a:bodyPr>
          <a:lstStyle/>
          <a:p>
            <a:pPr marL="0" indent="0" algn="l">
              <a:lnSpc>
                <a:spcPts val="1688"/>
              </a:lnSpc>
              <a:buNone/>
            </a:pPr>
            <a:r>
              <a:rPr lang="en-US" sz="1688" b="1" kern="0" spc="-34" dirty="0">
                <a:solidFill>
                  <a:srgbClr val="FF6B35"/>
                </a:solidFill>
                <a:latin typeface="Liberation Sans Narrow" pitchFamily="34" charset="0"/>
                <a:ea typeface="Liberation Sans Narrow" pitchFamily="34" charset="-122"/>
                <a:cs typeface="Liberation Sans Narrow" pitchFamily="34" charset="-120"/>
              </a:rPr>
              <a:t>₹4.2L</a:t>
            </a:r>
            <a:endParaRPr lang="en-US" sz="1688" dirty="0"/>
          </a:p>
        </p:txBody>
      </p:sp>
      <p:sp>
        <p:nvSpPr>
          <p:cNvPr id="13" name="Text 11"/>
          <p:cNvSpPr/>
          <p:nvPr/>
        </p:nvSpPr>
        <p:spPr>
          <a:xfrm>
            <a:off x="521494" y="2309217"/>
            <a:ext cx="1608125" cy="139303"/>
          </a:xfrm>
          <a:prstGeom prst="rect">
            <a:avLst/>
          </a:prstGeom>
          <a:noFill/>
          <a:ln/>
        </p:spPr>
        <p:txBody>
          <a:bodyPr wrap="none" lIns="0" tIns="0" rIns="0" bIns="0" rtlCol="0" anchor="t"/>
          <a:lstStyle/>
          <a:p>
            <a:pPr marL="0" indent="0" algn="l">
              <a:lnSpc>
                <a:spcPts val="1097"/>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REVENUE (30D)</a:t>
            </a:r>
            <a:endParaRPr lang="en-US" sz="800" dirty="0"/>
          </a:p>
        </p:txBody>
      </p:sp>
      <p:sp>
        <p:nvSpPr>
          <p:cNvPr id="14" name="Text 12"/>
          <p:cNvSpPr/>
          <p:nvPr/>
        </p:nvSpPr>
        <p:spPr>
          <a:xfrm>
            <a:off x="2340359" y="1977033"/>
            <a:ext cx="1843869" cy="575072"/>
          </a:xfrm>
          <a:prstGeom prst="roundRect">
            <a:avLst>
              <a:gd name="adj" fmla="val 19876"/>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5" name="Text 13"/>
          <p:cNvSpPr/>
          <p:nvPr/>
        </p:nvSpPr>
        <p:spPr>
          <a:xfrm>
            <a:off x="2458231" y="2080617"/>
            <a:ext cx="1608125" cy="201168"/>
          </a:xfrm>
          <a:prstGeom prst="rect">
            <a:avLst/>
          </a:prstGeom>
          <a:noFill/>
          <a:ln/>
        </p:spPr>
        <p:txBody>
          <a:bodyPr wrap="none" lIns="0" tIns="0" rIns="0" bIns="0" rtlCol="0" anchor="t">
            <a:normAutofit fontScale="70000" lnSpcReduction="20000"/>
          </a:bodyPr>
          <a:lstStyle/>
          <a:p>
            <a:pPr marL="0" indent="0" algn="l">
              <a:lnSpc>
                <a:spcPts val="1688"/>
              </a:lnSpc>
              <a:buNone/>
            </a:pPr>
            <a:r>
              <a:rPr lang="en-US" sz="1688" b="1" kern="0" spc="-34" dirty="0">
                <a:solidFill>
                  <a:srgbClr val="FF6B35"/>
                </a:solidFill>
                <a:latin typeface="Liberation Sans Narrow" pitchFamily="34" charset="0"/>
                <a:ea typeface="Liberation Sans Narrow" pitchFamily="34" charset="-122"/>
                <a:cs typeface="Liberation Sans Narrow" pitchFamily="34" charset="-120"/>
              </a:rPr>
              <a:t>1,847</a:t>
            </a:r>
            <a:endParaRPr lang="en-US" sz="1688" dirty="0"/>
          </a:p>
        </p:txBody>
      </p:sp>
      <p:sp>
        <p:nvSpPr>
          <p:cNvPr id="16" name="Text 14"/>
          <p:cNvSpPr/>
          <p:nvPr/>
        </p:nvSpPr>
        <p:spPr>
          <a:xfrm>
            <a:off x="2458231" y="2309217"/>
            <a:ext cx="1608125" cy="139303"/>
          </a:xfrm>
          <a:prstGeom prst="rect">
            <a:avLst/>
          </a:prstGeom>
          <a:noFill/>
          <a:ln/>
        </p:spPr>
        <p:txBody>
          <a:bodyPr wrap="none" lIns="0" tIns="0" rIns="0" bIns="0" rtlCol="0" anchor="t"/>
          <a:lstStyle/>
          <a:p>
            <a:pPr marL="0" indent="0" algn="l">
              <a:lnSpc>
                <a:spcPts val="1097"/>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ORDERS (30D)</a:t>
            </a:r>
            <a:endParaRPr lang="en-US" sz="800" dirty="0"/>
          </a:p>
        </p:txBody>
      </p:sp>
      <p:sp>
        <p:nvSpPr>
          <p:cNvPr id="17" name="Text 15"/>
          <p:cNvSpPr/>
          <p:nvPr/>
        </p:nvSpPr>
        <p:spPr>
          <a:xfrm>
            <a:off x="403622" y="2644973"/>
            <a:ext cx="1843869" cy="575072"/>
          </a:xfrm>
          <a:prstGeom prst="roundRect">
            <a:avLst>
              <a:gd name="adj" fmla="val 19876"/>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8" name="Text 16"/>
          <p:cNvSpPr/>
          <p:nvPr/>
        </p:nvSpPr>
        <p:spPr>
          <a:xfrm>
            <a:off x="521494" y="2748558"/>
            <a:ext cx="1608125" cy="201168"/>
          </a:xfrm>
          <a:prstGeom prst="rect">
            <a:avLst/>
          </a:prstGeom>
          <a:noFill/>
          <a:ln/>
        </p:spPr>
        <p:txBody>
          <a:bodyPr wrap="none" lIns="0" tIns="0" rIns="0" bIns="0" rtlCol="0" anchor="t">
            <a:normAutofit fontScale="70000" lnSpcReduction="20000"/>
          </a:bodyPr>
          <a:lstStyle/>
          <a:p>
            <a:pPr marL="0" indent="0" algn="l">
              <a:lnSpc>
                <a:spcPts val="1688"/>
              </a:lnSpc>
              <a:buNone/>
            </a:pPr>
            <a:r>
              <a:rPr lang="en-US" sz="1688" b="1" kern="0" spc="-34" dirty="0">
                <a:solidFill>
                  <a:srgbClr val="FF6B35"/>
                </a:solidFill>
                <a:latin typeface="Liberation Sans Narrow" pitchFamily="34" charset="0"/>
                <a:ea typeface="Liberation Sans Narrow" pitchFamily="34" charset="-122"/>
                <a:cs typeface="Liberation Sans Narrow" pitchFamily="34" charset="-120"/>
              </a:rPr>
              <a:t>24 min</a:t>
            </a:r>
            <a:endParaRPr lang="en-US" sz="1688" dirty="0"/>
          </a:p>
        </p:txBody>
      </p:sp>
      <p:sp>
        <p:nvSpPr>
          <p:cNvPr id="19" name="Text 17"/>
          <p:cNvSpPr/>
          <p:nvPr/>
        </p:nvSpPr>
        <p:spPr>
          <a:xfrm>
            <a:off x="521494" y="2977158"/>
            <a:ext cx="1608125" cy="139303"/>
          </a:xfrm>
          <a:prstGeom prst="rect">
            <a:avLst/>
          </a:prstGeom>
          <a:noFill/>
          <a:ln/>
        </p:spPr>
        <p:txBody>
          <a:bodyPr wrap="none" lIns="0" tIns="0" rIns="0" bIns="0" rtlCol="0" anchor="t"/>
          <a:lstStyle/>
          <a:p>
            <a:pPr marL="0" indent="0" algn="l">
              <a:lnSpc>
                <a:spcPts val="1097"/>
              </a:lnSpc>
              <a:buNone/>
            </a:pPr>
            <a:r>
              <a:rPr lang="en-US" sz="800" dirty="0">
                <a:solidFill>
                  <a:srgbClr val="64748B"/>
                </a:solidFill>
                <a:latin typeface="Carlito" pitchFamily="34" charset="0"/>
                <a:ea typeface="Carlito" pitchFamily="34" charset="-122"/>
                <a:cs typeface="Carlito" pitchFamily="34" charset="-120"/>
              </a:rPr>
              <a:t>AVG DELIVERY TIME</a:t>
            </a:r>
            <a:endParaRPr lang="en-US" sz="800" dirty="0"/>
          </a:p>
        </p:txBody>
      </p:sp>
      <p:sp>
        <p:nvSpPr>
          <p:cNvPr id="20" name="Text 18"/>
          <p:cNvSpPr/>
          <p:nvPr/>
        </p:nvSpPr>
        <p:spPr>
          <a:xfrm>
            <a:off x="2340359" y="2644973"/>
            <a:ext cx="1843869" cy="575072"/>
          </a:xfrm>
          <a:prstGeom prst="roundRect">
            <a:avLst>
              <a:gd name="adj" fmla="val 19876"/>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1" name="Text 19"/>
          <p:cNvSpPr/>
          <p:nvPr/>
        </p:nvSpPr>
        <p:spPr>
          <a:xfrm>
            <a:off x="2458231" y="2748558"/>
            <a:ext cx="1608125" cy="201168"/>
          </a:xfrm>
          <a:prstGeom prst="rect">
            <a:avLst/>
          </a:prstGeom>
          <a:noFill/>
          <a:ln/>
        </p:spPr>
        <p:txBody>
          <a:bodyPr wrap="none" lIns="0" tIns="0" rIns="0" bIns="0" rtlCol="0" anchor="t">
            <a:normAutofit fontScale="70000" lnSpcReduction="20000"/>
          </a:bodyPr>
          <a:lstStyle/>
          <a:p>
            <a:pPr marL="0" indent="0" algn="l">
              <a:lnSpc>
                <a:spcPts val="1688"/>
              </a:lnSpc>
              <a:buNone/>
            </a:pPr>
            <a:r>
              <a:rPr lang="en-US" sz="1688" b="1" kern="0" spc="-34" dirty="0">
                <a:solidFill>
                  <a:srgbClr val="FF6B35"/>
                </a:solidFill>
                <a:latin typeface="Liberation Sans Narrow" pitchFamily="34" charset="0"/>
                <a:ea typeface="Liberation Sans Narrow" pitchFamily="34" charset="-122"/>
                <a:cs typeface="Liberation Sans Narrow" pitchFamily="34" charset="-120"/>
              </a:rPr>
              <a:t>68%</a:t>
            </a:r>
            <a:endParaRPr lang="en-US" sz="1688" dirty="0"/>
          </a:p>
        </p:txBody>
      </p:sp>
      <p:sp>
        <p:nvSpPr>
          <p:cNvPr id="22" name="Text 20"/>
          <p:cNvSpPr/>
          <p:nvPr/>
        </p:nvSpPr>
        <p:spPr>
          <a:xfrm>
            <a:off x="2458231" y="2977158"/>
            <a:ext cx="1608125" cy="139303"/>
          </a:xfrm>
          <a:prstGeom prst="rect">
            <a:avLst/>
          </a:prstGeom>
          <a:noFill/>
          <a:ln/>
        </p:spPr>
        <p:txBody>
          <a:bodyPr wrap="none" lIns="0" tIns="0" rIns="0" bIns="0" rtlCol="0" anchor="t"/>
          <a:lstStyle/>
          <a:p>
            <a:pPr marL="0" indent="0" algn="l">
              <a:lnSpc>
                <a:spcPts val="1097"/>
              </a:lnSpc>
              <a:buNone/>
            </a:pPr>
            <a:r>
              <a:rPr lang="en-US" sz="800" dirty="0">
                <a:solidFill>
                  <a:srgbClr val="64748B"/>
                </a:solidFill>
                <a:latin typeface="Carlito" pitchFamily="34" charset="0"/>
                <a:ea typeface="Carlito" pitchFamily="34" charset="-122"/>
                <a:cs typeface="Carlito" pitchFamily="34" charset="-120"/>
              </a:rPr>
              <a:t>REPEAT CUSTOMERS</a:t>
            </a:r>
            <a:endParaRPr lang="en-US" sz="800" dirty="0"/>
          </a:p>
        </p:txBody>
      </p:sp>
      <p:sp>
        <p:nvSpPr>
          <p:cNvPr id="23" name="Text 21"/>
          <p:cNvSpPr/>
          <p:nvPr/>
        </p:nvSpPr>
        <p:spPr>
          <a:xfrm>
            <a:off x="400050" y="3323630"/>
            <a:ext cx="3787750" cy="949699"/>
          </a:xfrm>
          <a:prstGeom prst="rect">
            <a:avLst/>
          </a:prstGeom>
          <a:noFill/>
          <a:ln/>
        </p:spPr>
        <p:txBody>
          <a:bodyPr wrap="square" lIns="0" tIns="0" rIns="0" bIns="0" rtlCol="0" anchor="t"/>
          <a:lstStyle/>
          <a:p>
            <a:pPr marL="0" indent="0" algn="l">
              <a:lnSpc>
                <a:spcPts val="1101"/>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Revenue analytics</a:t>
            </a:r>
            <a:r>
              <a:rPr lang="en-US" sz="800" dirty="0">
                <a:solidFill>
                  <a:srgbClr val="334155"/>
                </a:solidFill>
                <a:latin typeface="Carlito" pitchFamily="34" charset="0"/>
                <a:ea typeface="Carlito" pitchFamily="34" charset="-122"/>
                <a:cs typeface="Carlito" pitchFamily="34" charset="-120"/>
              </a:rPr>
              <a:t> — daily/weekly/monthly trends with category breakdown</a:t>
            </a:r>
            <a:endParaRPr lang="en-US" sz="800" dirty="0"/>
          </a:p>
          <a:p>
            <a:pPr marL="0" indent="0" algn="l">
              <a:lnSpc>
                <a:spcPts val="1101"/>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Delivery performance</a:t>
            </a:r>
            <a:r>
              <a:rPr lang="en-US" sz="800" dirty="0">
                <a:solidFill>
                  <a:srgbClr val="334155"/>
                </a:solidFill>
                <a:latin typeface="Carlito" pitchFamily="34" charset="0"/>
                <a:ea typeface="Carlito" pitchFamily="34" charset="-122"/>
                <a:cs typeface="Carlito" pitchFamily="34" charset="-120"/>
              </a:rPr>
              <a:t> — on-time %, avg ETA accuracy, rider leaderboard</a:t>
            </a:r>
            <a:endParaRPr lang="en-US" sz="800" dirty="0"/>
          </a:p>
          <a:p>
            <a:pPr marL="0" indent="0" algn="l">
              <a:lnSpc>
                <a:spcPts val="1101"/>
              </a:lnSpc>
              <a:spcAft>
                <a:spcPts val="394"/>
              </a:spcAft>
              <a:buNone/>
            </a:pPr>
            <a:r>
              <a:rPr lang="en-US" sz="600" dirty="0">
                <a:solidFill>
                  <a:srgbClr val="FF6B35"/>
                </a:solidFill>
                <a:latin typeface="Carlito" pitchFamily="34" charset="0"/>
                <a:ea typeface="Carlito" pitchFamily="34" charset="-122"/>
                <a:cs typeface="Carlito" pitchFamily="34" charset="-120"/>
              </a:rPr>
              <a:t>●  </a:t>
            </a:r>
            <a:r>
              <a:rPr lang="en-US" sz="800" dirty="0">
                <a:solidFill>
                  <a:srgbClr val="0F172A"/>
                </a:solidFill>
                <a:latin typeface="Carlito" pitchFamily="34" charset="0"/>
                <a:ea typeface="Carlito" pitchFamily="34" charset="-122"/>
                <a:cs typeface="Carlito" pitchFamily="34" charset="-120"/>
              </a:rPr>
              <a:t>Customer trends</a:t>
            </a:r>
            <a:r>
              <a:rPr lang="en-US" sz="800" dirty="0">
                <a:solidFill>
                  <a:srgbClr val="334155"/>
                </a:solidFill>
                <a:latin typeface="Carlito" pitchFamily="34" charset="0"/>
                <a:ea typeface="Carlito" pitchFamily="34" charset="-122"/>
                <a:cs typeface="Carlito" pitchFamily="34" charset="-120"/>
              </a:rPr>
              <a:t> — cohort retention, top items, churn-risk flagging</a:t>
            </a:r>
            <a:endParaRPr lang="en-US" sz="800" dirty="0"/>
          </a:p>
        </p:txBody>
      </p:sp>
      <p:sp>
        <p:nvSpPr>
          <p:cNvPr id="24" name="Text 22"/>
          <p:cNvSpPr/>
          <p:nvPr/>
        </p:nvSpPr>
        <p:spPr>
          <a:xfrm>
            <a:off x="4394969" y="1000125"/>
            <a:ext cx="4341726" cy="3736181"/>
          </a:xfrm>
          <a:prstGeom prst="roundRect">
            <a:avLst>
              <a:gd name="adj" fmla="val 2549"/>
            </a:avLst>
          </a:prstGeom>
          <a:solidFill>
            <a:srgbClr val="FFFFFF"/>
          </a:solidFill>
          <a:ln w="14288">
            <a:solidFill>
              <a:srgbClr val="FF6B35"/>
            </a:solidFill>
            <a:prstDash val="dash"/>
          </a:ln>
        </p:spPr>
        <p:txBody>
          <a:bodyPr wrap="square" rtlCol="0" anchor="ctr"/>
          <a:lstStyle/>
          <a:p>
            <a:pPr marL="0" indent="0">
              <a:buNone/>
            </a:pPr>
            <a:endParaRPr lang="en-US" dirty="0"/>
          </a:p>
        </p:txBody>
      </p:sp>
      <p:sp>
        <p:nvSpPr>
          <p:cNvPr id="25" name="Text 23"/>
          <p:cNvSpPr/>
          <p:nvPr/>
        </p:nvSpPr>
        <p:spPr>
          <a:xfrm>
            <a:off x="6365751" y="2319933"/>
            <a:ext cx="400050" cy="400050"/>
          </a:xfrm>
          <a:prstGeom prst="rect">
            <a:avLst/>
          </a:prstGeom>
          <a:noFill/>
          <a:ln/>
        </p:spPr>
        <p:txBody>
          <a:bodyPr wrap="none" lIns="0" tIns="0" rIns="0" bIns="0" rtlCol="0" anchor="ctr"/>
          <a:lstStyle/>
          <a:p>
            <a:pPr marL="0" indent="0" algn="ctr">
              <a:buNone/>
            </a:pPr>
            <a:r>
              <a:rPr lang="en-US" sz="3938" dirty="0">
                <a:solidFill>
                  <a:srgbClr val="FF6B35"/>
                </a:solidFill>
                <a:latin typeface="Segoe UI Symbol" pitchFamily="34" charset="0"/>
                <a:ea typeface="Segoe UI Symbol" pitchFamily="34" charset="-122"/>
                <a:cs typeface="Segoe UI Symbol" pitchFamily="34" charset="-120"/>
              </a:rPr>
              <a:t>▦</a:t>
            </a:r>
            <a:endParaRPr lang="en-US" sz="3938" dirty="0"/>
          </a:p>
        </p:txBody>
      </p:sp>
      <p:sp>
        <p:nvSpPr>
          <p:cNvPr id="26" name="Text 24"/>
          <p:cNvSpPr/>
          <p:nvPr/>
        </p:nvSpPr>
        <p:spPr>
          <a:xfrm>
            <a:off x="5322295" y="2777133"/>
            <a:ext cx="2486963" cy="194024"/>
          </a:xfrm>
          <a:prstGeom prst="rect">
            <a:avLst/>
          </a:prstGeom>
          <a:noFill/>
          <a:ln/>
        </p:spPr>
        <p:txBody>
          <a:bodyPr wrap="square" lIns="0" tIns="0" rIns="0" bIns="0" rtlCol="0" anchor="t">
            <a:normAutofit/>
          </a:bodyPr>
          <a:lstStyle/>
          <a:p>
            <a:pPr marL="0" indent="0" algn="ctr">
              <a:lnSpc>
                <a:spcPts val="1519"/>
              </a:lnSpc>
              <a:buNone/>
            </a:pPr>
            <a:r>
              <a:rPr lang="en-US" sz="1013" b="1" kern="0" spc="41" dirty="0">
                <a:solidFill>
                  <a:srgbClr val="E4541F"/>
                </a:solidFill>
                <a:latin typeface="Carlito" pitchFamily="34" charset="0"/>
                <a:ea typeface="Carlito" pitchFamily="34" charset="-122"/>
                <a:cs typeface="Carlito" pitchFamily="34" charset="-120"/>
              </a:rPr>
              <a:t>[SCREENSHOT PLACEHOLDER]</a:t>
            </a:r>
            <a:endParaRPr lang="en-US" sz="1013" dirty="0"/>
          </a:p>
        </p:txBody>
      </p:sp>
      <p:sp>
        <p:nvSpPr>
          <p:cNvPr id="27" name="Text 25"/>
          <p:cNvSpPr/>
          <p:nvPr/>
        </p:nvSpPr>
        <p:spPr>
          <a:xfrm>
            <a:off x="5279901" y="2998589"/>
            <a:ext cx="2571750" cy="493776"/>
          </a:xfrm>
          <a:prstGeom prst="rect">
            <a:avLst/>
          </a:prstGeom>
          <a:noFill/>
          <a:ln/>
        </p:spPr>
        <p:txBody>
          <a:bodyPr wrap="square" lIns="0" tIns="0" rIns="0" bIns="0" rtlCol="0" anchor="t"/>
          <a:lstStyle/>
          <a:p>
            <a:pPr marL="0" indent="0" algn="ctr">
              <a:lnSpc>
                <a:spcPts val="1097"/>
              </a:lnSpc>
              <a:buNone/>
            </a:pPr>
            <a:r>
              <a:rPr lang="en-US" sz="800" dirty="0">
                <a:solidFill>
                  <a:srgbClr val="E4541F">
                    <a:alpha val="80000"/>
                  </a:srgbClr>
                </a:solidFill>
                <a:latin typeface="Carlito" pitchFamily="34" charset="0"/>
                <a:ea typeface="Carlito" pitchFamily="34" charset="-122"/>
                <a:cs typeface="Carlito" pitchFamily="34" charset="-120"/>
              </a:rPr>
              <a:t>Paste your admin dashboard screenshot here — revenue charts, delivery performance KPIs, and customer trend panels.</a:t>
            </a:r>
            <a:endParaRPr lang="en-US" sz="800" dirty="0"/>
          </a:p>
        </p:txBody>
      </p:sp>
      <p:sp>
        <p:nvSpPr>
          <p:cNvPr id="28" name="Text 26"/>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29" name="Shape 27"/>
          <p:cNvSpPr/>
          <p:nvPr/>
        </p:nvSpPr>
        <p:spPr>
          <a:xfrm>
            <a:off x="0" y="4947047"/>
            <a:ext cx="9144000" cy="0"/>
          </a:xfrm>
          <a:prstGeom prst="line">
            <a:avLst/>
          </a:prstGeom>
          <a:noFill/>
          <a:ln w="7144">
            <a:solidFill>
              <a:srgbClr val="E2E8F0"/>
            </a:solidFill>
            <a:prstDash val="solid"/>
          </a:ln>
        </p:spPr>
      </p:sp>
      <p:sp>
        <p:nvSpPr>
          <p:cNvPr id="30" name="Text 28"/>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31" name="Text 29"/>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11 / 15</a:t>
            </a:r>
            <a:endParaRPr lang="en-US" sz="800" dirty="0"/>
          </a:p>
        </p:txBody>
      </p:sp>
      <p:pic>
        <p:nvPicPr>
          <p:cNvPr id="33" name="Picture 32">
            <a:extLst>
              <a:ext uri="{FF2B5EF4-FFF2-40B4-BE49-F238E27FC236}">
                <a16:creationId xmlns:a16="http://schemas.microsoft.com/office/drawing/2014/main" id="{69C8892F-D9AC-66A8-C15A-806C08614BC6}"/>
              </a:ext>
            </a:extLst>
          </p:cNvPr>
          <p:cNvPicPr>
            <a:picLocks noChangeAspect="1"/>
          </p:cNvPicPr>
          <p:nvPr/>
        </p:nvPicPr>
        <p:blipFill>
          <a:blip r:embed="rId3"/>
          <a:stretch>
            <a:fillRect/>
          </a:stretch>
        </p:blipFill>
        <p:spPr>
          <a:xfrm>
            <a:off x="4490820" y="1239727"/>
            <a:ext cx="4192827" cy="31304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4253746"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AI</a:t>
            </a:r>
            <a:endParaRPr lang="en-US" sz="800" dirty="0"/>
          </a:p>
        </p:txBody>
      </p:sp>
      <p:sp>
        <p:nvSpPr>
          <p:cNvPr id="5" name="Text 3"/>
          <p:cNvSpPr/>
          <p:nvPr/>
        </p:nvSpPr>
        <p:spPr>
          <a:xfrm>
            <a:off x="400050" y="303609"/>
            <a:ext cx="2791521"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AI Features Deep-Dive</a:t>
            </a:r>
            <a:endParaRPr lang="en-US" sz="1688" dirty="0"/>
          </a:p>
        </p:txBody>
      </p:sp>
      <p:sp>
        <p:nvSpPr>
          <p:cNvPr id="6" name="Text 4"/>
          <p:cNvSpPr/>
          <p:nvPr/>
        </p:nvSpPr>
        <p:spPr>
          <a:xfrm>
            <a:off x="7886654" y="214313"/>
            <a:ext cx="857296"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779231" y="353616"/>
            <a:ext cx="96471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12 / 15</a:t>
            </a:r>
            <a:endParaRPr lang="en-US" sz="800" dirty="0"/>
          </a:p>
        </p:txBody>
      </p:sp>
      <p:sp>
        <p:nvSpPr>
          <p:cNvPr id="8" name="Text 6"/>
          <p:cNvSpPr/>
          <p:nvPr/>
        </p:nvSpPr>
        <p:spPr>
          <a:xfrm>
            <a:off x="400050" y="892969"/>
            <a:ext cx="257175" cy="17190"/>
          </a:xfrm>
          <a:prstGeom prst="roundRect">
            <a:avLst>
              <a:gd name="adj" fmla="val 110820"/>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010171"/>
            <a:ext cx="83439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Where Azure OpenAI and Azure Maps do the heavy lifting</a:t>
            </a:r>
            <a:endParaRPr lang="en-US" sz="1238" dirty="0"/>
          </a:p>
        </p:txBody>
      </p:sp>
      <p:sp>
        <p:nvSpPr>
          <p:cNvPr id="10" name="Text 8"/>
          <p:cNvSpPr/>
          <p:nvPr/>
        </p:nvSpPr>
        <p:spPr>
          <a:xfrm>
            <a:off x="400050" y="1303065"/>
            <a:ext cx="7000875" cy="335613"/>
          </a:xfrm>
          <a:prstGeom prst="rect">
            <a:avLst/>
          </a:prstGeom>
          <a:noFill/>
          <a:ln/>
        </p:spPr>
        <p:txBody>
          <a:bodyPr wrap="square" lIns="0" tIns="0" rIns="0" bIns="0" rtlCol="0" anchor="t"/>
          <a:lstStyle/>
          <a:p>
            <a:pPr marL="0" indent="0" algn="l">
              <a:lnSpc>
                <a:spcPts val="1223"/>
              </a:lnSpc>
              <a:buNone/>
            </a:pPr>
            <a:r>
              <a:rPr lang="en-US" sz="816" dirty="0">
                <a:solidFill>
                  <a:srgbClr val="334155"/>
                </a:solidFill>
                <a:latin typeface="Carlito" pitchFamily="34" charset="0"/>
                <a:ea typeface="Carlito" pitchFamily="34" charset="-122"/>
                <a:cs typeface="Carlito" pitchFamily="34" charset="-120"/>
              </a:rPr>
              <a:t>Three AI capabilities are woven directly into the ordering and delivery experience — not bolted on as a chatbot, but embedded in the cart, the map, and the admin reports.</a:t>
            </a:r>
            <a:endParaRPr lang="en-US" sz="816" dirty="0"/>
          </a:p>
        </p:txBody>
      </p:sp>
      <p:sp>
        <p:nvSpPr>
          <p:cNvPr id="11" name="Text 9"/>
          <p:cNvSpPr/>
          <p:nvPr/>
        </p:nvSpPr>
        <p:spPr>
          <a:xfrm>
            <a:off x="400050" y="1699543"/>
            <a:ext cx="2714625" cy="2442716"/>
          </a:xfrm>
          <a:prstGeom prst="roundRect">
            <a:avLst>
              <a:gd name="adj" fmla="val 3119"/>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00050" y="1703115"/>
            <a:ext cx="2714625" cy="0"/>
          </a:xfrm>
          <a:prstGeom prst="line">
            <a:avLst/>
          </a:prstGeom>
          <a:noFill/>
          <a:ln w="7144">
            <a:solidFill>
              <a:srgbClr val="E2E8F0"/>
            </a:solidFill>
            <a:prstDash val="solid"/>
          </a:ln>
        </p:spPr>
      </p:sp>
      <p:sp>
        <p:nvSpPr>
          <p:cNvPr id="13" name="Shape 11"/>
          <p:cNvSpPr/>
          <p:nvPr/>
        </p:nvSpPr>
        <p:spPr>
          <a:xfrm>
            <a:off x="3111103" y="1699543"/>
            <a:ext cx="0" cy="2442716"/>
          </a:xfrm>
          <a:prstGeom prst="line">
            <a:avLst/>
          </a:prstGeom>
          <a:noFill/>
          <a:ln w="7144">
            <a:solidFill>
              <a:srgbClr val="E2E8F0"/>
            </a:solidFill>
            <a:prstDash val="solid"/>
          </a:ln>
        </p:spPr>
      </p:sp>
      <p:sp>
        <p:nvSpPr>
          <p:cNvPr id="14" name="Shape 12"/>
          <p:cNvSpPr/>
          <p:nvPr/>
        </p:nvSpPr>
        <p:spPr>
          <a:xfrm>
            <a:off x="400050" y="4138687"/>
            <a:ext cx="2714625" cy="0"/>
          </a:xfrm>
          <a:prstGeom prst="line">
            <a:avLst/>
          </a:prstGeom>
          <a:noFill/>
          <a:ln w="7144">
            <a:solidFill>
              <a:srgbClr val="E2E8F0"/>
            </a:solidFill>
            <a:prstDash val="solid"/>
          </a:ln>
        </p:spPr>
      </p:sp>
      <p:sp>
        <p:nvSpPr>
          <p:cNvPr id="15" name="Shape 13"/>
          <p:cNvSpPr/>
          <p:nvPr/>
        </p:nvSpPr>
        <p:spPr>
          <a:xfrm>
            <a:off x="414338" y="1699543"/>
            <a:ext cx="0" cy="2442716"/>
          </a:xfrm>
          <a:prstGeom prst="line">
            <a:avLst/>
          </a:prstGeom>
          <a:noFill/>
          <a:ln w="28575">
            <a:solidFill>
              <a:srgbClr val="FF6B35"/>
            </a:solidFill>
            <a:prstDash val="solid"/>
          </a:ln>
        </p:spPr>
      </p:sp>
      <p:sp>
        <p:nvSpPr>
          <p:cNvPr id="16" name="Text 14"/>
          <p:cNvSpPr/>
          <p:nvPr/>
        </p:nvSpPr>
        <p:spPr>
          <a:xfrm>
            <a:off x="542925" y="1799555"/>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17" name="Text 15"/>
          <p:cNvSpPr/>
          <p:nvPr/>
        </p:nvSpPr>
        <p:spPr>
          <a:xfrm>
            <a:off x="2224407" y="1822701"/>
            <a:ext cx="791684" cy="168021"/>
          </a:xfrm>
          <a:prstGeom prst="roundRect">
            <a:avLst>
              <a:gd name="adj" fmla="val 5663265"/>
            </a:avLst>
          </a:prstGeom>
          <a:solidFill>
            <a:srgbClr val="FFF1EC"/>
          </a:solidFill>
          <a:ln/>
        </p:spPr>
        <p:txBody>
          <a:bodyPr wrap="square" rtlCol="0" anchor="ctr"/>
          <a:lstStyle/>
          <a:p>
            <a:pPr marL="0" indent="0">
              <a:buNone/>
            </a:pPr>
            <a:endParaRPr lang="en-US" dirty="0"/>
          </a:p>
        </p:txBody>
      </p:sp>
      <p:sp>
        <p:nvSpPr>
          <p:cNvPr id="18" name="Text 16"/>
          <p:cNvSpPr/>
          <p:nvPr/>
        </p:nvSpPr>
        <p:spPr>
          <a:xfrm>
            <a:off x="2247267" y="1831702"/>
            <a:ext cx="745964" cy="150019"/>
          </a:xfrm>
          <a:prstGeom prst="rect">
            <a:avLst/>
          </a:prstGeom>
          <a:noFill/>
          <a:ln/>
        </p:spPr>
        <p:txBody>
          <a:bodyPr wrap="none" lIns="0" tIns="0" rIns="0" bIns="0" rtlCol="0" anchor="ctr"/>
          <a:lstStyle/>
          <a:p>
            <a:pPr marL="0" indent="0" algn="ctr">
              <a:lnSpc>
                <a:spcPts val="844"/>
              </a:lnSpc>
              <a:buNone/>
            </a:pPr>
            <a:r>
              <a:rPr lang="en-US" sz="800" kern="0" spc="23" dirty="0">
                <a:solidFill>
                  <a:srgbClr val="E4541F"/>
                </a:solidFill>
                <a:latin typeface="Carlito" pitchFamily="34" charset="0"/>
                <a:ea typeface="Carlito" pitchFamily="34" charset="-122"/>
                <a:cs typeface="Carlito" pitchFamily="34" charset="-120"/>
              </a:rPr>
              <a:t>AZURE OPENAI</a:t>
            </a:r>
            <a:endParaRPr lang="en-US" sz="800" dirty="0"/>
          </a:p>
        </p:txBody>
      </p:sp>
      <p:sp>
        <p:nvSpPr>
          <p:cNvPr id="19" name="Text 17"/>
          <p:cNvSpPr/>
          <p:nvPr/>
        </p:nvSpPr>
        <p:spPr>
          <a:xfrm>
            <a:off x="542925" y="2085305"/>
            <a:ext cx="2560034" cy="154305"/>
          </a:xfrm>
          <a:prstGeom prst="rect">
            <a:avLst/>
          </a:prstGeom>
          <a:noFill/>
          <a:ln/>
        </p:spPr>
        <p:txBody>
          <a:bodyPr wrap="square" lIns="0" tIns="0" rIns="0" bIns="0" rtlCol="0" anchor="t"/>
          <a:lstStyle/>
          <a:p>
            <a:pPr marL="0" indent="0" algn="l">
              <a:lnSpc>
                <a:spcPts val="1125"/>
              </a:lnSpc>
              <a:buNone/>
            </a:pPr>
            <a:r>
              <a:rPr lang="en-US" sz="900" b="1" kern="0" spc="-9" dirty="0">
                <a:solidFill>
                  <a:srgbClr val="0F172A"/>
                </a:solidFill>
                <a:latin typeface="Carlito" pitchFamily="34" charset="0"/>
                <a:ea typeface="Carlito" pitchFamily="34" charset="-122"/>
                <a:cs typeface="Carlito" pitchFamily="34" charset="-120"/>
              </a:rPr>
              <a:t>Personalized Food Recommendations</a:t>
            </a:r>
            <a:endParaRPr lang="en-US" sz="900" dirty="0"/>
          </a:p>
        </p:txBody>
      </p:sp>
      <p:sp>
        <p:nvSpPr>
          <p:cNvPr id="20" name="Text 18"/>
          <p:cNvSpPr/>
          <p:nvPr/>
        </p:nvSpPr>
        <p:spPr>
          <a:xfrm>
            <a:off x="542925" y="2285330"/>
            <a:ext cx="2450306" cy="1249513"/>
          </a:xfrm>
          <a:prstGeom prst="rect">
            <a:avLst/>
          </a:prstGeom>
          <a:noFill/>
          <a:ln/>
        </p:spPr>
        <p:txBody>
          <a:bodyPr wrap="square" lIns="0" tIns="0" rIns="0" bIns="0" rtlCol="0" anchor="t">
            <a:normAutofit/>
          </a:bodyPr>
          <a:lstStyle/>
          <a:p>
            <a:pPr marL="0" indent="0" algn="l">
              <a:lnSpc>
                <a:spcPts val="1055"/>
              </a:lnSpc>
              <a:buNone/>
            </a:pPr>
            <a:r>
              <a:rPr lang="en-US" sz="800" dirty="0">
                <a:solidFill>
                  <a:srgbClr val="334155"/>
                </a:solidFill>
                <a:latin typeface="Carlito" pitchFamily="34" charset="0"/>
                <a:ea typeface="Carlito" pitchFamily="34" charset="-122"/>
                <a:cs typeface="Carlito" pitchFamily="34" charset="-120"/>
              </a:rPr>
              <a:t>Each logged-in customer's order history and preference profile are serialized into a structured prompt and sent to Azure OpenAI. The model returns a ranked JSON list of pizzas and combos tailored to the user. Suggestions appear in the cart drawer as upsells and on the menu sidebar as a For You row. Recommendations are cached per user for five minutes to balance freshness and cost.</a:t>
            </a:r>
            <a:endParaRPr lang="en-US" sz="800" dirty="0"/>
          </a:p>
        </p:txBody>
      </p:sp>
      <p:sp>
        <p:nvSpPr>
          <p:cNvPr id="21" name="Shape 19"/>
          <p:cNvSpPr/>
          <p:nvPr/>
        </p:nvSpPr>
        <p:spPr>
          <a:xfrm>
            <a:off x="542925" y="3565847"/>
            <a:ext cx="2450306" cy="0"/>
          </a:xfrm>
          <a:prstGeom prst="line">
            <a:avLst/>
          </a:prstGeom>
          <a:noFill/>
          <a:ln w="7144">
            <a:solidFill>
              <a:srgbClr val="E2E8F0"/>
            </a:solidFill>
            <a:prstDash val="solid"/>
          </a:ln>
        </p:spPr>
      </p:sp>
      <p:sp>
        <p:nvSpPr>
          <p:cNvPr id="22" name="Text 20"/>
          <p:cNvSpPr/>
          <p:nvPr/>
        </p:nvSpPr>
        <p:spPr>
          <a:xfrm>
            <a:off x="542925" y="3626569"/>
            <a:ext cx="171450" cy="14288"/>
          </a:xfrm>
          <a:prstGeom prst="roundRect">
            <a:avLst>
              <a:gd name="adj" fmla="val 133329"/>
            </a:avLst>
          </a:prstGeom>
          <a:solidFill>
            <a:srgbClr val="FF6B35"/>
          </a:solidFill>
          <a:ln/>
        </p:spPr>
        <p:txBody>
          <a:bodyPr wrap="square" rtlCol="0" anchor="ctr"/>
          <a:lstStyle/>
          <a:p>
            <a:pPr marL="0" indent="0">
              <a:buNone/>
            </a:pPr>
            <a:endParaRPr lang="en-US" dirty="0"/>
          </a:p>
        </p:txBody>
      </p:sp>
      <p:sp>
        <p:nvSpPr>
          <p:cNvPr id="23" name="Text 21"/>
          <p:cNvSpPr/>
          <p:nvPr/>
        </p:nvSpPr>
        <p:spPr>
          <a:xfrm>
            <a:off x="542925" y="3683719"/>
            <a:ext cx="2450306" cy="101156"/>
          </a:xfrm>
          <a:prstGeom prst="rect">
            <a:avLst/>
          </a:prstGeom>
          <a:noFill/>
          <a:ln/>
        </p:spPr>
        <p:txBody>
          <a:bodyPr wrap="none" lIns="0" tIns="0" rIns="0" bIns="0" rtlCol="0" anchor="t">
            <a:normAutofit fontScale="77500" lnSpcReduction="20000"/>
          </a:bodyPr>
          <a:lstStyle/>
          <a:p>
            <a:pPr marL="0" indent="0" algn="l">
              <a:lnSpc>
                <a:spcPts val="844"/>
              </a:lnSpc>
              <a:buNone/>
            </a:pPr>
            <a:r>
              <a:rPr lang="en-US" sz="800" b="1" kern="0" spc="68" dirty="0">
                <a:solidFill>
                  <a:srgbClr val="64748B"/>
                </a:solidFill>
                <a:latin typeface="Carlito" pitchFamily="34" charset="0"/>
                <a:ea typeface="Carlito" pitchFamily="34" charset="-122"/>
                <a:cs typeface="Carlito" pitchFamily="34" charset="-120"/>
              </a:rPr>
              <a:t>HOW IT WORKS</a:t>
            </a:r>
            <a:endParaRPr lang="en-US" sz="800" dirty="0"/>
          </a:p>
        </p:txBody>
      </p:sp>
      <p:sp>
        <p:nvSpPr>
          <p:cNvPr id="24" name="Text 22"/>
          <p:cNvSpPr/>
          <p:nvPr/>
        </p:nvSpPr>
        <p:spPr>
          <a:xfrm>
            <a:off x="542925" y="3812307"/>
            <a:ext cx="2450306"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Prompt template + order history → Azure OpenAI chat completions → JSON ranking → cached in Redis 5 min</a:t>
            </a:r>
            <a:endParaRPr lang="en-US" sz="800" dirty="0"/>
          </a:p>
        </p:txBody>
      </p:sp>
      <p:sp>
        <p:nvSpPr>
          <p:cNvPr id="25" name="Text 23"/>
          <p:cNvSpPr/>
          <p:nvPr/>
        </p:nvSpPr>
        <p:spPr>
          <a:xfrm>
            <a:off x="3214688" y="1699543"/>
            <a:ext cx="2714625" cy="2442716"/>
          </a:xfrm>
          <a:prstGeom prst="roundRect">
            <a:avLst>
              <a:gd name="adj" fmla="val 3119"/>
            </a:avLst>
          </a:prstGeom>
          <a:solidFill>
            <a:srgbClr val="FFFFFF"/>
          </a:solidFill>
          <a:ln/>
        </p:spPr>
        <p:txBody>
          <a:bodyPr wrap="square" rtlCol="0" anchor="ctr"/>
          <a:lstStyle/>
          <a:p>
            <a:pPr marL="0" indent="0">
              <a:buNone/>
            </a:pPr>
            <a:endParaRPr lang="en-US" dirty="0"/>
          </a:p>
        </p:txBody>
      </p:sp>
      <p:sp>
        <p:nvSpPr>
          <p:cNvPr id="26" name="Shape 24"/>
          <p:cNvSpPr/>
          <p:nvPr/>
        </p:nvSpPr>
        <p:spPr>
          <a:xfrm>
            <a:off x="3214688" y="1703115"/>
            <a:ext cx="2714625" cy="0"/>
          </a:xfrm>
          <a:prstGeom prst="line">
            <a:avLst/>
          </a:prstGeom>
          <a:noFill/>
          <a:ln w="7144">
            <a:solidFill>
              <a:srgbClr val="E2E8F0"/>
            </a:solidFill>
            <a:prstDash val="solid"/>
          </a:ln>
        </p:spPr>
      </p:sp>
      <p:sp>
        <p:nvSpPr>
          <p:cNvPr id="27" name="Shape 25"/>
          <p:cNvSpPr/>
          <p:nvPr/>
        </p:nvSpPr>
        <p:spPr>
          <a:xfrm>
            <a:off x="5925741" y="1699543"/>
            <a:ext cx="0" cy="2442716"/>
          </a:xfrm>
          <a:prstGeom prst="line">
            <a:avLst/>
          </a:prstGeom>
          <a:noFill/>
          <a:ln w="7144">
            <a:solidFill>
              <a:srgbClr val="E2E8F0"/>
            </a:solidFill>
            <a:prstDash val="solid"/>
          </a:ln>
        </p:spPr>
      </p:sp>
      <p:sp>
        <p:nvSpPr>
          <p:cNvPr id="28" name="Shape 26"/>
          <p:cNvSpPr/>
          <p:nvPr/>
        </p:nvSpPr>
        <p:spPr>
          <a:xfrm>
            <a:off x="3214688" y="4138687"/>
            <a:ext cx="2714625" cy="0"/>
          </a:xfrm>
          <a:prstGeom prst="line">
            <a:avLst/>
          </a:prstGeom>
          <a:noFill/>
          <a:ln w="7144">
            <a:solidFill>
              <a:srgbClr val="E2E8F0"/>
            </a:solidFill>
            <a:prstDash val="solid"/>
          </a:ln>
        </p:spPr>
      </p:sp>
      <p:sp>
        <p:nvSpPr>
          <p:cNvPr id="29" name="Shape 27"/>
          <p:cNvSpPr/>
          <p:nvPr/>
        </p:nvSpPr>
        <p:spPr>
          <a:xfrm>
            <a:off x="3228975" y="1699543"/>
            <a:ext cx="0" cy="2442716"/>
          </a:xfrm>
          <a:prstGeom prst="line">
            <a:avLst/>
          </a:prstGeom>
          <a:noFill/>
          <a:ln w="28575">
            <a:solidFill>
              <a:srgbClr val="FF6B35"/>
            </a:solidFill>
            <a:prstDash val="solid"/>
          </a:ln>
        </p:spPr>
      </p:sp>
      <p:sp>
        <p:nvSpPr>
          <p:cNvPr id="30" name="Text 28"/>
          <p:cNvSpPr/>
          <p:nvPr/>
        </p:nvSpPr>
        <p:spPr>
          <a:xfrm>
            <a:off x="3357563" y="1799555"/>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31" name="Text 29"/>
          <p:cNvSpPr/>
          <p:nvPr/>
        </p:nvSpPr>
        <p:spPr>
          <a:xfrm>
            <a:off x="5118073" y="1822701"/>
            <a:ext cx="712656" cy="168021"/>
          </a:xfrm>
          <a:prstGeom prst="roundRect">
            <a:avLst>
              <a:gd name="adj" fmla="val 5663265"/>
            </a:avLst>
          </a:prstGeom>
          <a:solidFill>
            <a:srgbClr val="FFF1EC"/>
          </a:solidFill>
          <a:ln/>
        </p:spPr>
        <p:txBody>
          <a:bodyPr wrap="square" rtlCol="0" anchor="ctr"/>
          <a:lstStyle/>
          <a:p>
            <a:pPr marL="0" indent="0">
              <a:buNone/>
            </a:pPr>
            <a:endParaRPr lang="en-US" dirty="0"/>
          </a:p>
        </p:txBody>
      </p:sp>
      <p:sp>
        <p:nvSpPr>
          <p:cNvPr id="32" name="Text 30"/>
          <p:cNvSpPr/>
          <p:nvPr/>
        </p:nvSpPr>
        <p:spPr>
          <a:xfrm>
            <a:off x="5140933" y="1831702"/>
            <a:ext cx="666936" cy="150019"/>
          </a:xfrm>
          <a:prstGeom prst="rect">
            <a:avLst/>
          </a:prstGeom>
          <a:noFill/>
          <a:ln/>
        </p:spPr>
        <p:txBody>
          <a:bodyPr wrap="none" lIns="0" tIns="0" rIns="0" bIns="0" rtlCol="0" anchor="ctr"/>
          <a:lstStyle/>
          <a:p>
            <a:pPr marL="0" indent="0" algn="ctr">
              <a:lnSpc>
                <a:spcPts val="844"/>
              </a:lnSpc>
              <a:buNone/>
            </a:pPr>
            <a:r>
              <a:rPr lang="en-US" sz="800" kern="0" spc="23" dirty="0">
                <a:solidFill>
                  <a:srgbClr val="E4541F"/>
                </a:solidFill>
                <a:latin typeface="Carlito" pitchFamily="34" charset="0"/>
                <a:ea typeface="Carlito" pitchFamily="34" charset="-122"/>
                <a:cs typeface="Carlito" pitchFamily="34" charset="-120"/>
              </a:rPr>
              <a:t>AZURE MAPS</a:t>
            </a:r>
            <a:endParaRPr lang="en-US" sz="800" dirty="0"/>
          </a:p>
        </p:txBody>
      </p:sp>
      <p:sp>
        <p:nvSpPr>
          <p:cNvPr id="33" name="Text 31"/>
          <p:cNvSpPr/>
          <p:nvPr/>
        </p:nvSpPr>
        <p:spPr>
          <a:xfrm>
            <a:off x="3357563" y="2085305"/>
            <a:ext cx="2450306" cy="154305"/>
          </a:xfrm>
          <a:prstGeom prst="rect">
            <a:avLst/>
          </a:prstGeom>
          <a:noFill/>
          <a:ln/>
        </p:spPr>
        <p:txBody>
          <a:bodyPr wrap="none" lIns="0" tIns="0" rIns="0" bIns="0" rtlCol="0" anchor="t"/>
          <a:lstStyle/>
          <a:p>
            <a:pPr marL="0" indent="0" algn="l">
              <a:lnSpc>
                <a:spcPts val="1125"/>
              </a:lnSpc>
              <a:buNone/>
            </a:pPr>
            <a:r>
              <a:rPr lang="en-US" sz="900" b="1" kern="0" spc="-9" dirty="0">
                <a:solidFill>
                  <a:srgbClr val="0F172A"/>
                </a:solidFill>
                <a:latin typeface="Carlito" pitchFamily="34" charset="0"/>
                <a:ea typeface="Carlito" pitchFamily="34" charset="-122"/>
                <a:cs typeface="Carlito" pitchFamily="34" charset="-120"/>
              </a:rPr>
              <a:t>ETA Prediction</a:t>
            </a:r>
            <a:endParaRPr lang="en-US" sz="900" dirty="0"/>
          </a:p>
        </p:txBody>
      </p:sp>
      <p:sp>
        <p:nvSpPr>
          <p:cNvPr id="34" name="Text 32"/>
          <p:cNvSpPr/>
          <p:nvPr/>
        </p:nvSpPr>
        <p:spPr>
          <a:xfrm>
            <a:off x="3357563" y="2285330"/>
            <a:ext cx="2450306" cy="1249513"/>
          </a:xfrm>
          <a:prstGeom prst="rect">
            <a:avLst/>
          </a:prstGeom>
          <a:noFill/>
          <a:ln/>
        </p:spPr>
        <p:txBody>
          <a:bodyPr wrap="square" lIns="0" tIns="0" rIns="0" bIns="0" rtlCol="0" anchor="t">
            <a:normAutofit/>
          </a:bodyPr>
          <a:lstStyle/>
          <a:p>
            <a:pPr marL="0" indent="0" algn="l">
              <a:lnSpc>
                <a:spcPts val="1055"/>
              </a:lnSpc>
              <a:buNone/>
            </a:pPr>
            <a:r>
              <a:rPr lang="en-US" sz="800" dirty="0">
                <a:solidFill>
                  <a:srgbClr val="334155"/>
                </a:solidFill>
                <a:latin typeface="Carlito" pitchFamily="34" charset="0"/>
                <a:ea typeface="Carlito" pitchFamily="34" charset="-122"/>
                <a:cs typeface="Carlito" pitchFamily="34" charset="-120"/>
              </a:rPr>
              <a:t>On every 15-second poll, the backend sends the rider's live coordinates and the customer's geocoded address to Azure Maps Routing API. The response includes turn-by-turn distance, live traffic, and an estimated travel time that accounts for current road conditions. The ETA is rendered next to the rider icon on the Leaflet map and updates visibly with each poll, eliminating the silent drift typical of static estimates.</a:t>
            </a:r>
            <a:endParaRPr lang="en-US" sz="800" dirty="0"/>
          </a:p>
        </p:txBody>
      </p:sp>
      <p:sp>
        <p:nvSpPr>
          <p:cNvPr id="35" name="Shape 33"/>
          <p:cNvSpPr/>
          <p:nvPr/>
        </p:nvSpPr>
        <p:spPr>
          <a:xfrm>
            <a:off x="3357563" y="3565847"/>
            <a:ext cx="2450306" cy="0"/>
          </a:xfrm>
          <a:prstGeom prst="line">
            <a:avLst/>
          </a:prstGeom>
          <a:noFill/>
          <a:ln w="7144">
            <a:solidFill>
              <a:srgbClr val="E2E8F0"/>
            </a:solidFill>
            <a:prstDash val="solid"/>
          </a:ln>
        </p:spPr>
      </p:sp>
      <p:sp>
        <p:nvSpPr>
          <p:cNvPr id="36" name="Text 34"/>
          <p:cNvSpPr/>
          <p:nvPr/>
        </p:nvSpPr>
        <p:spPr>
          <a:xfrm>
            <a:off x="3357563" y="3626569"/>
            <a:ext cx="171450" cy="14288"/>
          </a:xfrm>
          <a:prstGeom prst="roundRect">
            <a:avLst>
              <a:gd name="adj" fmla="val 133329"/>
            </a:avLst>
          </a:prstGeom>
          <a:solidFill>
            <a:srgbClr val="FF6B35"/>
          </a:solidFill>
          <a:ln/>
        </p:spPr>
        <p:txBody>
          <a:bodyPr wrap="square" rtlCol="0" anchor="ctr"/>
          <a:lstStyle/>
          <a:p>
            <a:pPr marL="0" indent="0">
              <a:buNone/>
            </a:pPr>
            <a:endParaRPr lang="en-US" dirty="0"/>
          </a:p>
        </p:txBody>
      </p:sp>
      <p:sp>
        <p:nvSpPr>
          <p:cNvPr id="37" name="Text 35"/>
          <p:cNvSpPr/>
          <p:nvPr/>
        </p:nvSpPr>
        <p:spPr>
          <a:xfrm>
            <a:off x="3357563" y="3683719"/>
            <a:ext cx="2450306" cy="101156"/>
          </a:xfrm>
          <a:prstGeom prst="rect">
            <a:avLst/>
          </a:prstGeom>
          <a:noFill/>
          <a:ln/>
        </p:spPr>
        <p:txBody>
          <a:bodyPr wrap="none" lIns="0" tIns="0" rIns="0" bIns="0" rtlCol="0" anchor="t">
            <a:normAutofit fontScale="77500" lnSpcReduction="20000"/>
          </a:bodyPr>
          <a:lstStyle/>
          <a:p>
            <a:pPr marL="0" indent="0" algn="l">
              <a:lnSpc>
                <a:spcPts val="844"/>
              </a:lnSpc>
              <a:buNone/>
            </a:pPr>
            <a:r>
              <a:rPr lang="en-US" sz="800" b="1" kern="0" spc="68" dirty="0">
                <a:solidFill>
                  <a:srgbClr val="64748B"/>
                </a:solidFill>
                <a:latin typeface="Carlito" pitchFamily="34" charset="0"/>
                <a:ea typeface="Carlito" pitchFamily="34" charset="-122"/>
                <a:cs typeface="Carlito" pitchFamily="34" charset="-120"/>
              </a:rPr>
              <a:t>HOW IT WORKS</a:t>
            </a:r>
            <a:endParaRPr lang="en-US" sz="800" dirty="0"/>
          </a:p>
        </p:txBody>
      </p:sp>
      <p:sp>
        <p:nvSpPr>
          <p:cNvPr id="38" name="Text 36"/>
          <p:cNvSpPr/>
          <p:nvPr/>
        </p:nvSpPr>
        <p:spPr>
          <a:xfrm>
            <a:off x="3357563" y="3812307"/>
            <a:ext cx="2450306"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Rider GPS + customer geocode → Azure Maps Routing API → live traffic-aware ETA → React state</a:t>
            </a:r>
            <a:endParaRPr lang="en-US" sz="800" dirty="0"/>
          </a:p>
        </p:txBody>
      </p:sp>
      <p:sp>
        <p:nvSpPr>
          <p:cNvPr id="39" name="Text 37"/>
          <p:cNvSpPr/>
          <p:nvPr/>
        </p:nvSpPr>
        <p:spPr>
          <a:xfrm>
            <a:off x="6029325" y="1699543"/>
            <a:ext cx="2714625" cy="2442716"/>
          </a:xfrm>
          <a:prstGeom prst="roundRect">
            <a:avLst>
              <a:gd name="adj" fmla="val 3119"/>
            </a:avLst>
          </a:prstGeom>
          <a:solidFill>
            <a:srgbClr val="FFFFFF"/>
          </a:solidFill>
          <a:ln/>
        </p:spPr>
        <p:txBody>
          <a:bodyPr wrap="square" rtlCol="0" anchor="ctr"/>
          <a:lstStyle/>
          <a:p>
            <a:pPr marL="0" indent="0">
              <a:buNone/>
            </a:pPr>
            <a:endParaRPr lang="en-US" dirty="0"/>
          </a:p>
        </p:txBody>
      </p:sp>
      <p:sp>
        <p:nvSpPr>
          <p:cNvPr id="40" name="Shape 38"/>
          <p:cNvSpPr/>
          <p:nvPr/>
        </p:nvSpPr>
        <p:spPr>
          <a:xfrm>
            <a:off x="6029325" y="1703115"/>
            <a:ext cx="2714625" cy="0"/>
          </a:xfrm>
          <a:prstGeom prst="line">
            <a:avLst/>
          </a:prstGeom>
          <a:noFill/>
          <a:ln w="7144">
            <a:solidFill>
              <a:srgbClr val="E2E8F0"/>
            </a:solidFill>
            <a:prstDash val="solid"/>
          </a:ln>
        </p:spPr>
      </p:sp>
      <p:sp>
        <p:nvSpPr>
          <p:cNvPr id="41" name="Shape 39"/>
          <p:cNvSpPr/>
          <p:nvPr/>
        </p:nvSpPr>
        <p:spPr>
          <a:xfrm>
            <a:off x="8740378" y="1699543"/>
            <a:ext cx="0" cy="2442716"/>
          </a:xfrm>
          <a:prstGeom prst="line">
            <a:avLst/>
          </a:prstGeom>
          <a:noFill/>
          <a:ln w="7144">
            <a:solidFill>
              <a:srgbClr val="E2E8F0"/>
            </a:solidFill>
            <a:prstDash val="solid"/>
          </a:ln>
        </p:spPr>
      </p:sp>
      <p:sp>
        <p:nvSpPr>
          <p:cNvPr id="42" name="Shape 40"/>
          <p:cNvSpPr/>
          <p:nvPr/>
        </p:nvSpPr>
        <p:spPr>
          <a:xfrm>
            <a:off x="6029325" y="4138687"/>
            <a:ext cx="2714625" cy="0"/>
          </a:xfrm>
          <a:prstGeom prst="line">
            <a:avLst/>
          </a:prstGeom>
          <a:noFill/>
          <a:ln w="7144">
            <a:solidFill>
              <a:srgbClr val="E2E8F0"/>
            </a:solidFill>
            <a:prstDash val="solid"/>
          </a:ln>
        </p:spPr>
      </p:sp>
      <p:sp>
        <p:nvSpPr>
          <p:cNvPr id="43" name="Shape 41"/>
          <p:cNvSpPr/>
          <p:nvPr/>
        </p:nvSpPr>
        <p:spPr>
          <a:xfrm>
            <a:off x="6043613" y="1699543"/>
            <a:ext cx="0" cy="2442716"/>
          </a:xfrm>
          <a:prstGeom prst="line">
            <a:avLst/>
          </a:prstGeom>
          <a:noFill/>
          <a:ln w="28575">
            <a:solidFill>
              <a:srgbClr val="FF6B35"/>
            </a:solidFill>
            <a:prstDash val="solid"/>
          </a:ln>
        </p:spPr>
      </p:sp>
      <p:sp>
        <p:nvSpPr>
          <p:cNvPr id="44" name="Text 42"/>
          <p:cNvSpPr/>
          <p:nvPr/>
        </p:nvSpPr>
        <p:spPr>
          <a:xfrm>
            <a:off x="6172200" y="1799555"/>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45" name="Text 43"/>
          <p:cNvSpPr/>
          <p:nvPr/>
        </p:nvSpPr>
        <p:spPr>
          <a:xfrm>
            <a:off x="7560900" y="1822701"/>
            <a:ext cx="1084466" cy="168021"/>
          </a:xfrm>
          <a:prstGeom prst="roundRect">
            <a:avLst>
              <a:gd name="adj" fmla="val 5663265"/>
            </a:avLst>
          </a:prstGeom>
          <a:solidFill>
            <a:srgbClr val="FFF1EC"/>
          </a:solidFill>
          <a:ln/>
        </p:spPr>
        <p:txBody>
          <a:bodyPr wrap="square" rtlCol="0" anchor="ctr"/>
          <a:lstStyle/>
          <a:p>
            <a:pPr marL="0" indent="0">
              <a:buNone/>
            </a:pPr>
            <a:endParaRPr lang="en-US" dirty="0"/>
          </a:p>
        </p:txBody>
      </p:sp>
      <p:sp>
        <p:nvSpPr>
          <p:cNvPr id="46" name="Text 44"/>
          <p:cNvSpPr/>
          <p:nvPr/>
        </p:nvSpPr>
        <p:spPr>
          <a:xfrm>
            <a:off x="7583760" y="1831702"/>
            <a:ext cx="1038746" cy="150019"/>
          </a:xfrm>
          <a:prstGeom prst="rect">
            <a:avLst/>
          </a:prstGeom>
          <a:noFill/>
          <a:ln/>
        </p:spPr>
        <p:txBody>
          <a:bodyPr wrap="none" lIns="0" tIns="0" rIns="0" bIns="0" rtlCol="0" anchor="ctr"/>
          <a:lstStyle/>
          <a:p>
            <a:pPr marL="0" indent="0" algn="ctr">
              <a:lnSpc>
                <a:spcPts val="844"/>
              </a:lnSpc>
              <a:buNone/>
            </a:pPr>
            <a:r>
              <a:rPr lang="en-US" sz="800" kern="0" spc="23" dirty="0">
                <a:solidFill>
                  <a:srgbClr val="E4541F"/>
                </a:solidFill>
                <a:latin typeface="Carlito" pitchFamily="34" charset="0"/>
                <a:ea typeface="Carlito" pitchFamily="34" charset="-122"/>
                <a:cs typeface="Carlito" pitchFamily="34" charset="-120"/>
              </a:rPr>
              <a:t>BEHAVIOR ANALYTICS</a:t>
            </a:r>
            <a:endParaRPr lang="en-US" sz="800" dirty="0"/>
          </a:p>
        </p:txBody>
      </p:sp>
      <p:sp>
        <p:nvSpPr>
          <p:cNvPr id="47" name="Text 45"/>
          <p:cNvSpPr/>
          <p:nvPr/>
        </p:nvSpPr>
        <p:spPr>
          <a:xfrm>
            <a:off x="6172200" y="2085305"/>
            <a:ext cx="2560034" cy="154305"/>
          </a:xfrm>
          <a:prstGeom prst="rect">
            <a:avLst/>
          </a:prstGeom>
          <a:noFill/>
          <a:ln/>
        </p:spPr>
        <p:txBody>
          <a:bodyPr wrap="square" lIns="0" tIns="0" rIns="0" bIns="0" rtlCol="0" anchor="t"/>
          <a:lstStyle/>
          <a:p>
            <a:pPr marL="0" indent="0" algn="l">
              <a:lnSpc>
                <a:spcPts val="1125"/>
              </a:lnSpc>
              <a:buNone/>
            </a:pPr>
            <a:r>
              <a:rPr lang="en-US" sz="900" b="1" kern="0" spc="-9" dirty="0">
                <a:solidFill>
                  <a:srgbClr val="0F172A"/>
                </a:solidFill>
                <a:latin typeface="Carlito" pitchFamily="34" charset="0"/>
                <a:ea typeface="Carlito" pitchFamily="34" charset="-122"/>
                <a:cs typeface="Carlito" pitchFamily="34" charset="-120"/>
              </a:rPr>
              <a:t>Customer Behavior Analytics</a:t>
            </a:r>
            <a:endParaRPr lang="en-US" sz="900" dirty="0"/>
          </a:p>
        </p:txBody>
      </p:sp>
      <p:sp>
        <p:nvSpPr>
          <p:cNvPr id="48" name="Text 46"/>
          <p:cNvSpPr/>
          <p:nvPr/>
        </p:nvSpPr>
        <p:spPr>
          <a:xfrm>
            <a:off x="6172200" y="2285330"/>
            <a:ext cx="2450306" cy="1249513"/>
          </a:xfrm>
          <a:prstGeom prst="rect">
            <a:avLst/>
          </a:prstGeom>
          <a:noFill/>
          <a:ln/>
        </p:spPr>
        <p:txBody>
          <a:bodyPr wrap="square" lIns="0" tIns="0" rIns="0" bIns="0" rtlCol="0" anchor="t">
            <a:normAutofit/>
          </a:bodyPr>
          <a:lstStyle/>
          <a:p>
            <a:pPr marL="0" indent="0" algn="l">
              <a:lnSpc>
                <a:spcPts val="1055"/>
              </a:lnSpc>
              <a:buNone/>
            </a:pPr>
            <a:r>
              <a:rPr lang="en-US" sz="800" dirty="0">
                <a:solidFill>
                  <a:srgbClr val="334155"/>
                </a:solidFill>
                <a:latin typeface="Carlito" pitchFamily="34" charset="0"/>
                <a:ea typeface="Carlito" pitchFamily="34" charset="-122"/>
                <a:cs typeface="Carlito" pitchFamily="34" charset="-120"/>
              </a:rPr>
              <a:t>The admin dashboard aggregates order events into behavioral cohorts: first-time vs repeat customers, average time-to-reorder, top combinations by frequency, and churn-risk flags based on declining order cadence. These insights are computed nightly via a Spring Batch job and materialized into a denormalized analytics table that the dashboard queries directly, keeping admin UI response times under 200ms.</a:t>
            </a:r>
            <a:endParaRPr lang="en-US" sz="800" dirty="0"/>
          </a:p>
        </p:txBody>
      </p:sp>
      <p:sp>
        <p:nvSpPr>
          <p:cNvPr id="49" name="Shape 47"/>
          <p:cNvSpPr/>
          <p:nvPr/>
        </p:nvSpPr>
        <p:spPr>
          <a:xfrm>
            <a:off x="6172200" y="3565847"/>
            <a:ext cx="2450306" cy="0"/>
          </a:xfrm>
          <a:prstGeom prst="line">
            <a:avLst/>
          </a:prstGeom>
          <a:noFill/>
          <a:ln w="7144">
            <a:solidFill>
              <a:srgbClr val="E2E8F0"/>
            </a:solidFill>
            <a:prstDash val="solid"/>
          </a:ln>
        </p:spPr>
      </p:sp>
      <p:sp>
        <p:nvSpPr>
          <p:cNvPr id="50" name="Text 48"/>
          <p:cNvSpPr/>
          <p:nvPr/>
        </p:nvSpPr>
        <p:spPr>
          <a:xfrm>
            <a:off x="6172200" y="3626569"/>
            <a:ext cx="171450" cy="14288"/>
          </a:xfrm>
          <a:prstGeom prst="roundRect">
            <a:avLst>
              <a:gd name="adj" fmla="val 133329"/>
            </a:avLst>
          </a:prstGeom>
          <a:solidFill>
            <a:srgbClr val="FF6B35"/>
          </a:solidFill>
          <a:ln/>
        </p:spPr>
        <p:txBody>
          <a:bodyPr wrap="square" rtlCol="0" anchor="ctr"/>
          <a:lstStyle/>
          <a:p>
            <a:pPr marL="0" indent="0">
              <a:buNone/>
            </a:pPr>
            <a:endParaRPr lang="en-US" dirty="0"/>
          </a:p>
        </p:txBody>
      </p:sp>
      <p:sp>
        <p:nvSpPr>
          <p:cNvPr id="51" name="Text 49"/>
          <p:cNvSpPr/>
          <p:nvPr/>
        </p:nvSpPr>
        <p:spPr>
          <a:xfrm>
            <a:off x="6172200" y="3683719"/>
            <a:ext cx="2450306" cy="101156"/>
          </a:xfrm>
          <a:prstGeom prst="rect">
            <a:avLst/>
          </a:prstGeom>
          <a:noFill/>
          <a:ln/>
        </p:spPr>
        <p:txBody>
          <a:bodyPr wrap="none" lIns="0" tIns="0" rIns="0" bIns="0" rtlCol="0" anchor="t">
            <a:normAutofit fontScale="77500" lnSpcReduction="20000"/>
          </a:bodyPr>
          <a:lstStyle/>
          <a:p>
            <a:pPr marL="0" indent="0" algn="l">
              <a:lnSpc>
                <a:spcPts val="844"/>
              </a:lnSpc>
              <a:buNone/>
            </a:pPr>
            <a:r>
              <a:rPr lang="en-US" sz="800" b="1" kern="0" spc="68" dirty="0">
                <a:solidFill>
                  <a:srgbClr val="64748B"/>
                </a:solidFill>
                <a:latin typeface="Carlito" pitchFamily="34" charset="0"/>
                <a:ea typeface="Carlito" pitchFamily="34" charset="-122"/>
                <a:cs typeface="Carlito" pitchFamily="34" charset="-120"/>
              </a:rPr>
              <a:t>HOW IT WORKS</a:t>
            </a:r>
            <a:endParaRPr lang="en-US" sz="800" dirty="0"/>
          </a:p>
        </p:txBody>
      </p:sp>
      <p:sp>
        <p:nvSpPr>
          <p:cNvPr id="52" name="Text 50"/>
          <p:cNvSpPr/>
          <p:nvPr/>
        </p:nvSpPr>
        <p:spPr>
          <a:xfrm>
            <a:off x="6172200" y="3812307"/>
            <a:ext cx="2450306" cy="229939"/>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Order events → Spring Batch nightly job → analytics table → admin dashboard queries</a:t>
            </a:r>
            <a:endParaRPr lang="en-US" sz="800" dirty="0"/>
          </a:p>
        </p:txBody>
      </p:sp>
      <p:sp>
        <p:nvSpPr>
          <p:cNvPr id="54" name="Text 51"/>
          <p:cNvSpPr/>
          <p:nvPr/>
        </p:nvSpPr>
        <p:spPr>
          <a:xfrm>
            <a:off x="3594088" y="4697016"/>
            <a:ext cx="2112170" cy="164592"/>
          </a:xfrm>
          <a:prstGeom prst="rect">
            <a:avLst/>
          </a:prstGeom>
          <a:noFill/>
          <a:ln/>
        </p:spPr>
        <p:txBody>
          <a:bodyPr wrap="square" lIns="0" tIns="0" rIns="0" bIns="0" rtlCol="0" anchor="t"/>
          <a:lstStyle/>
          <a:p>
            <a:pPr marL="0" indent="0" algn="l">
              <a:lnSpc>
                <a:spcPts val="928"/>
              </a:lnSpc>
              <a:buNone/>
            </a:pPr>
            <a:r>
              <a:rPr lang="en-US" sz="800" i="1" kern="0" spc="6" dirty="0">
                <a:solidFill>
                  <a:srgbClr val="64748B"/>
                </a:solidFill>
                <a:latin typeface="Carlito" pitchFamily="34" charset="0"/>
                <a:ea typeface="Carlito" pitchFamily="34" charset="-122"/>
                <a:cs typeface="Carlito" pitchFamily="34" charset="-120"/>
              </a:rPr>
              <a:t>Recommendation graph: user × item × attribute</a:t>
            </a:r>
            <a:endParaRPr lang="en-US" sz="800" dirty="0"/>
          </a:p>
        </p:txBody>
      </p:sp>
      <p:sp>
        <p:nvSpPr>
          <p:cNvPr id="55" name="Text 52"/>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56" name="Shape 53"/>
          <p:cNvSpPr/>
          <p:nvPr/>
        </p:nvSpPr>
        <p:spPr>
          <a:xfrm>
            <a:off x="0" y="4947047"/>
            <a:ext cx="9144000" cy="0"/>
          </a:xfrm>
          <a:prstGeom prst="line">
            <a:avLst/>
          </a:prstGeom>
          <a:noFill/>
          <a:ln w="7144">
            <a:solidFill>
              <a:srgbClr val="E2E8F0"/>
            </a:solidFill>
            <a:prstDash val="solid"/>
          </a:ln>
        </p:spPr>
      </p:sp>
      <p:sp>
        <p:nvSpPr>
          <p:cNvPr id="57" name="Text 54"/>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58" name="Text 55"/>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4415671"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REFLECTION</a:t>
            </a:r>
            <a:endParaRPr lang="en-US" sz="800" dirty="0"/>
          </a:p>
        </p:txBody>
      </p:sp>
      <p:sp>
        <p:nvSpPr>
          <p:cNvPr id="5" name="Text 3"/>
          <p:cNvSpPr/>
          <p:nvPr/>
        </p:nvSpPr>
        <p:spPr>
          <a:xfrm>
            <a:off x="400050" y="303609"/>
            <a:ext cx="3637017" cy="246459"/>
          </a:xfrm>
          <a:prstGeom prst="rect">
            <a:avLst/>
          </a:prstGeom>
          <a:noFill/>
          <a:ln/>
        </p:spPr>
        <p:txBody>
          <a:bodyPr wrap="squar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Key Highlights &amp; Challenges</a:t>
            </a:r>
            <a:endParaRPr lang="en-US" sz="1688" dirty="0"/>
          </a:p>
        </p:txBody>
      </p:sp>
      <p:sp>
        <p:nvSpPr>
          <p:cNvPr id="6" name="Text 4"/>
          <p:cNvSpPr/>
          <p:nvPr/>
        </p:nvSpPr>
        <p:spPr>
          <a:xfrm>
            <a:off x="7886654" y="214313"/>
            <a:ext cx="857296"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779231" y="353616"/>
            <a:ext cx="96471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13 / 15</a:t>
            </a:r>
            <a:endParaRPr lang="en-US" sz="800" dirty="0"/>
          </a:p>
        </p:txBody>
      </p:sp>
      <p:sp>
        <p:nvSpPr>
          <p:cNvPr id="8" name="Text 6"/>
          <p:cNvSpPr/>
          <p:nvPr/>
        </p:nvSpPr>
        <p:spPr>
          <a:xfrm>
            <a:off x="377190" y="896755"/>
            <a:ext cx="939470" cy="196025"/>
          </a:xfrm>
          <a:prstGeom prst="roundRect">
            <a:avLst>
              <a:gd name="adj" fmla="val 4854215"/>
            </a:avLst>
          </a:prstGeom>
          <a:solidFill>
            <a:srgbClr val="DCFCE7"/>
          </a:solidFill>
          <a:ln/>
        </p:spPr>
        <p:txBody>
          <a:bodyPr wrap="square" rtlCol="0" anchor="ctr"/>
          <a:lstStyle/>
          <a:p>
            <a:pPr marL="0" indent="0">
              <a:buNone/>
            </a:pPr>
            <a:endParaRPr lang="en-US" dirty="0"/>
          </a:p>
        </p:txBody>
      </p:sp>
      <p:sp>
        <p:nvSpPr>
          <p:cNvPr id="9" name="Text 7"/>
          <p:cNvSpPr/>
          <p:nvPr/>
        </p:nvSpPr>
        <p:spPr>
          <a:xfrm>
            <a:off x="614363" y="942975"/>
            <a:ext cx="608000" cy="92869"/>
          </a:xfrm>
          <a:prstGeom prst="rect">
            <a:avLst/>
          </a:prstGeom>
          <a:noFill/>
          <a:ln/>
        </p:spPr>
        <p:txBody>
          <a:bodyPr wrap="none" lIns="0" tIns="0" rIns="0" bIns="0" rtlCol="0" anchor="ctr"/>
          <a:lstStyle/>
          <a:p>
            <a:pPr marL="0" indent="0" algn="ctr">
              <a:lnSpc>
                <a:spcPts val="928"/>
              </a:lnSpc>
              <a:buNone/>
            </a:pPr>
            <a:r>
              <a:rPr lang="en-US" sz="800" b="1" kern="0" spc="50" dirty="0">
                <a:solidFill>
                  <a:srgbClr val="15803D"/>
                </a:solidFill>
                <a:latin typeface="Carlito" pitchFamily="34" charset="0"/>
                <a:ea typeface="Carlito" pitchFamily="34" charset="-122"/>
                <a:cs typeface="Carlito" pitchFamily="34" charset="-120"/>
              </a:rPr>
              <a:t>HIGHLIGHTS</a:t>
            </a:r>
            <a:endParaRPr lang="en-US" sz="800" dirty="0"/>
          </a:p>
        </p:txBody>
      </p:sp>
      <p:sp>
        <p:nvSpPr>
          <p:cNvPr id="10" name="Text 8"/>
          <p:cNvSpPr/>
          <p:nvPr/>
        </p:nvSpPr>
        <p:spPr>
          <a:xfrm>
            <a:off x="471488" y="944761"/>
            <a:ext cx="100013" cy="100013"/>
          </a:xfrm>
          <a:prstGeom prst="rect">
            <a:avLst/>
          </a:prstGeom>
          <a:noFill/>
          <a:ln/>
        </p:spPr>
        <p:txBody>
          <a:bodyPr wrap="none" lIns="0" tIns="0" rIns="0" bIns="0" rtlCol="0" anchor="ctr"/>
          <a:lstStyle/>
          <a:p>
            <a:pPr marL="0" indent="0" algn="ctr">
              <a:buNone/>
            </a:pPr>
            <a:r>
              <a:rPr lang="en-US" sz="984" dirty="0">
                <a:solidFill>
                  <a:srgbClr val="15803D"/>
                </a:solidFill>
                <a:latin typeface="Segoe UI Symbol" pitchFamily="34" charset="0"/>
                <a:ea typeface="Segoe UI Symbol" pitchFamily="34" charset="-122"/>
                <a:cs typeface="Segoe UI Symbol" pitchFamily="34" charset="-120"/>
              </a:rPr>
              <a:t>★</a:t>
            </a:r>
            <a:endParaRPr lang="en-US" sz="984" dirty="0"/>
          </a:p>
        </p:txBody>
      </p:sp>
      <p:sp>
        <p:nvSpPr>
          <p:cNvPr id="11" name="Text 9"/>
          <p:cNvSpPr/>
          <p:nvPr/>
        </p:nvSpPr>
        <p:spPr>
          <a:xfrm>
            <a:off x="400050" y="1153716"/>
            <a:ext cx="4290536" cy="208312"/>
          </a:xfrm>
          <a:prstGeom prst="rect">
            <a:avLst/>
          </a:prstGeom>
          <a:noFill/>
          <a:ln/>
        </p:spPr>
        <p:txBody>
          <a:bodyPr wrap="none" lIns="0" tIns="0" rIns="0" bIns="0" rtlCol="0" anchor="t"/>
          <a:lstStyle/>
          <a:p>
            <a:pPr marL="0" indent="0" algn="l">
              <a:lnSpc>
                <a:spcPts val="1519"/>
              </a:lnSpc>
              <a:buNone/>
            </a:pPr>
            <a:r>
              <a:rPr lang="en-US" sz="1013" b="1" kern="0" spc="-10" dirty="0">
                <a:solidFill>
                  <a:srgbClr val="0F172A"/>
                </a:solidFill>
                <a:latin typeface="Carlito" pitchFamily="34" charset="0"/>
                <a:ea typeface="Carlito" pitchFamily="34" charset="-122"/>
                <a:cs typeface="Carlito" pitchFamily="34" charset="-120"/>
              </a:rPr>
              <a:t>What worked well</a:t>
            </a:r>
            <a:endParaRPr lang="en-US" sz="1013" dirty="0"/>
          </a:p>
        </p:txBody>
      </p:sp>
      <p:sp>
        <p:nvSpPr>
          <p:cNvPr id="12" name="Text 10"/>
          <p:cNvSpPr/>
          <p:nvPr/>
        </p:nvSpPr>
        <p:spPr>
          <a:xfrm>
            <a:off x="400050" y="1432322"/>
            <a:ext cx="4086225" cy="400050"/>
          </a:xfrm>
          <a:prstGeom prst="roundRect">
            <a:avLst>
              <a:gd name="adj" fmla="val 19048"/>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400050" y="1435894"/>
            <a:ext cx="4086225" cy="0"/>
          </a:xfrm>
          <a:prstGeom prst="line">
            <a:avLst/>
          </a:prstGeom>
          <a:noFill/>
          <a:ln w="7144">
            <a:solidFill>
              <a:srgbClr val="E2E8F0"/>
            </a:solidFill>
            <a:prstDash val="solid"/>
          </a:ln>
        </p:spPr>
      </p:sp>
      <p:sp>
        <p:nvSpPr>
          <p:cNvPr id="14" name="Shape 12"/>
          <p:cNvSpPr/>
          <p:nvPr/>
        </p:nvSpPr>
        <p:spPr>
          <a:xfrm>
            <a:off x="4482703" y="1432322"/>
            <a:ext cx="0" cy="400050"/>
          </a:xfrm>
          <a:prstGeom prst="line">
            <a:avLst/>
          </a:prstGeom>
          <a:noFill/>
          <a:ln w="7144">
            <a:solidFill>
              <a:srgbClr val="E2E8F0"/>
            </a:solidFill>
            <a:prstDash val="solid"/>
          </a:ln>
        </p:spPr>
      </p:sp>
      <p:sp>
        <p:nvSpPr>
          <p:cNvPr id="15" name="Shape 13"/>
          <p:cNvSpPr/>
          <p:nvPr/>
        </p:nvSpPr>
        <p:spPr>
          <a:xfrm>
            <a:off x="400050" y="1828800"/>
            <a:ext cx="4086225" cy="0"/>
          </a:xfrm>
          <a:prstGeom prst="line">
            <a:avLst/>
          </a:prstGeom>
          <a:noFill/>
          <a:ln w="7144">
            <a:solidFill>
              <a:srgbClr val="E2E8F0"/>
            </a:solidFill>
            <a:prstDash val="solid"/>
          </a:ln>
        </p:spPr>
      </p:sp>
      <p:sp>
        <p:nvSpPr>
          <p:cNvPr id="16" name="Shape 14"/>
          <p:cNvSpPr/>
          <p:nvPr/>
        </p:nvSpPr>
        <p:spPr>
          <a:xfrm>
            <a:off x="414338" y="1432322"/>
            <a:ext cx="0" cy="400050"/>
          </a:xfrm>
          <a:prstGeom prst="line">
            <a:avLst/>
          </a:prstGeom>
          <a:noFill/>
          <a:ln w="28575">
            <a:solidFill>
              <a:srgbClr val="FF6B35"/>
            </a:solidFill>
            <a:prstDash val="solid"/>
          </a:ln>
        </p:spPr>
      </p:sp>
      <p:sp>
        <p:nvSpPr>
          <p:cNvPr id="17" name="Text 15"/>
          <p:cNvSpPr/>
          <p:nvPr/>
        </p:nvSpPr>
        <p:spPr>
          <a:xfrm>
            <a:off x="528638" y="1510903"/>
            <a:ext cx="214313" cy="214313"/>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18" name="Text 16"/>
          <p:cNvSpPr/>
          <p:nvPr/>
        </p:nvSpPr>
        <p:spPr>
          <a:xfrm>
            <a:off x="528638" y="15109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E4541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9" name="Text 17"/>
          <p:cNvSpPr/>
          <p:nvPr/>
        </p:nvSpPr>
        <p:spPr>
          <a:xfrm>
            <a:off x="828675" y="1510903"/>
            <a:ext cx="3396277"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End-to-end role-based security</a:t>
            </a:r>
            <a:endParaRPr lang="en-US" sz="800" dirty="0"/>
          </a:p>
        </p:txBody>
      </p:sp>
      <p:sp>
        <p:nvSpPr>
          <p:cNvPr id="20" name="Text 18"/>
          <p:cNvSpPr/>
          <p:nvPr/>
        </p:nvSpPr>
        <p:spPr>
          <a:xfrm>
            <a:off x="828675" y="1638598"/>
            <a:ext cx="3144701"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JWT + Spring Security cleanly separated Customer/Admin/Delivery concerns</a:t>
            </a:r>
            <a:endParaRPr lang="en-US" sz="800" dirty="0"/>
          </a:p>
        </p:txBody>
      </p:sp>
      <p:sp>
        <p:nvSpPr>
          <p:cNvPr id="21" name="Text 19"/>
          <p:cNvSpPr/>
          <p:nvPr/>
        </p:nvSpPr>
        <p:spPr>
          <a:xfrm>
            <a:off x="400050" y="1889522"/>
            <a:ext cx="4086225" cy="400050"/>
          </a:xfrm>
          <a:prstGeom prst="roundRect">
            <a:avLst>
              <a:gd name="adj" fmla="val 19048"/>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400050" y="1893094"/>
            <a:ext cx="4086225" cy="0"/>
          </a:xfrm>
          <a:prstGeom prst="line">
            <a:avLst/>
          </a:prstGeom>
          <a:noFill/>
          <a:ln w="7144">
            <a:solidFill>
              <a:srgbClr val="E2E8F0"/>
            </a:solidFill>
            <a:prstDash val="solid"/>
          </a:ln>
        </p:spPr>
      </p:sp>
      <p:sp>
        <p:nvSpPr>
          <p:cNvPr id="23" name="Shape 21"/>
          <p:cNvSpPr/>
          <p:nvPr/>
        </p:nvSpPr>
        <p:spPr>
          <a:xfrm>
            <a:off x="4482703" y="1889522"/>
            <a:ext cx="0" cy="400050"/>
          </a:xfrm>
          <a:prstGeom prst="line">
            <a:avLst/>
          </a:prstGeom>
          <a:noFill/>
          <a:ln w="7144">
            <a:solidFill>
              <a:srgbClr val="E2E8F0"/>
            </a:solidFill>
            <a:prstDash val="solid"/>
          </a:ln>
        </p:spPr>
      </p:sp>
      <p:sp>
        <p:nvSpPr>
          <p:cNvPr id="24" name="Shape 22"/>
          <p:cNvSpPr/>
          <p:nvPr/>
        </p:nvSpPr>
        <p:spPr>
          <a:xfrm>
            <a:off x="400050" y="2286000"/>
            <a:ext cx="4086225" cy="0"/>
          </a:xfrm>
          <a:prstGeom prst="line">
            <a:avLst/>
          </a:prstGeom>
          <a:noFill/>
          <a:ln w="7144">
            <a:solidFill>
              <a:srgbClr val="E2E8F0"/>
            </a:solidFill>
            <a:prstDash val="solid"/>
          </a:ln>
        </p:spPr>
      </p:sp>
      <p:sp>
        <p:nvSpPr>
          <p:cNvPr id="25" name="Shape 23"/>
          <p:cNvSpPr/>
          <p:nvPr/>
        </p:nvSpPr>
        <p:spPr>
          <a:xfrm>
            <a:off x="414338" y="1889522"/>
            <a:ext cx="0" cy="400050"/>
          </a:xfrm>
          <a:prstGeom prst="line">
            <a:avLst/>
          </a:prstGeom>
          <a:noFill/>
          <a:ln w="28575">
            <a:solidFill>
              <a:srgbClr val="FF6B35"/>
            </a:solidFill>
            <a:prstDash val="solid"/>
          </a:ln>
        </p:spPr>
      </p:sp>
      <p:sp>
        <p:nvSpPr>
          <p:cNvPr id="26" name="Text 24"/>
          <p:cNvSpPr/>
          <p:nvPr/>
        </p:nvSpPr>
        <p:spPr>
          <a:xfrm>
            <a:off x="528638" y="1968103"/>
            <a:ext cx="214313" cy="214313"/>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27" name="Text 25"/>
          <p:cNvSpPr/>
          <p:nvPr/>
        </p:nvSpPr>
        <p:spPr>
          <a:xfrm>
            <a:off x="528638" y="19681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E4541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8" name="Text 26"/>
          <p:cNvSpPr/>
          <p:nvPr/>
        </p:nvSpPr>
        <p:spPr>
          <a:xfrm>
            <a:off x="828675" y="1968103"/>
            <a:ext cx="3044148"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AI in the cart, not as a chatbot</a:t>
            </a:r>
            <a:endParaRPr lang="en-US" sz="800" dirty="0"/>
          </a:p>
        </p:txBody>
      </p:sp>
      <p:sp>
        <p:nvSpPr>
          <p:cNvPr id="29" name="Text 27"/>
          <p:cNvSpPr/>
          <p:nvPr/>
        </p:nvSpPr>
        <p:spPr>
          <a:xfrm>
            <a:off x="828675" y="2095798"/>
            <a:ext cx="2818656"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Azure OpenAI recommendations drive measurable upsell conversion</a:t>
            </a:r>
            <a:endParaRPr lang="en-US" sz="800" dirty="0"/>
          </a:p>
        </p:txBody>
      </p:sp>
      <p:sp>
        <p:nvSpPr>
          <p:cNvPr id="30" name="Text 28"/>
          <p:cNvSpPr/>
          <p:nvPr/>
        </p:nvSpPr>
        <p:spPr>
          <a:xfrm>
            <a:off x="400050" y="2346722"/>
            <a:ext cx="4086225" cy="400050"/>
          </a:xfrm>
          <a:prstGeom prst="roundRect">
            <a:avLst>
              <a:gd name="adj" fmla="val 19048"/>
            </a:avLst>
          </a:prstGeom>
          <a:solidFill>
            <a:srgbClr val="FFFFFF"/>
          </a:solidFill>
          <a:ln/>
        </p:spPr>
        <p:txBody>
          <a:bodyPr wrap="square" rtlCol="0" anchor="ctr"/>
          <a:lstStyle/>
          <a:p>
            <a:pPr marL="0" indent="0">
              <a:buNone/>
            </a:pPr>
            <a:endParaRPr lang="en-US" dirty="0"/>
          </a:p>
        </p:txBody>
      </p:sp>
      <p:sp>
        <p:nvSpPr>
          <p:cNvPr id="31" name="Shape 29"/>
          <p:cNvSpPr/>
          <p:nvPr/>
        </p:nvSpPr>
        <p:spPr>
          <a:xfrm>
            <a:off x="400050" y="2350294"/>
            <a:ext cx="4086225" cy="0"/>
          </a:xfrm>
          <a:prstGeom prst="line">
            <a:avLst/>
          </a:prstGeom>
          <a:noFill/>
          <a:ln w="7144">
            <a:solidFill>
              <a:srgbClr val="E2E8F0"/>
            </a:solidFill>
            <a:prstDash val="solid"/>
          </a:ln>
        </p:spPr>
      </p:sp>
      <p:sp>
        <p:nvSpPr>
          <p:cNvPr id="32" name="Shape 30"/>
          <p:cNvSpPr/>
          <p:nvPr/>
        </p:nvSpPr>
        <p:spPr>
          <a:xfrm>
            <a:off x="4482703" y="2346722"/>
            <a:ext cx="0" cy="400050"/>
          </a:xfrm>
          <a:prstGeom prst="line">
            <a:avLst/>
          </a:prstGeom>
          <a:noFill/>
          <a:ln w="7144">
            <a:solidFill>
              <a:srgbClr val="E2E8F0"/>
            </a:solidFill>
            <a:prstDash val="solid"/>
          </a:ln>
        </p:spPr>
      </p:sp>
      <p:sp>
        <p:nvSpPr>
          <p:cNvPr id="33" name="Shape 31"/>
          <p:cNvSpPr/>
          <p:nvPr/>
        </p:nvSpPr>
        <p:spPr>
          <a:xfrm>
            <a:off x="400050" y="2743200"/>
            <a:ext cx="4086225" cy="0"/>
          </a:xfrm>
          <a:prstGeom prst="line">
            <a:avLst/>
          </a:prstGeom>
          <a:noFill/>
          <a:ln w="7144">
            <a:solidFill>
              <a:srgbClr val="E2E8F0"/>
            </a:solidFill>
            <a:prstDash val="solid"/>
          </a:ln>
        </p:spPr>
      </p:sp>
      <p:sp>
        <p:nvSpPr>
          <p:cNvPr id="34" name="Shape 32"/>
          <p:cNvSpPr/>
          <p:nvPr/>
        </p:nvSpPr>
        <p:spPr>
          <a:xfrm>
            <a:off x="414338" y="2346722"/>
            <a:ext cx="0" cy="400050"/>
          </a:xfrm>
          <a:prstGeom prst="line">
            <a:avLst/>
          </a:prstGeom>
          <a:noFill/>
          <a:ln w="28575">
            <a:solidFill>
              <a:srgbClr val="FF6B35"/>
            </a:solidFill>
            <a:prstDash val="solid"/>
          </a:ln>
        </p:spPr>
      </p:sp>
      <p:sp>
        <p:nvSpPr>
          <p:cNvPr id="35" name="Text 33"/>
          <p:cNvSpPr/>
          <p:nvPr/>
        </p:nvSpPr>
        <p:spPr>
          <a:xfrm>
            <a:off x="528638" y="2425303"/>
            <a:ext cx="214313" cy="214313"/>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36" name="Text 34"/>
          <p:cNvSpPr/>
          <p:nvPr/>
        </p:nvSpPr>
        <p:spPr>
          <a:xfrm>
            <a:off x="528638" y="24253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E4541F"/>
                </a:solidFill>
                <a:latin typeface="Liberation Sans Narrow" pitchFamily="34" charset="0"/>
                <a:ea typeface="Liberation Sans Narrow" pitchFamily="34" charset="-122"/>
                <a:cs typeface="Liberation Sans Narrow" pitchFamily="34" charset="-120"/>
              </a:rPr>
              <a:t>03</a:t>
            </a:r>
            <a:endParaRPr lang="en-US" sz="800" dirty="0"/>
          </a:p>
        </p:txBody>
      </p:sp>
      <p:sp>
        <p:nvSpPr>
          <p:cNvPr id="37" name="Text 35"/>
          <p:cNvSpPr/>
          <p:nvPr/>
        </p:nvSpPr>
        <p:spPr>
          <a:xfrm>
            <a:off x="828675" y="2425303"/>
            <a:ext cx="3181817"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Liberation Sans Narrow" pitchFamily="34" charset="0"/>
                <a:ea typeface="Liberation Sans Narrow" pitchFamily="34" charset="-122"/>
                <a:cs typeface="Liberation Sans Narrow" pitchFamily="34" charset="-120"/>
              </a:rPr>
              <a:t>15-second live tracking loop</a:t>
            </a:r>
            <a:endParaRPr lang="en-US" sz="800" dirty="0"/>
          </a:p>
        </p:txBody>
      </p:sp>
      <p:sp>
        <p:nvSpPr>
          <p:cNvPr id="38" name="Text 36"/>
          <p:cNvSpPr/>
          <p:nvPr/>
        </p:nvSpPr>
        <p:spPr>
          <a:xfrm>
            <a:off x="828675" y="2552998"/>
            <a:ext cx="2946127"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OSRM + Azure Maps gave customers a transparent delivery experience</a:t>
            </a:r>
            <a:endParaRPr lang="en-US" sz="800" dirty="0"/>
          </a:p>
        </p:txBody>
      </p:sp>
      <p:sp>
        <p:nvSpPr>
          <p:cNvPr id="39" name="Text 37"/>
          <p:cNvSpPr/>
          <p:nvPr/>
        </p:nvSpPr>
        <p:spPr>
          <a:xfrm>
            <a:off x="400050" y="2803922"/>
            <a:ext cx="4086225" cy="400050"/>
          </a:xfrm>
          <a:prstGeom prst="roundRect">
            <a:avLst>
              <a:gd name="adj" fmla="val 19048"/>
            </a:avLst>
          </a:prstGeom>
          <a:solidFill>
            <a:srgbClr val="FFFFFF"/>
          </a:solidFill>
          <a:ln/>
        </p:spPr>
        <p:txBody>
          <a:bodyPr wrap="square" rtlCol="0" anchor="ctr"/>
          <a:lstStyle/>
          <a:p>
            <a:pPr marL="0" indent="0">
              <a:buNone/>
            </a:pPr>
            <a:endParaRPr lang="en-US" dirty="0"/>
          </a:p>
        </p:txBody>
      </p:sp>
      <p:sp>
        <p:nvSpPr>
          <p:cNvPr id="40" name="Shape 38"/>
          <p:cNvSpPr/>
          <p:nvPr/>
        </p:nvSpPr>
        <p:spPr>
          <a:xfrm>
            <a:off x="400050" y="2807494"/>
            <a:ext cx="4086225" cy="0"/>
          </a:xfrm>
          <a:prstGeom prst="line">
            <a:avLst/>
          </a:prstGeom>
          <a:noFill/>
          <a:ln w="7144">
            <a:solidFill>
              <a:srgbClr val="E2E8F0"/>
            </a:solidFill>
            <a:prstDash val="solid"/>
          </a:ln>
        </p:spPr>
      </p:sp>
      <p:sp>
        <p:nvSpPr>
          <p:cNvPr id="41" name="Shape 39"/>
          <p:cNvSpPr/>
          <p:nvPr/>
        </p:nvSpPr>
        <p:spPr>
          <a:xfrm>
            <a:off x="4482703" y="2803922"/>
            <a:ext cx="0" cy="400050"/>
          </a:xfrm>
          <a:prstGeom prst="line">
            <a:avLst/>
          </a:prstGeom>
          <a:noFill/>
          <a:ln w="7144">
            <a:solidFill>
              <a:srgbClr val="E2E8F0"/>
            </a:solidFill>
            <a:prstDash val="solid"/>
          </a:ln>
        </p:spPr>
      </p:sp>
      <p:sp>
        <p:nvSpPr>
          <p:cNvPr id="42" name="Shape 40"/>
          <p:cNvSpPr/>
          <p:nvPr/>
        </p:nvSpPr>
        <p:spPr>
          <a:xfrm>
            <a:off x="400050" y="3200400"/>
            <a:ext cx="4086225" cy="0"/>
          </a:xfrm>
          <a:prstGeom prst="line">
            <a:avLst/>
          </a:prstGeom>
          <a:noFill/>
          <a:ln w="7144">
            <a:solidFill>
              <a:srgbClr val="E2E8F0"/>
            </a:solidFill>
            <a:prstDash val="solid"/>
          </a:ln>
        </p:spPr>
      </p:sp>
      <p:sp>
        <p:nvSpPr>
          <p:cNvPr id="43" name="Shape 41"/>
          <p:cNvSpPr/>
          <p:nvPr/>
        </p:nvSpPr>
        <p:spPr>
          <a:xfrm>
            <a:off x="414338" y="2803922"/>
            <a:ext cx="0" cy="400050"/>
          </a:xfrm>
          <a:prstGeom prst="line">
            <a:avLst/>
          </a:prstGeom>
          <a:noFill/>
          <a:ln w="28575">
            <a:solidFill>
              <a:srgbClr val="FF6B35"/>
            </a:solidFill>
            <a:prstDash val="solid"/>
          </a:ln>
        </p:spPr>
      </p:sp>
      <p:sp>
        <p:nvSpPr>
          <p:cNvPr id="44" name="Text 42"/>
          <p:cNvSpPr/>
          <p:nvPr/>
        </p:nvSpPr>
        <p:spPr>
          <a:xfrm>
            <a:off x="528638" y="2882503"/>
            <a:ext cx="214313" cy="214313"/>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45" name="Text 43"/>
          <p:cNvSpPr/>
          <p:nvPr/>
        </p:nvSpPr>
        <p:spPr>
          <a:xfrm>
            <a:off x="528638" y="28825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E4541F"/>
                </a:solidFill>
                <a:latin typeface="Liberation Sans Narrow" pitchFamily="34" charset="0"/>
                <a:ea typeface="Liberation Sans Narrow" pitchFamily="34" charset="-122"/>
                <a:cs typeface="Liberation Sans Narrow" pitchFamily="34" charset="-120"/>
              </a:rPr>
              <a:t>04</a:t>
            </a:r>
            <a:endParaRPr lang="en-US" sz="800" dirty="0"/>
          </a:p>
        </p:txBody>
      </p:sp>
      <p:sp>
        <p:nvSpPr>
          <p:cNvPr id="46" name="Text 44"/>
          <p:cNvSpPr/>
          <p:nvPr/>
        </p:nvSpPr>
        <p:spPr>
          <a:xfrm>
            <a:off x="828675" y="2882503"/>
            <a:ext cx="3061672" cy="100263"/>
          </a:xfrm>
          <a:prstGeom prst="rect">
            <a:avLst/>
          </a:prstGeom>
          <a:noFill/>
          <a:ln/>
        </p:spPr>
        <p:txBody>
          <a:bodyPr wrap="non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Clean module boundaries</a:t>
            </a:r>
            <a:endParaRPr lang="en-US" sz="800" dirty="0"/>
          </a:p>
        </p:txBody>
      </p:sp>
      <p:sp>
        <p:nvSpPr>
          <p:cNvPr id="47" name="Text 45"/>
          <p:cNvSpPr/>
          <p:nvPr/>
        </p:nvSpPr>
        <p:spPr>
          <a:xfrm>
            <a:off x="828675" y="3010198"/>
            <a:ext cx="2915878"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Six modules, each with its own controller, service, and repository layer</a:t>
            </a:r>
            <a:endParaRPr lang="en-US" sz="800" dirty="0"/>
          </a:p>
        </p:txBody>
      </p:sp>
      <p:sp>
        <p:nvSpPr>
          <p:cNvPr id="48" name="Text 46"/>
          <p:cNvSpPr/>
          <p:nvPr/>
        </p:nvSpPr>
        <p:spPr>
          <a:xfrm>
            <a:off x="400050" y="3261122"/>
            <a:ext cx="4086225" cy="400050"/>
          </a:xfrm>
          <a:prstGeom prst="roundRect">
            <a:avLst>
              <a:gd name="adj" fmla="val 19048"/>
            </a:avLst>
          </a:prstGeom>
          <a:solidFill>
            <a:srgbClr val="FFFFFF"/>
          </a:solidFill>
          <a:ln/>
        </p:spPr>
        <p:txBody>
          <a:bodyPr wrap="square" rtlCol="0" anchor="ctr"/>
          <a:lstStyle/>
          <a:p>
            <a:pPr marL="0" indent="0">
              <a:buNone/>
            </a:pPr>
            <a:endParaRPr lang="en-US" dirty="0"/>
          </a:p>
        </p:txBody>
      </p:sp>
      <p:sp>
        <p:nvSpPr>
          <p:cNvPr id="49" name="Shape 47"/>
          <p:cNvSpPr/>
          <p:nvPr/>
        </p:nvSpPr>
        <p:spPr>
          <a:xfrm>
            <a:off x="400050" y="3264694"/>
            <a:ext cx="4086225" cy="0"/>
          </a:xfrm>
          <a:prstGeom prst="line">
            <a:avLst/>
          </a:prstGeom>
          <a:noFill/>
          <a:ln w="7144">
            <a:solidFill>
              <a:srgbClr val="E2E8F0"/>
            </a:solidFill>
            <a:prstDash val="solid"/>
          </a:ln>
        </p:spPr>
      </p:sp>
      <p:sp>
        <p:nvSpPr>
          <p:cNvPr id="50" name="Shape 48"/>
          <p:cNvSpPr/>
          <p:nvPr/>
        </p:nvSpPr>
        <p:spPr>
          <a:xfrm>
            <a:off x="4482703" y="3261122"/>
            <a:ext cx="0" cy="400050"/>
          </a:xfrm>
          <a:prstGeom prst="line">
            <a:avLst/>
          </a:prstGeom>
          <a:noFill/>
          <a:ln w="7144">
            <a:solidFill>
              <a:srgbClr val="E2E8F0"/>
            </a:solidFill>
            <a:prstDash val="solid"/>
          </a:ln>
        </p:spPr>
      </p:sp>
      <p:sp>
        <p:nvSpPr>
          <p:cNvPr id="51" name="Shape 49"/>
          <p:cNvSpPr/>
          <p:nvPr/>
        </p:nvSpPr>
        <p:spPr>
          <a:xfrm>
            <a:off x="400050" y="3657600"/>
            <a:ext cx="4086225" cy="0"/>
          </a:xfrm>
          <a:prstGeom prst="line">
            <a:avLst/>
          </a:prstGeom>
          <a:noFill/>
          <a:ln w="7144">
            <a:solidFill>
              <a:srgbClr val="E2E8F0"/>
            </a:solidFill>
            <a:prstDash val="solid"/>
          </a:ln>
        </p:spPr>
      </p:sp>
      <p:sp>
        <p:nvSpPr>
          <p:cNvPr id="52" name="Shape 50"/>
          <p:cNvSpPr/>
          <p:nvPr/>
        </p:nvSpPr>
        <p:spPr>
          <a:xfrm>
            <a:off x="414338" y="3261122"/>
            <a:ext cx="0" cy="400050"/>
          </a:xfrm>
          <a:prstGeom prst="line">
            <a:avLst/>
          </a:prstGeom>
          <a:noFill/>
          <a:ln w="28575">
            <a:solidFill>
              <a:srgbClr val="FF6B35"/>
            </a:solidFill>
            <a:prstDash val="solid"/>
          </a:ln>
        </p:spPr>
      </p:sp>
      <p:sp>
        <p:nvSpPr>
          <p:cNvPr id="53" name="Text 51"/>
          <p:cNvSpPr/>
          <p:nvPr/>
        </p:nvSpPr>
        <p:spPr>
          <a:xfrm>
            <a:off x="528638" y="3339703"/>
            <a:ext cx="214313" cy="214313"/>
          </a:xfrm>
          <a:prstGeom prst="roundRect">
            <a:avLst>
              <a:gd name="adj" fmla="val 26667"/>
            </a:avLst>
          </a:prstGeom>
          <a:solidFill>
            <a:srgbClr val="FFF1EC"/>
          </a:solidFill>
          <a:ln/>
        </p:spPr>
        <p:txBody>
          <a:bodyPr wrap="square" rtlCol="0" anchor="ctr"/>
          <a:lstStyle/>
          <a:p>
            <a:pPr marL="0" indent="0">
              <a:buNone/>
            </a:pPr>
            <a:endParaRPr lang="en-US" dirty="0"/>
          </a:p>
        </p:txBody>
      </p:sp>
      <p:sp>
        <p:nvSpPr>
          <p:cNvPr id="54" name="Text 52"/>
          <p:cNvSpPr/>
          <p:nvPr/>
        </p:nvSpPr>
        <p:spPr>
          <a:xfrm>
            <a:off x="528638" y="33397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E4541F"/>
                </a:solidFill>
                <a:latin typeface="Liberation Sans Narrow" pitchFamily="34" charset="0"/>
                <a:ea typeface="Liberation Sans Narrow" pitchFamily="34" charset="-122"/>
                <a:cs typeface="Liberation Sans Narrow" pitchFamily="34" charset="-120"/>
              </a:rPr>
              <a:t>05</a:t>
            </a:r>
            <a:endParaRPr lang="en-US" sz="800" dirty="0"/>
          </a:p>
        </p:txBody>
      </p:sp>
      <p:sp>
        <p:nvSpPr>
          <p:cNvPr id="55" name="Text 53"/>
          <p:cNvSpPr/>
          <p:nvPr/>
        </p:nvSpPr>
        <p:spPr>
          <a:xfrm>
            <a:off x="828675" y="3339703"/>
            <a:ext cx="2786411"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Razorpay webhook reliability</a:t>
            </a:r>
            <a:endParaRPr lang="en-US" sz="800" dirty="0"/>
          </a:p>
        </p:txBody>
      </p:sp>
      <p:sp>
        <p:nvSpPr>
          <p:cNvPr id="56" name="Text 54"/>
          <p:cNvSpPr/>
          <p:nvPr/>
        </p:nvSpPr>
        <p:spPr>
          <a:xfrm>
            <a:off x="828675" y="3467398"/>
            <a:ext cx="2580010"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Idempotent payment confirmation handled edge cases cleanly</a:t>
            </a:r>
            <a:endParaRPr lang="en-US" sz="800" dirty="0"/>
          </a:p>
        </p:txBody>
      </p:sp>
      <p:sp>
        <p:nvSpPr>
          <p:cNvPr id="57" name="Text 55"/>
          <p:cNvSpPr/>
          <p:nvPr/>
        </p:nvSpPr>
        <p:spPr>
          <a:xfrm>
            <a:off x="4634865" y="896755"/>
            <a:ext cx="972956" cy="196025"/>
          </a:xfrm>
          <a:prstGeom prst="roundRect">
            <a:avLst>
              <a:gd name="adj" fmla="val 4854215"/>
            </a:avLst>
          </a:prstGeom>
          <a:solidFill>
            <a:srgbClr val="FEF3C7"/>
          </a:solidFill>
          <a:ln/>
        </p:spPr>
        <p:txBody>
          <a:bodyPr wrap="square" rtlCol="0" anchor="ctr"/>
          <a:lstStyle/>
          <a:p>
            <a:pPr marL="0" indent="0">
              <a:buNone/>
            </a:pPr>
            <a:endParaRPr lang="en-US" dirty="0"/>
          </a:p>
        </p:txBody>
      </p:sp>
      <p:sp>
        <p:nvSpPr>
          <p:cNvPr id="58" name="Text 56"/>
          <p:cNvSpPr/>
          <p:nvPr/>
        </p:nvSpPr>
        <p:spPr>
          <a:xfrm>
            <a:off x="4872038" y="942975"/>
            <a:ext cx="641486" cy="92869"/>
          </a:xfrm>
          <a:prstGeom prst="rect">
            <a:avLst/>
          </a:prstGeom>
          <a:noFill/>
          <a:ln/>
        </p:spPr>
        <p:txBody>
          <a:bodyPr wrap="none" lIns="0" tIns="0" rIns="0" bIns="0" rtlCol="0" anchor="ctr"/>
          <a:lstStyle/>
          <a:p>
            <a:pPr marL="0" indent="0" algn="ctr">
              <a:lnSpc>
                <a:spcPts val="928"/>
              </a:lnSpc>
              <a:buNone/>
            </a:pPr>
            <a:r>
              <a:rPr lang="en-US" sz="800" b="1" kern="0" spc="50" dirty="0">
                <a:solidFill>
                  <a:srgbClr val="B45309"/>
                </a:solidFill>
                <a:latin typeface="Carlito" pitchFamily="34" charset="0"/>
                <a:ea typeface="Carlito" pitchFamily="34" charset="-122"/>
                <a:cs typeface="Carlito" pitchFamily="34" charset="-120"/>
              </a:rPr>
              <a:t>CHALLENGES</a:t>
            </a:r>
            <a:endParaRPr lang="en-US" sz="800" dirty="0"/>
          </a:p>
        </p:txBody>
      </p:sp>
      <p:sp>
        <p:nvSpPr>
          <p:cNvPr id="59" name="Text 57"/>
          <p:cNvSpPr/>
          <p:nvPr/>
        </p:nvSpPr>
        <p:spPr>
          <a:xfrm>
            <a:off x="4729163" y="944761"/>
            <a:ext cx="100013" cy="100013"/>
          </a:xfrm>
          <a:prstGeom prst="rect">
            <a:avLst/>
          </a:prstGeom>
          <a:noFill/>
          <a:ln/>
        </p:spPr>
        <p:txBody>
          <a:bodyPr wrap="none" lIns="0" tIns="0" rIns="0" bIns="0" rtlCol="0" anchor="ctr"/>
          <a:lstStyle/>
          <a:p>
            <a:pPr marL="0" indent="0" algn="ctr">
              <a:buNone/>
            </a:pPr>
            <a:r>
              <a:rPr lang="en-US" sz="984" dirty="0">
                <a:solidFill>
                  <a:srgbClr val="B45309"/>
                </a:solidFill>
                <a:latin typeface="Segoe UI Symbol" pitchFamily="34" charset="0"/>
                <a:ea typeface="Segoe UI Symbol" pitchFamily="34" charset="-122"/>
                <a:cs typeface="Segoe UI Symbol" pitchFamily="34" charset="-120"/>
              </a:rPr>
              <a:t>⚠</a:t>
            </a:r>
            <a:endParaRPr lang="en-US" sz="984" dirty="0"/>
          </a:p>
        </p:txBody>
      </p:sp>
      <p:sp>
        <p:nvSpPr>
          <p:cNvPr id="60" name="Text 58"/>
          <p:cNvSpPr/>
          <p:nvPr/>
        </p:nvSpPr>
        <p:spPr>
          <a:xfrm>
            <a:off x="4657725" y="1153716"/>
            <a:ext cx="4290536" cy="208312"/>
          </a:xfrm>
          <a:prstGeom prst="rect">
            <a:avLst/>
          </a:prstGeom>
          <a:noFill/>
          <a:ln/>
        </p:spPr>
        <p:txBody>
          <a:bodyPr wrap="none" lIns="0" tIns="0" rIns="0" bIns="0" rtlCol="0" anchor="t"/>
          <a:lstStyle/>
          <a:p>
            <a:pPr marL="0" indent="0" algn="l">
              <a:lnSpc>
                <a:spcPts val="1519"/>
              </a:lnSpc>
              <a:buNone/>
            </a:pPr>
            <a:r>
              <a:rPr lang="en-US" sz="1013" b="1" kern="0" spc="-10" dirty="0">
                <a:solidFill>
                  <a:srgbClr val="0F172A"/>
                </a:solidFill>
                <a:latin typeface="Carlito" pitchFamily="34" charset="0"/>
                <a:ea typeface="Carlito" pitchFamily="34" charset="-122"/>
                <a:cs typeface="Carlito" pitchFamily="34" charset="-120"/>
              </a:rPr>
              <a:t>What pushed back</a:t>
            </a:r>
            <a:endParaRPr lang="en-US" sz="1013" dirty="0"/>
          </a:p>
        </p:txBody>
      </p:sp>
      <p:sp>
        <p:nvSpPr>
          <p:cNvPr id="61" name="Text 59"/>
          <p:cNvSpPr/>
          <p:nvPr/>
        </p:nvSpPr>
        <p:spPr>
          <a:xfrm>
            <a:off x="4657725" y="1432322"/>
            <a:ext cx="4086225" cy="400050"/>
          </a:xfrm>
          <a:prstGeom prst="roundRect">
            <a:avLst>
              <a:gd name="adj" fmla="val 28571"/>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62" name="Shape 60"/>
          <p:cNvSpPr/>
          <p:nvPr/>
        </p:nvSpPr>
        <p:spPr>
          <a:xfrm>
            <a:off x="4657725" y="1435894"/>
            <a:ext cx="4086225" cy="0"/>
          </a:xfrm>
          <a:prstGeom prst="line">
            <a:avLst/>
          </a:prstGeom>
          <a:noFill/>
          <a:ln w="7144">
            <a:solidFill>
              <a:srgbClr val="E2E8F0"/>
            </a:solidFill>
            <a:prstDash val="solid"/>
          </a:ln>
        </p:spPr>
      </p:sp>
      <p:sp>
        <p:nvSpPr>
          <p:cNvPr id="63" name="Shape 61"/>
          <p:cNvSpPr/>
          <p:nvPr/>
        </p:nvSpPr>
        <p:spPr>
          <a:xfrm>
            <a:off x="8740378" y="1432322"/>
            <a:ext cx="0" cy="400050"/>
          </a:xfrm>
          <a:prstGeom prst="line">
            <a:avLst/>
          </a:prstGeom>
          <a:noFill/>
          <a:ln w="7144">
            <a:solidFill>
              <a:srgbClr val="E2E8F0"/>
            </a:solidFill>
            <a:prstDash val="solid"/>
          </a:ln>
        </p:spPr>
      </p:sp>
      <p:sp>
        <p:nvSpPr>
          <p:cNvPr id="64" name="Shape 62"/>
          <p:cNvSpPr/>
          <p:nvPr/>
        </p:nvSpPr>
        <p:spPr>
          <a:xfrm>
            <a:off x="4657725" y="1828800"/>
            <a:ext cx="4086225" cy="0"/>
          </a:xfrm>
          <a:prstGeom prst="line">
            <a:avLst/>
          </a:prstGeom>
          <a:noFill/>
          <a:ln w="7144">
            <a:solidFill>
              <a:srgbClr val="E2E8F0"/>
            </a:solidFill>
            <a:prstDash val="solid"/>
          </a:ln>
        </p:spPr>
      </p:sp>
      <p:sp>
        <p:nvSpPr>
          <p:cNvPr id="65" name="Shape 63"/>
          <p:cNvSpPr/>
          <p:nvPr/>
        </p:nvSpPr>
        <p:spPr>
          <a:xfrm>
            <a:off x="4672013" y="1432322"/>
            <a:ext cx="0" cy="400050"/>
          </a:xfrm>
          <a:prstGeom prst="line">
            <a:avLst/>
          </a:prstGeom>
          <a:noFill/>
          <a:ln w="28575">
            <a:solidFill>
              <a:srgbClr val="F59E0B"/>
            </a:solidFill>
            <a:prstDash val="solid"/>
          </a:ln>
        </p:spPr>
      </p:sp>
      <p:sp>
        <p:nvSpPr>
          <p:cNvPr id="66" name="Text 64"/>
          <p:cNvSpPr/>
          <p:nvPr/>
        </p:nvSpPr>
        <p:spPr>
          <a:xfrm>
            <a:off x="4786313" y="1510903"/>
            <a:ext cx="214313" cy="214313"/>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67" name="Text 65"/>
          <p:cNvSpPr/>
          <p:nvPr/>
        </p:nvSpPr>
        <p:spPr>
          <a:xfrm>
            <a:off x="4786313" y="15109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B45309"/>
                </a:solidFill>
                <a:latin typeface="Liberation Sans Narrow" pitchFamily="34" charset="0"/>
                <a:ea typeface="Liberation Sans Narrow" pitchFamily="34" charset="-122"/>
                <a:cs typeface="Liberation Sans Narrow" pitchFamily="34" charset="-120"/>
              </a:rPr>
              <a:t>01</a:t>
            </a:r>
            <a:endParaRPr lang="en-US" sz="800" dirty="0"/>
          </a:p>
        </p:txBody>
      </p:sp>
      <p:sp>
        <p:nvSpPr>
          <p:cNvPr id="68" name="Text 66"/>
          <p:cNvSpPr/>
          <p:nvPr/>
        </p:nvSpPr>
        <p:spPr>
          <a:xfrm>
            <a:off x="5086350" y="1510903"/>
            <a:ext cx="2362434"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OSRM rate limits under load</a:t>
            </a:r>
            <a:endParaRPr lang="en-US" sz="800" dirty="0"/>
          </a:p>
        </p:txBody>
      </p:sp>
      <p:sp>
        <p:nvSpPr>
          <p:cNvPr id="69" name="Text 67"/>
          <p:cNvSpPr/>
          <p:nvPr/>
        </p:nvSpPr>
        <p:spPr>
          <a:xfrm>
            <a:off x="5086350" y="1638598"/>
            <a:ext cx="2187439"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Mitigated by caching route polylines for 30s per rider</a:t>
            </a:r>
            <a:endParaRPr lang="en-US" sz="800" dirty="0"/>
          </a:p>
        </p:txBody>
      </p:sp>
      <p:sp>
        <p:nvSpPr>
          <p:cNvPr id="70" name="Text 68"/>
          <p:cNvSpPr/>
          <p:nvPr/>
        </p:nvSpPr>
        <p:spPr>
          <a:xfrm>
            <a:off x="4657725" y="1889522"/>
            <a:ext cx="4086225" cy="400050"/>
          </a:xfrm>
          <a:prstGeom prst="roundRect">
            <a:avLst>
              <a:gd name="adj" fmla="val 28571"/>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71" name="Shape 69"/>
          <p:cNvSpPr/>
          <p:nvPr/>
        </p:nvSpPr>
        <p:spPr>
          <a:xfrm>
            <a:off x="4657725" y="1893094"/>
            <a:ext cx="4086225" cy="0"/>
          </a:xfrm>
          <a:prstGeom prst="line">
            <a:avLst/>
          </a:prstGeom>
          <a:noFill/>
          <a:ln w="7144">
            <a:solidFill>
              <a:srgbClr val="E2E8F0"/>
            </a:solidFill>
            <a:prstDash val="solid"/>
          </a:ln>
        </p:spPr>
      </p:sp>
      <p:sp>
        <p:nvSpPr>
          <p:cNvPr id="72" name="Shape 70"/>
          <p:cNvSpPr/>
          <p:nvPr/>
        </p:nvSpPr>
        <p:spPr>
          <a:xfrm>
            <a:off x="8740378" y="1889522"/>
            <a:ext cx="0" cy="400050"/>
          </a:xfrm>
          <a:prstGeom prst="line">
            <a:avLst/>
          </a:prstGeom>
          <a:noFill/>
          <a:ln w="7144">
            <a:solidFill>
              <a:srgbClr val="E2E8F0"/>
            </a:solidFill>
            <a:prstDash val="solid"/>
          </a:ln>
        </p:spPr>
      </p:sp>
      <p:sp>
        <p:nvSpPr>
          <p:cNvPr id="73" name="Shape 71"/>
          <p:cNvSpPr/>
          <p:nvPr/>
        </p:nvSpPr>
        <p:spPr>
          <a:xfrm>
            <a:off x="4657725" y="2286000"/>
            <a:ext cx="4086225" cy="0"/>
          </a:xfrm>
          <a:prstGeom prst="line">
            <a:avLst/>
          </a:prstGeom>
          <a:noFill/>
          <a:ln w="7144">
            <a:solidFill>
              <a:srgbClr val="E2E8F0"/>
            </a:solidFill>
            <a:prstDash val="solid"/>
          </a:ln>
        </p:spPr>
      </p:sp>
      <p:sp>
        <p:nvSpPr>
          <p:cNvPr id="74" name="Shape 72"/>
          <p:cNvSpPr/>
          <p:nvPr/>
        </p:nvSpPr>
        <p:spPr>
          <a:xfrm>
            <a:off x="4672013" y="1889522"/>
            <a:ext cx="0" cy="400050"/>
          </a:xfrm>
          <a:prstGeom prst="line">
            <a:avLst/>
          </a:prstGeom>
          <a:noFill/>
          <a:ln w="28575">
            <a:solidFill>
              <a:srgbClr val="F59E0B"/>
            </a:solidFill>
            <a:prstDash val="solid"/>
          </a:ln>
        </p:spPr>
      </p:sp>
      <p:sp>
        <p:nvSpPr>
          <p:cNvPr id="75" name="Text 73"/>
          <p:cNvSpPr/>
          <p:nvPr/>
        </p:nvSpPr>
        <p:spPr>
          <a:xfrm>
            <a:off x="4786313" y="1968103"/>
            <a:ext cx="214313" cy="214313"/>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76" name="Text 74"/>
          <p:cNvSpPr/>
          <p:nvPr/>
        </p:nvSpPr>
        <p:spPr>
          <a:xfrm>
            <a:off x="4786313" y="19681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B45309"/>
                </a:solidFill>
                <a:latin typeface="Liberation Sans Narrow" pitchFamily="34" charset="0"/>
                <a:ea typeface="Liberation Sans Narrow" pitchFamily="34" charset="-122"/>
                <a:cs typeface="Liberation Sans Narrow" pitchFamily="34" charset="-120"/>
              </a:rPr>
              <a:t>02</a:t>
            </a:r>
            <a:endParaRPr lang="en-US" sz="800" dirty="0"/>
          </a:p>
        </p:txBody>
      </p:sp>
      <p:sp>
        <p:nvSpPr>
          <p:cNvPr id="77" name="Text 75"/>
          <p:cNvSpPr/>
          <p:nvPr/>
        </p:nvSpPr>
        <p:spPr>
          <a:xfrm>
            <a:off x="5086350" y="1968103"/>
            <a:ext cx="3166507"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Azure OpenAI prompt latency</a:t>
            </a:r>
            <a:endParaRPr lang="en-US" sz="800" dirty="0"/>
          </a:p>
        </p:txBody>
      </p:sp>
      <p:sp>
        <p:nvSpPr>
          <p:cNvPr id="78" name="Text 76"/>
          <p:cNvSpPr/>
          <p:nvPr/>
        </p:nvSpPr>
        <p:spPr>
          <a:xfrm>
            <a:off x="5086350" y="2095798"/>
            <a:ext cx="2931951"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Brought P95 from 4.2s to 1.1s with prompt compression + 5-min cache</a:t>
            </a:r>
            <a:endParaRPr lang="en-US" sz="800" dirty="0"/>
          </a:p>
        </p:txBody>
      </p:sp>
      <p:sp>
        <p:nvSpPr>
          <p:cNvPr id="79" name="Text 77"/>
          <p:cNvSpPr/>
          <p:nvPr/>
        </p:nvSpPr>
        <p:spPr>
          <a:xfrm>
            <a:off x="4657725" y="2346722"/>
            <a:ext cx="4086225" cy="400050"/>
          </a:xfrm>
          <a:prstGeom prst="roundRect">
            <a:avLst>
              <a:gd name="adj" fmla="val 28571"/>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80" name="Shape 78"/>
          <p:cNvSpPr/>
          <p:nvPr/>
        </p:nvSpPr>
        <p:spPr>
          <a:xfrm>
            <a:off x="4657725" y="2350294"/>
            <a:ext cx="4086225" cy="0"/>
          </a:xfrm>
          <a:prstGeom prst="line">
            <a:avLst/>
          </a:prstGeom>
          <a:noFill/>
          <a:ln w="7144">
            <a:solidFill>
              <a:srgbClr val="E2E8F0"/>
            </a:solidFill>
            <a:prstDash val="solid"/>
          </a:ln>
        </p:spPr>
      </p:sp>
      <p:sp>
        <p:nvSpPr>
          <p:cNvPr id="81" name="Shape 79"/>
          <p:cNvSpPr/>
          <p:nvPr/>
        </p:nvSpPr>
        <p:spPr>
          <a:xfrm>
            <a:off x="8740378" y="2346722"/>
            <a:ext cx="0" cy="400050"/>
          </a:xfrm>
          <a:prstGeom prst="line">
            <a:avLst/>
          </a:prstGeom>
          <a:noFill/>
          <a:ln w="7144">
            <a:solidFill>
              <a:srgbClr val="E2E8F0"/>
            </a:solidFill>
            <a:prstDash val="solid"/>
          </a:ln>
        </p:spPr>
      </p:sp>
      <p:sp>
        <p:nvSpPr>
          <p:cNvPr id="82" name="Shape 80"/>
          <p:cNvSpPr/>
          <p:nvPr/>
        </p:nvSpPr>
        <p:spPr>
          <a:xfrm>
            <a:off x="4657725" y="2743200"/>
            <a:ext cx="4086225" cy="0"/>
          </a:xfrm>
          <a:prstGeom prst="line">
            <a:avLst/>
          </a:prstGeom>
          <a:noFill/>
          <a:ln w="7144">
            <a:solidFill>
              <a:srgbClr val="E2E8F0"/>
            </a:solidFill>
            <a:prstDash val="solid"/>
          </a:ln>
        </p:spPr>
      </p:sp>
      <p:sp>
        <p:nvSpPr>
          <p:cNvPr id="83" name="Shape 81"/>
          <p:cNvSpPr/>
          <p:nvPr/>
        </p:nvSpPr>
        <p:spPr>
          <a:xfrm>
            <a:off x="4672013" y="2346722"/>
            <a:ext cx="0" cy="400050"/>
          </a:xfrm>
          <a:prstGeom prst="line">
            <a:avLst/>
          </a:prstGeom>
          <a:noFill/>
          <a:ln w="28575">
            <a:solidFill>
              <a:srgbClr val="F59E0B"/>
            </a:solidFill>
            <a:prstDash val="solid"/>
          </a:ln>
        </p:spPr>
      </p:sp>
      <p:sp>
        <p:nvSpPr>
          <p:cNvPr id="84" name="Text 82"/>
          <p:cNvSpPr/>
          <p:nvPr/>
        </p:nvSpPr>
        <p:spPr>
          <a:xfrm>
            <a:off x="4786313" y="2425303"/>
            <a:ext cx="214313" cy="214313"/>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85" name="Text 83"/>
          <p:cNvSpPr/>
          <p:nvPr/>
        </p:nvSpPr>
        <p:spPr>
          <a:xfrm>
            <a:off x="4786313" y="24253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B45309"/>
                </a:solidFill>
                <a:latin typeface="Liberation Sans Narrow" pitchFamily="34" charset="0"/>
                <a:ea typeface="Liberation Sans Narrow" pitchFamily="34" charset="-122"/>
                <a:cs typeface="Liberation Sans Narrow" pitchFamily="34" charset="-120"/>
              </a:rPr>
              <a:t>03</a:t>
            </a:r>
            <a:endParaRPr lang="en-US" sz="800" dirty="0"/>
          </a:p>
        </p:txBody>
      </p:sp>
      <p:sp>
        <p:nvSpPr>
          <p:cNvPr id="86" name="Text 84"/>
          <p:cNvSpPr/>
          <p:nvPr/>
        </p:nvSpPr>
        <p:spPr>
          <a:xfrm>
            <a:off x="5086350" y="2425303"/>
            <a:ext cx="2643317"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Coupon stacking edge cases</a:t>
            </a:r>
            <a:endParaRPr lang="en-US" sz="800" dirty="0"/>
          </a:p>
        </p:txBody>
      </p:sp>
      <p:sp>
        <p:nvSpPr>
          <p:cNvPr id="87" name="Text 85"/>
          <p:cNvSpPr/>
          <p:nvPr/>
        </p:nvSpPr>
        <p:spPr>
          <a:xfrm>
            <a:off x="5086350" y="2552998"/>
            <a:ext cx="2447516"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Rewrote engine as a rules pipeline with explicit precedence</a:t>
            </a:r>
            <a:endParaRPr lang="en-US" sz="800" dirty="0"/>
          </a:p>
        </p:txBody>
      </p:sp>
      <p:sp>
        <p:nvSpPr>
          <p:cNvPr id="88" name="Text 86"/>
          <p:cNvSpPr/>
          <p:nvPr/>
        </p:nvSpPr>
        <p:spPr>
          <a:xfrm>
            <a:off x="4657725" y="2803922"/>
            <a:ext cx="4086225" cy="400050"/>
          </a:xfrm>
          <a:prstGeom prst="roundRect">
            <a:avLst>
              <a:gd name="adj" fmla="val 28571"/>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89" name="Shape 87"/>
          <p:cNvSpPr/>
          <p:nvPr/>
        </p:nvSpPr>
        <p:spPr>
          <a:xfrm>
            <a:off x="4657725" y="2807494"/>
            <a:ext cx="4086225" cy="0"/>
          </a:xfrm>
          <a:prstGeom prst="line">
            <a:avLst/>
          </a:prstGeom>
          <a:noFill/>
          <a:ln w="7144">
            <a:solidFill>
              <a:srgbClr val="E2E8F0"/>
            </a:solidFill>
            <a:prstDash val="solid"/>
          </a:ln>
        </p:spPr>
      </p:sp>
      <p:sp>
        <p:nvSpPr>
          <p:cNvPr id="90" name="Shape 88"/>
          <p:cNvSpPr/>
          <p:nvPr/>
        </p:nvSpPr>
        <p:spPr>
          <a:xfrm>
            <a:off x="8740378" y="2803922"/>
            <a:ext cx="0" cy="400050"/>
          </a:xfrm>
          <a:prstGeom prst="line">
            <a:avLst/>
          </a:prstGeom>
          <a:noFill/>
          <a:ln w="7144">
            <a:solidFill>
              <a:srgbClr val="E2E8F0"/>
            </a:solidFill>
            <a:prstDash val="solid"/>
          </a:ln>
        </p:spPr>
      </p:sp>
      <p:sp>
        <p:nvSpPr>
          <p:cNvPr id="91" name="Shape 89"/>
          <p:cNvSpPr/>
          <p:nvPr/>
        </p:nvSpPr>
        <p:spPr>
          <a:xfrm>
            <a:off x="4657725" y="3200400"/>
            <a:ext cx="4086225" cy="0"/>
          </a:xfrm>
          <a:prstGeom prst="line">
            <a:avLst/>
          </a:prstGeom>
          <a:noFill/>
          <a:ln w="7144">
            <a:solidFill>
              <a:srgbClr val="E2E8F0"/>
            </a:solidFill>
            <a:prstDash val="solid"/>
          </a:ln>
        </p:spPr>
      </p:sp>
      <p:sp>
        <p:nvSpPr>
          <p:cNvPr id="92" name="Shape 90"/>
          <p:cNvSpPr/>
          <p:nvPr/>
        </p:nvSpPr>
        <p:spPr>
          <a:xfrm>
            <a:off x="4672013" y="2803922"/>
            <a:ext cx="0" cy="400050"/>
          </a:xfrm>
          <a:prstGeom prst="line">
            <a:avLst/>
          </a:prstGeom>
          <a:noFill/>
          <a:ln w="28575">
            <a:solidFill>
              <a:srgbClr val="F59E0B"/>
            </a:solidFill>
            <a:prstDash val="solid"/>
          </a:ln>
        </p:spPr>
      </p:sp>
      <p:sp>
        <p:nvSpPr>
          <p:cNvPr id="93" name="Text 91"/>
          <p:cNvSpPr/>
          <p:nvPr/>
        </p:nvSpPr>
        <p:spPr>
          <a:xfrm>
            <a:off x="4786313" y="2882503"/>
            <a:ext cx="214313" cy="214313"/>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94" name="Text 92"/>
          <p:cNvSpPr/>
          <p:nvPr/>
        </p:nvSpPr>
        <p:spPr>
          <a:xfrm>
            <a:off x="4786313" y="28825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B45309"/>
                </a:solidFill>
                <a:latin typeface="Liberation Sans Narrow" pitchFamily="34" charset="0"/>
                <a:ea typeface="Liberation Sans Narrow" pitchFamily="34" charset="-122"/>
                <a:cs typeface="Liberation Sans Narrow" pitchFamily="34" charset="-120"/>
              </a:rPr>
              <a:t>04</a:t>
            </a:r>
            <a:endParaRPr lang="en-US" sz="800" dirty="0"/>
          </a:p>
        </p:txBody>
      </p:sp>
      <p:sp>
        <p:nvSpPr>
          <p:cNvPr id="95" name="Text 93"/>
          <p:cNvSpPr/>
          <p:nvPr/>
        </p:nvSpPr>
        <p:spPr>
          <a:xfrm>
            <a:off x="5086350" y="2882503"/>
            <a:ext cx="2805940"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Leaflet marker performance on low-end mobiles</a:t>
            </a:r>
            <a:endParaRPr lang="en-US" sz="800" dirty="0"/>
          </a:p>
        </p:txBody>
      </p:sp>
      <p:sp>
        <p:nvSpPr>
          <p:cNvPr id="96" name="Text 94"/>
          <p:cNvSpPr/>
          <p:nvPr/>
        </p:nvSpPr>
        <p:spPr>
          <a:xfrm>
            <a:off x="5086350" y="3010198"/>
            <a:ext cx="2805940"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Switched to canvas renderer for &gt;50 markers</a:t>
            </a:r>
            <a:endParaRPr lang="en-US" sz="800" dirty="0"/>
          </a:p>
        </p:txBody>
      </p:sp>
      <p:sp>
        <p:nvSpPr>
          <p:cNvPr id="97" name="Text 95"/>
          <p:cNvSpPr/>
          <p:nvPr/>
        </p:nvSpPr>
        <p:spPr>
          <a:xfrm>
            <a:off x="4657725" y="3261122"/>
            <a:ext cx="4086225" cy="400050"/>
          </a:xfrm>
          <a:prstGeom prst="roundRect">
            <a:avLst>
              <a:gd name="adj" fmla="val 28571"/>
            </a:avLst>
          </a:prstGeom>
          <a:solidFill>
            <a:srgbClr val="FFFFFF"/>
          </a:solidFill>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98" name="Shape 96"/>
          <p:cNvSpPr/>
          <p:nvPr/>
        </p:nvSpPr>
        <p:spPr>
          <a:xfrm>
            <a:off x="4657725" y="3264694"/>
            <a:ext cx="4086225" cy="0"/>
          </a:xfrm>
          <a:prstGeom prst="line">
            <a:avLst/>
          </a:prstGeom>
          <a:noFill/>
          <a:ln w="7144">
            <a:solidFill>
              <a:srgbClr val="E2E8F0"/>
            </a:solidFill>
            <a:prstDash val="solid"/>
          </a:ln>
        </p:spPr>
      </p:sp>
      <p:sp>
        <p:nvSpPr>
          <p:cNvPr id="99" name="Shape 97"/>
          <p:cNvSpPr/>
          <p:nvPr/>
        </p:nvSpPr>
        <p:spPr>
          <a:xfrm>
            <a:off x="8740378" y="3261122"/>
            <a:ext cx="0" cy="400050"/>
          </a:xfrm>
          <a:prstGeom prst="line">
            <a:avLst/>
          </a:prstGeom>
          <a:noFill/>
          <a:ln w="7144">
            <a:solidFill>
              <a:srgbClr val="E2E8F0"/>
            </a:solidFill>
            <a:prstDash val="solid"/>
          </a:ln>
        </p:spPr>
      </p:sp>
      <p:sp>
        <p:nvSpPr>
          <p:cNvPr id="100" name="Shape 98"/>
          <p:cNvSpPr/>
          <p:nvPr/>
        </p:nvSpPr>
        <p:spPr>
          <a:xfrm>
            <a:off x="4657725" y="3657600"/>
            <a:ext cx="4086225" cy="0"/>
          </a:xfrm>
          <a:prstGeom prst="line">
            <a:avLst/>
          </a:prstGeom>
          <a:noFill/>
          <a:ln w="7144">
            <a:solidFill>
              <a:srgbClr val="E2E8F0"/>
            </a:solidFill>
            <a:prstDash val="solid"/>
          </a:ln>
        </p:spPr>
      </p:sp>
      <p:sp>
        <p:nvSpPr>
          <p:cNvPr id="101" name="Shape 99"/>
          <p:cNvSpPr/>
          <p:nvPr/>
        </p:nvSpPr>
        <p:spPr>
          <a:xfrm>
            <a:off x="4672013" y="3261122"/>
            <a:ext cx="0" cy="400050"/>
          </a:xfrm>
          <a:prstGeom prst="line">
            <a:avLst/>
          </a:prstGeom>
          <a:noFill/>
          <a:ln w="28575">
            <a:solidFill>
              <a:srgbClr val="F59E0B"/>
            </a:solidFill>
            <a:prstDash val="solid"/>
          </a:ln>
        </p:spPr>
      </p:sp>
      <p:sp>
        <p:nvSpPr>
          <p:cNvPr id="102" name="Text 100"/>
          <p:cNvSpPr/>
          <p:nvPr/>
        </p:nvSpPr>
        <p:spPr>
          <a:xfrm>
            <a:off x="4786313" y="3339703"/>
            <a:ext cx="214313" cy="214313"/>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103" name="Text 101"/>
          <p:cNvSpPr/>
          <p:nvPr/>
        </p:nvSpPr>
        <p:spPr>
          <a:xfrm>
            <a:off x="4786313" y="3339703"/>
            <a:ext cx="257175" cy="214313"/>
          </a:xfrm>
          <a:prstGeom prst="rect">
            <a:avLst/>
          </a:prstGeom>
          <a:noFill/>
          <a:ln/>
        </p:spPr>
        <p:txBody>
          <a:bodyPr wrap="none" lIns="0" tIns="0" rIns="0" bIns="0" rtlCol="0" anchor="ctr"/>
          <a:lstStyle/>
          <a:p>
            <a:pPr marL="0" indent="0" algn="ctr">
              <a:lnSpc>
                <a:spcPts val="1013"/>
              </a:lnSpc>
              <a:buNone/>
            </a:pPr>
            <a:r>
              <a:rPr lang="en-US" sz="800" b="1" dirty="0">
                <a:solidFill>
                  <a:srgbClr val="B45309"/>
                </a:solidFill>
                <a:latin typeface="Liberation Sans Narrow" pitchFamily="34" charset="0"/>
                <a:ea typeface="Liberation Sans Narrow" pitchFamily="34" charset="-122"/>
                <a:cs typeface="Liberation Sans Narrow" pitchFamily="34" charset="-120"/>
              </a:rPr>
              <a:t>05</a:t>
            </a:r>
            <a:endParaRPr lang="en-US" sz="800" dirty="0"/>
          </a:p>
        </p:txBody>
      </p:sp>
      <p:sp>
        <p:nvSpPr>
          <p:cNvPr id="104" name="Text 102"/>
          <p:cNvSpPr/>
          <p:nvPr/>
        </p:nvSpPr>
        <p:spPr>
          <a:xfrm>
            <a:off x="5086350" y="3339703"/>
            <a:ext cx="2405470" cy="100263"/>
          </a:xfrm>
          <a:prstGeom prst="rect">
            <a:avLst/>
          </a:prstGeom>
          <a:noFill/>
          <a:ln/>
        </p:spPr>
        <p:txBody>
          <a:bodyPr wrap="square" lIns="0" tIns="0" rIns="0" bIns="0" rtlCol="0" anchor="t">
            <a:normAutofit fontScale="55000" lnSpcReduction="20000"/>
          </a:bodyPr>
          <a:lstStyle/>
          <a:p>
            <a:pPr marL="0" indent="0" algn="l">
              <a:lnSpc>
                <a:spcPts val="949"/>
              </a:lnSpc>
              <a:buNone/>
            </a:pPr>
            <a:r>
              <a:rPr lang="en-US" sz="800" b="1" kern="0" spc="-4" dirty="0">
                <a:solidFill>
                  <a:srgbClr val="0F172A"/>
                </a:solidFill>
                <a:latin typeface="Carlito" pitchFamily="34" charset="0"/>
                <a:ea typeface="Carlito" pitchFamily="34" charset="-122"/>
                <a:cs typeface="Carlito" pitchFamily="34" charset="-120"/>
              </a:rPr>
              <a:t>Tax calculation across states</a:t>
            </a:r>
            <a:endParaRPr lang="en-US" sz="800" dirty="0"/>
          </a:p>
        </p:txBody>
      </p:sp>
      <p:sp>
        <p:nvSpPr>
          <p:cNvPr id="105" name="Text 103"/>
          <p:cNvSpPr/>
          <p:nvPr/>
        </p:nvSpPr>
        <p:spPr>
          <a:xfrm>
            <a:off x="5086350" y="3467398"/>
            <a:ext cx="2227287" cy="115193"/>
          </a:xfrm>
          <a:prstGeom prst="rect">
            <a:avLst/>
          </a:prstGeom>
          <a:noFill/>
          <a:ln/>
        </p:spPr>
        <p:txBody>
          <a:bodyPr wrap="square" lIns="0" tIns="0" rIns="0" bIns="0" rtlCol="0" anchor="t"/>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Centralized GST rules in a config table, not hardcoded</a:t>
            </a:r>
            <a:endParaRPr lang="en-US" sz="800" dirty="0"/>
          </a:p>
        </p:txBody>
      </p:sp>
      <p:sp>
        <p:nvSpPr>
          <p:cNvPr id="106" name="Text 104"/>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107" name="Shape 105"/>
          <p:cNvSpPr/>
          <p:nvPr/>
        </p:nvSpPr>
        <p:spPr>
          <a:xfrm>
            <a:off x="0" y="4947047"/>
            <a:ext cx="9144000" cy="0"/>
          </a:xfrm>
          <a:prstGeom prst="line">
            <a:avLst/>
          </a:prstGeom>
          <a:noFill/>
          <a:ln w="7144">
            <a:solidFill>
              <a:srgbClr val="E2E8F0"/>
            </a:solidFill>
            <a:prstDash val="solid"/>
          </a:ln>
        </p:spPr>
      </p:sp>
      <p:sp>
        <p:nvSpPr>
          <p:cNvPr id="108" name="Text 106"/>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109" name="Text 107"/>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13 / 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1723239"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WALKTHROUGH</a:t>
            </a:r>
            <a:endParaRPr lang="en-US" sz="800" dirty="0"/>
          </a:p>
        </p:txBody>
      </p:sp>
      <p:sp>
        <p:nvSpPr>
          <p:cNvPr id="5" name="Text 3"/>
          <p:cNvSpPr/>
          <p:nvPr/>
        </p:nvSpPr>
        <p:spPr>
          <a:xfrm>
            <a:off x="400050" y="303609"/>
            <a:ext cx="1682210"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Demo Flow</a:t>
            </a:r>
            <a:endParaRPr lang="en-US" sz="1688" dirty="0"/>
          </a:p>
        </p:txBody>
      </p:sp>
      <p:sp>
        <p:nvSpPr>
          <p:cNvPr id="6" name="Text 4"/>
          <p:cNvSpPr/>
          <p:nvPr/>
        </p:nvSpPr>
        <p:spPr>
          <a:xfrm>
            <a:off x="7886654" y="214313"/>
            <a:ext cx="857296"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779231" y="353616"/>
            <a:ext cx="96471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14 / 15</a:t>
            </a:r>
            <a:endParaRPr lang="en-US" sz="800" dirty="0"/>
          </a:p>
        </p:txBody>
      </p:sp>
      <p:pic>
        <p:nvPicPr>
          <p:cNvPr id="8" name="Image 0" descr="/tmp/h2p-fit-1781702675115-yaiq55.png"/>
          <p:cNvPicPr>
            <a:picLocks noChangeAspect="1"/>
          </p:cNvPicPr>
          <p:nvPr/>
        </p:nvPicPr>
        <p:blipFill>
          <a:blip r:embed="rId3">
            <a:alphaModFix amt="90000"/>
          </a:blip>
          <a:stretch>
            <a:fillRect/>
          </a:stretch>
        </p:blipFill>
        <p:spPr>
          <a:xfrm>
            <a:off x="400050" y="850106"/>
            <a:ext cx="8343900" cy="600075"/>
          </a:xfrm>
          <a:prstGeom prst="rect">
            <a:avLst/>
          </a:prstGeom>
        </p:spPr>
      </p:pic>
      <p:sp>
        <p:nvSpPr>
          <p:cNvPr id="9" name="Text 6"/>
          <p:cNvSpPr/>
          <p:nvPr/>
        </p:nvSpPr>
        <p:spPr>
          <a:xfrm>
            <a:off x="462915" y="911685"/>
            <a:ext cx="939135" cy="184023"/>
          </a:xfrm>
          <a:prstGeom prst="roundRect">
            <a:avLst>
              <a:gd name="adj" fmla="val 20704"/>
            </a:avLst>
          </a:prstGeom>
          <a:solidFill>
            <a:srgbClr val="FF6B35"/>
          </a:solidFill>
          <a:ln/>
          <a:effectLst>
            <a:outerShdw blurRad="28575" dist="9525" dir="5400000" algn="bl" rotWithShape="0">
              <a:srgbClr val="000000">
                <a:alpha val="25000"/>
              </a:srgbClr>
            </a:outerShdw>
          </a:effectLst>
        </p:spPr>
        <p:txBody>
          <a:bodyPr wrap="square" rtlCol="0" anchor="ctr"/>
          <a:lstStyle/>
          <a:p>
            <a:pPr marL="0" indent="0">
              <a:buNone/>
            </a:pPr>
            <a:endParaRPr lang="en-US" dirty="0"/>
          </a:p>
        </p:txBody>
      </p:sp>
      <p:sp>
        <p:nvSpPr>
          <p:cNvPr id="10" name="Text 7"/>
          <p:cNvSpPr/>
          <p:nvPr/>
        </p:nvSpPr>
        <p:spPr>
          <a:xfrm>
            <a:off x="485775" y="921544"/>
            <a:ext cx="893415" cy="164306"/>
          </a:xfrm>
          <a:prstGeom prst="rect">
            <a:avLst/>
          </a:prstGeom>
          <a:noFill/>
          <a:ln/>
        </p:spPr>
        <p:txBody>
          <a:bodyPr wrap="none" lIns="0" tIns="0" rIns="0" bIns="0" rtlCol="0" anchor="ctr"/>
          <a:lstStyle/>
          <a:p>
            <a:pPr marL="0" indent="0" algn="ctr">
              <a:lnSpc>
                <a:spcPts val="844"/>
              </a:lnSpc>
              <a:buNone/>
            </a:pPr>
            <a:r>
              <a:rPr lang="en-US" sz="800" b="1" kern="0" spc="79" dirty="0">
                <a:solidFill>
                  <a:srgbClr val="FFFFFF"/>
                </a:solidFill>
                <a:latin typeface="Carlito" pitchFamily="34" charset="0"/>
                <a:ea typeface="Carlito" pitchFamily="34" charset="-122"/>
                <a:cs typeface="Carlito" pitchFamily="34" charset="-120"/>
              </a:rPr>
              <a:t>DEMO PREVIEW</a:t>
            </a:r>
            <a:endParaRPr lang="en-US" sz="800" dirty="0"/>
          </a:p>
        </p:txBody>
      </p:sp>
      <p:sp>
        <p:nvSpPr>
          <p:cNvPr id="11" name="Text 8"/>
          <p:cNvSpPr/>
          <p:nvPr/>
        </p:nvSpPr>
        <p:spPr>
          <a:xfrm>
            <a:off x="400050" y="1550194"/>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12" name="Text 9"/>
          <p:cNvSpPr/>
          <p:nvPr/>
        </p:nvSpPr>
        <p:spPr>
          <a:xfrm>
            <a:off x="400050" y="1671638"/>
            <a:ext cx="86360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Six screens, in the order you'll see them</a:t>
            </a:r>
            <a:endParaRPr lang="en-US" sz="1238" dirty="0"/>
          </a:p>
        </p:txBody>
      </p:sp>
      <p:sp>
        <p:nvSpPr>
          <p:cNvPr id="13" name="Text 10"/>
          <p:cNvSpPr/>
          <p:nvPr/>
        </p:nvSpPr>
        <p:spPr>
          <a:xfrm>
            <a:off x="400050" y="1964531"/>
            <a:ext cx="7000875" cy="335613"/>
          </a:xfrm>
          <a:prstGeom prst="rect">
            <a:avLst/>
          </a:prstGeom>
          <a:noFill/>
          <a:ln/>
        </p:spPr>
        <p:txBody>
          <a:bodyPr wrap="square" lIns="0" tIns="0" rIns="0" bIns="0" rtlCol="0" anchor="t"/>
          <a:lstStyle/>
          <a:p>
            <a:pPr marL="0" indent="0" algn="l">
              <a:lnSpc>
                <a:spcPts val="1223"/>
              </a:lnSpc>
              <a:buNone/>
            </a:pPr>
            <a:r>
              <a:rPr lang="en-US" sz="816" dirty="0">
                <a:solidFill>
                  <a:srgbClr val="334155"/>
                </a:solidFill>
                <a:latin typeface="Carlito" pitchFamily="34" charset="0"/>
                <a:ea typeface="Carlito" pitchFamily="34" charset="-122"/>
                <a:cs typeface="Carlito" pitchFamily="34" charset="-120"/>
              </a:rPr>
              <a:t>The demo walks through the customer journey end-to-end — from menu browse to live tracking — then jumps to the admin dashboard to show the operational view of the same order.</a:t>
            </a:r>
            <a:endParaRPr lang="en-US" sz="816" dirty="0"/>
          </a:p>
        </p:txBody>
      </p:sp>
      <p:sp>
        <p:nvSpPr>
          <p:cNvPr id="14" name="Text 11"/>
          <p:cNvSpPr/>
          <p:nvPr/>
        </p:nvSpPr>
        <p:spPr>
          <a:xfrm>
            <a:off x="403622" y="2393156"/>
            <a:ext cx="1323938"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15" name="Text 12"/>
          <p:cNvSpPr/>
          <p:nvPr/>
        </p:nvSpPr>
        <p:spPr>
          <a:xfrm>
            <a:off x="492919"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16" name="Text 13"/>
          <p:cNvSpPr/>
          <p:nvPr/>
        </p:nvSpPr>
        <p:spPr>
          <a:xfrm>
            <a:off x="492919"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7" name="Text 14"/>
          <p:cNvSpPr/>
          <p:nvPr/>
        </p:nvSpPr>
        <p:spPr>
          <a:xfrm>
            <a:off x="492919"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18" name="Text 15"/>
          <p:cNvSpPr/>
          <p:nvPr/>
        </p:nvSpPr>
        <p:spPr>
          <a:xfrm>
            <a:off x="492919" y="3096816"/>
            <a:ext cx="1145344" cy="137160"/>
          </a:xfrm>
          <a:prstGeom prst="rect">
            <a:avLst/>
          </a:prstGeom>
          <a:noFill/>
          <a:ln/>
        </p:spPr>
        <p:txBody>
          <a:bodyPr wrap="none" lIns="0" tIns="0" rIns="0" bIns="0" rtlCol="0" anchor="t"/>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Menu Dashboard</a:t>
            </a:r>
            <a:endParaRPr lang="en-US" sz="800" dirty="0"/>
          </a:p>
        </p:txBody>
      </p:sp>
      <p:sp>
        <p:nvSpPr>
          <p:cNvPr id="19" name="Text 16"/>
          <p:cNvSpPr/>
          <p:nvPr/>
        </p:nvSpPr>
        <p:spPr>
          <a:xfrm>
            <a:off x="492919" y="3264694"/>
            <a:ext cx="1214065" cy="845891"/>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Customer browses the menu with filters, sees AI-recommended pizzas on the sidebar</a:t>
            </a:r>
            <a:endParaRPr lang="en-US" sz="800" dirty="0"/>
          </a:p>
        </p:txBody>
      </p:sp>
      <p:sp>
        <p:nvSpPr>
          <p:cNvPr id="20" name="Text 17"/>
          <p:cNvSpPr/>
          <p:nvPr/>
        </p:nvSpPr>
        <p:spPr>
          <a:xfrm>
            <a:off x="470657" y="4157913"/>
            <a:ext cx="601066"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21" name="Text 18"/>
          <p:cNvSpPr/>
          <p:nvPr/>
        </p:nvSpPr>
        <p:spPr>
          <a:xfrm>
            <a:off x="492919" y="4166592"/>
            <a:ext cx="556543"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CUSTOMER</a:t>
            </a:r>
            <a:endParaRPr lang="en-US" sz="800" dirty="0"/>
          </a:p>
        </p:txBody>
      </p:sp>
      <p:sp>
        <p:nvSpPr>
          <p:cNvPr id="22" name="Text 19"/>
          <p:cNvSpPr/>
          <p:nvPr/>
        </p:nvSpPr>
        <p:spPr>
          <a:xfrm>
            <a:off x="1806141" y="2393156"/>
            <a:ext cx="1323938"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23" name="Text 20"/>
          <p:cNvSpPr/>
          <p:nvPr/>
        </p:nvSpPr>
        <p:spPr>
          <a:xfrm>
            <a:off x="1895438"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24" name="Text 21"/>
          <p:cNvSpPr/>
          <p:nvPr/>
        </p:nvSpPr>
        <p:spPr>
          <a:xfrm>
            <a:off x="1895438"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5" name="Text 22"/>
          <p:cNvSpPr/>
          <p:nvPr/>
        </p:nvSpPr>
        <p:spPr>
          <a:xfrm>
            <a:off x="1895438"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26" name="Text 23"/>
          <p:cNvSpPr/>
          <p:nvPr/>
        </p:nvSpPr>
        <p:spPr>
          <a:xfrm>
            <a:off x="1895438" y="3096816"/>
            <a:ext cx="1145344" cy="137160"/>
          </a:xfrm>
          <a:prstGeom prst="rect">
            <a:avLst/>
          </a:prstGeom>
          <a:noFill/>
          <a:ln/>
        </p:spPr>
        <p:txBody>
          <a:bodyPr wrap="none" lIns="0" tIns="0" rIns="0" bIns="0" rtlCol="0" anchor="t"/>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Cart &amp; Checkout</a:t>
            </a:r>
            <a:endParaRPr lang="en-US" sz="800" dirty="0"/>
          </a:p>
        </p:txBody>
      </p:sp>
      <p:sp>
        <p:nvSpPr>
          <p:cNvPr id="27" name="Text 24"/>
          <p:cNvSpPr/>
          <p:nvPr/>
        </p:nvSpPr>
        <p:spPr>
          <a:xfrm>
            <a:off x="1895438" y="3264694"/>
            <a:ext cx="1214065" cy="845891"/>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Customer adds a pizza, accepts an AI combo suggestion, applies PIZZA10 coupon, sees tax</a:t>
            </a:r>
            <a:endParaRPr lang="en-US" sz="800" dirty="0"/>
          </a:p>
        </p:txBody>
      </p:sp>
      <p:sp>
        <p:nvSpPr>
          <p:cNvPr id="28" name="Text 25"/>
          <p:cNvSpPr/>
          <p:nvPr/>
        </p:nvSpPr>
        <p:spPr>
          <a:xfrm>
            <a:off x="1873176" y="4157913"/>
            <a:ext cx="601066"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29" name="Text 26"/>
          <p:cNvSpPr/>
          <p:nvPr/>
        </p:nvSpPr>
        <p:spPr>
          <a:xfrm>
            <a:off x="1895438" y="4166592"/>
            <a:ext cx="556543"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CUSTOMER</a:t>
            </a:r>
            <a:endParaRPr lang="en-US" sz="800" dirty="0"/>
          </a:p>
        </p:txBody>
      </p:sp>
      <p:sp>
        <p:nvSpPr>
          <p:cNvPr id="30" name="Text 27"/>
          <p:cNvSpPr/>
          <p:nvPr/>
        </p:nvSpPr>
        <p:spPr>
          <a:xfrm>
            <a:off x="3208660" y="2393156"/>
            <a:ext cx="1323938"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1" name="Text 28"/>
          <p:cNvSpPr/>
          <p:nvPr/>
        </p:nvSpPr>
        <p:spPr>
          <a:xfrm>
            <a:off x="3297957"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32" name="Text 29"/>
          <p:cNvSpPr/>
          <p:nvPr/>
        </p:nvSpPr>
        <p:spPr>
          <a:xfrm>
            <a:off x="3297957"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33" name="Text 30"/>
          <p:cNvSpPr/>
          <p:nvPr/>
        </p:nvSpPr>
        <p:spPr>
          <a:xfrm>
            <a:off x="3297957"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34" name="Text 31"/>
          <p:cNvSpPr/>
          <p:nvPr/>
        </p:nvSpPr>
        <p:spPr>
          <a:xfrm>
            <a:off x="3297957" y="3096816"/>
            <a:ext cx="1145344" cy="265462"/>
          </a:xfrm>
          <a:prstGeom prst="rect">
            <a:avLst/>
          </a:prstGeom>
          <a:noFill/>
          <a:ln/>
        </p:spPr>
        <p:txBody>
          <a:bodyPr wrap="none" lIns="0" tIns="0" rIns="0" bIns="0" rtlCol="0" anchor="t">
            <a:normAutofit/>
          </a:bodyPr>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AI Recommended Combos</a:t>
            </a:r>
            <a:endParaRPr lang="en-US" sz="800" dirty="0"/>
          </a:p>
        </p:txBody>
      </p:sp>
      <p:sp>
        <p:nvSpPr>
          <p:cNvPr id="35" name="Text 32"/>
          <p:cNvSpPr/>
          <p:nvPr/>
        </p:nvSpPr>
        <p:spPr>
          <a:xfrm>
            <a:off x="3297957" y="3389709"/>
            <a:ext cx="1214065" cy="720876"/>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AI surfaces sides/drinks/desserts tailored to the customer's order history and season</a:t>
            </a:r>
            <a:endParaRPr lang="en-US" sz="800" dirty="0"/>
          </a:p>
        </p:txBody>
      </p:sp>
      <p:sp>
        <p:nvSpPr>
          <p:cNvPr id="36" name="Text 33"/>
          <p:cNvSpPr/>
          <p:nvPr/>
        </p:nvSpPr>
        <p:spPr>
          <a:xfrm>
            <a:off x="3275695" y="4157913"/>
            <a:ext cx="601066"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37" name="Text 34"/>
          <p:cNvSpPr/>
          <p:nvPr/>
        </p:nvSpPr>
        <p:spPr>
          <a:xfrm>
            <a:off x="3297957" y="4166592"/>
            <a:ext cx="556543"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CUSTOMER</a:t>
            </a:r>
            <a:endParaRPr lang="en-US" sz="800" dirty="0"/>
          </a:p>
        </p:txBody>
      </p:sp>
      <p:sp>
        <p:nvSpPr>
          <p:cNvPr id="38" name="Text 35"/>
          <p:cNvSpPr/>
          <p:nvPr/>
        </p:nvSpPr>
        <p:spPr>
          <a:xfrm>
            <a:off x="4611179" y="2393156"/>
            <a:ext cx="1324049"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39" name="Text 36"/>
          <p:cNvSpPr/>
          <p:nvPr/>
        </p:nvSpPr>
        <p:spPr>
          <a:xfrm>
            <a:off x="4700476"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40" name="Text 37"/>
          <p:cNvSpPr/>
          <p:nvPr/>
        </p:nvSpPr>
        <p:spPr>
          <a:xfrm>
            <a:off x="4700476"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41" name="Text 38"/>
          <p:cNvSpPr/>
          <p:nvPr/>
        </p:nvSpPr>
        <p:spPr>
          <a:xfrm>
            <a:off x="4700476"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42" name="Text 39"/>
          <p:cNvSpPr/>
          <p:nvPr/>
        </p:nvSpPr>
        <p:spPr>
          <a:xfrm>
            <a:off x="4700476" y="3096816"/>
            <a:ext cx="1145456" cy="265462"/>
          </a:xfrm>
          <a:prstGeom prst="rect">
            <a:avLst/>
          </a:prstGeom>
          <a:noFill/>
          <a:ln/>
        </p:spPr>
        <p:txBody>
          <a:bodyPr wrap="none" lIns="0" tIns="0" rIns="0" bIns="0" rtlCol="0" anchor="t">
            <a:normAutofit/>
          </a:bodyPr>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Live Delivery Tracking</a:t>
            </a:r>
            <a:endParaRPr lang="en-US" sz="800" dirty="0"/>
          </a:p>
        </p:txBody>
      </p:sp>
      <p:sp>
        <p:nvSpPr>
          <p:cNvPr id="43" name="Text 40"/>
          <p:cNvSpPr/>
          <p:nvPr/>
        </p:nvSpPr>
        <p:spPr>
          <a:xfrm>
            <a:off x="4700476" y="3389709"/>
            <a:ext cx="1214183" cy="720876"/>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Rider icon + customer icon on Leaflet map; OSRM polyline updates every 15s; ETA refreshed</a:t>
            </a:r>
            <a:endParaRPr lang="en-US" sz="800" dirty="0"/>
          </a:p>
        </p:txBody>
      </p:sp>
      <p:sp>
        <p:nvSpPr>
          <p:cNvPr id="44" name="Text 41"/>
          <p:cNvSpPr/>
          <p:nvPr/>
        </p:nvSpPr>
        <p:spPr>
          <a:xfrm>
            <a:off x="4678214" y="4157913"/>
            <a:ext cx="601066"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45" name="Text 42"/>
          <p:cNvSpPr/>
          <p:nvPr/>
        </p:nvSpPr>
        <p:spPr>
          <a:xfrm>
            <a:off x="4700476" y="4166592"/>
            <a:ext cx="556543"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CUSTOMER</a:t>
            </a:r>
            <a:endParaRPr lang="en-US" sz="800" dirty="0"/>
          </a:p>
        </p:txBody>
      </p:sp>
      <p:sp>
        <p:nvSpPr>
          <p:cNvPr id="46" name="Text 43"/>
          <p:cNvSpPr/>
          <p:nvPr/>
        </p:nvSpPr>
        <p:spPr>
          <a:xfrm>
            <a:off x="6013810" y="2393156"/>
            <a:ext cx="1323938"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47" name="Text 44"/>
          <p:cNvSpPr/>
          <p:nvPr/>
        </p:nvSpPr>
        <p:spPr>
          <a:xfrm>
            <a:off x="6103107"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48" name="Text 45"/>
          <p:cNvSpPr/>
          <p:nvPr/>
        </p:nvSpPr>
        <p:spPr>
          <a:xfrm>
            <a:off x="6103107"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49" name="Text 46"/>
          <p:cNvSpPr/>
          <p:nvPr/>
        </p:nvSpPr>
        <p:spPr>
          <a:xfrm>
            <a:off x="6103107"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50" name="Text 47"/>
          <p:cNvSpPr/>
          <p:nvPr/>
        </p:nvSpPr>
        <p:spPr>
          <a:xfrm>
            <a:off x="6103107" y="3096816"/>
            <a:ext cx="1145344" cy="137160"/>
          </a:xfrm>
          <a:prstGeom prst="rect">
            <a:avLst/>
          </a:prstGeom>
          <a:noFill/>
          <a:ln/>
        </p:spPr>
        <p:txBody>
          <a:bodyPr wrap="none" lIns="0" tIns="0" rIns="0" bIns="0" rtlCol="0" anchor="t"/>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Payment Page</a:t>
            </a:r>
            <a:endParaRPr lang="en-US" sz="800" dirty="0"/>
          </a:p>
        </p:txBody>
      </p:sp>
      <p:sp>
        <p:nvSpPr>
          <p:cNvPr id="51" name="Text 48"/>
          <p:cNvSpPr/>
          <p:nvPr/>
        </p:nvSpPr>
        <p:spPr>
          <a:xfrm>
            <a:off x="6103107" y="3264694"/>
            <a:ext cx="1214065" cy="845891"/>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Razorpay checkout overlay handles card/UPI; success triggers invoice generation</a:t>
            </a:r>
            <a:endParaRPr lang="en-US" sz="800" dirty="0"/>
          </a:p>
        </p:txBody>
      </p:sp>
      <p:sp>
        <p:nvSpPr>
          <p:cNvPr id="52" name="Text 49"/>
          <p:cNvSpPr/>
          <p:nvPr/>
        </p:nvSpPr>
        <p:spPr>
          <a:xfrm>
            <a:off x="6080845" y="4157913"/>
            <a:ext cx="601066"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53" name="Text 50"/>
          <p:cNvSpPr/>
          <p:nvPr/>
        </p:nvSpPr>
        <p:spPr>
          <a:xfrm>
            <a:off x="6103107" y="4166592"/>
            <a:ext cx="556543"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CUSTOMER</a:t>
            </a:r>
            <a:endParaRPr lang="en-US" sz="800" dirty="0"/>
          </a:p>
        </p:txBody>
      </p:sp>
      <p:sp>
        <p:nvSpPr>
          <p:cNvPr id="54" name="Text 51"/>
          <p:cNvSpPr/>
          <p:nvPr/>
        </p:nvSpPr>
        <p:spPr>
          <a:xfrm>
            <a:off x="7416329" y="2393156"/>
            <a:ext cx="1323938" cy="2007394"/>
          </a:xfrm>
          <a:prstGeom prst="roundRect">
            <a:avLst>
              <a:gd name="adj" fmla="val 8633"/>
            </a:avLst>
          </a:prstGeom>
          <a:solidFill>
            <a:srgbClr val="FFFFFF"/>
          </a:solidFill>
          <a:ln w="7144">
            <a:solidFill>
              <a:srgbClr val="E2E8F0"/>
            </a:solidFill>
            <a:prstDash val="solid"/>
          </a:ln>
          <a:effectLst>
            <a:outerShdw blurRad="19050" dist="9525" dir="5400000" algn="bl" rotWithShape="0">
              <a:srgbClr val="0F172A">
                <a:alpha val="4000"/>
              </a:srgbClr>
            </a:outerShdw>
          </a:effectLst>
        </p:spPr>
        <p:txBody>
          <a:bodyPr wrap="square" rtlCol="0" anchor="ctr"/>
          <a:lstStyle/>
          <a:p>
            <a:pPr marL="0" indent="0">
              <a:buNone/>
            </a:pPr>
            <a:endParaRPr lang="en-US" dirty="0"/>
          </a:p>
        </p:txBody>
      </p:sp>
      <p:sp>
        <p:nvSpPr>
          <p:cNvPr id="55" name="Text 52"/>
          <p:cNvSpPr/>
          <p:nvPr/>
        </p:nvSpPr>
        <p:spPr>
          <a:xfrm>
            <a:off x="7505626" y="2482453"/>
            <a:ext cx="228600" cy="228600"/>
          </a:xfrm>
          <a:prstGeom prst="roundRect">
            <a:avLst>
              <a:gd name="adj" fmla="val 25000"/>
            </a:avLst>
          </a:prstGeom>
          <a:solidFill>
            <a:srgbClr val="0F172A"/>
          </a:solidFill>
          <a:ln/>
        </p:spPr>
        <p:txBody>
          <a:bodyPr wrap="square" rtlCol="0" anchor="ctr"/>
          <a:lstStyle/>
          <a:p>
            <a:pPr marL="0" indent="0">
              <a:buNone/>
            </a:pPr>
            <a:endParaRPr lang="en-US" dirty="0"/>
          </a:p>
        </p:txBody>
      </p:sp>
      <p:sp>
        <p:nvSpPr>
          <p:cNvPr id="56" name="Text 53"/>
          <p:cNvSpPr/>
          <p:nvPr/>
        </p:nvSpPr>
        <p:spPr>
          <a:xfrm>
            <a:off x="7505626" y="2482453"/>
            <a:ext cx="228600" cy="228600"/>
          </a:xfrm>
          <a:prstGeom prst="rect">
            <a:avLst/>
          </a:prstGeom>
          <a:noFill/>
          <a:ln/>
        </p:spPr>
        <p:txBody>
          <a:bodyPr wrap="none" lIns="0" tIns="0" rIns="0" bIns="0" rtlCol="0" anchor="ctr"/>
          <a:lstStyle/>
          <a:p>
            <a:pPr marL="0" indent="0" algn="ctr">
              <a:lnSpc>
                <a:spcPts val="1181"/>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06</a:t>
            </a:r>
            <a:endParaRPr lang="en-US" sz="800" dirty="0"/>
          </a:p>
        </p:txBody>
      </p:sp>
      <p:sp>
        <p:nvSpPr>
          <p:cNvPr id="57" name="Text 54"/>
          <p:cNvSpPr/>
          <p:nvPr/>
        </p:nvSpPr>
        <p:spPr>
          <a:xfrm>
            <a:off x="7505626" y="2811066"/>
            <a:ext cx="214313" cy="214313"/>
          </a:xfrm>
          <a:prstGeom prst="rect">
            <a:avLst/>
          </a:prstGeom>
          <a:noFill/>
          <a:ln/>
        </p:spPr>
        <p:txBody>
          <a:bodyPr wrap="none" lIns="0" tIns="0" rIns="0" bIns="0" rtlCol="0" anchor="ctr"/>
          <a:lstStyle/>
          <a:p>
            <a:pPr marL="0" indent="0" algn="ctr">
              <a:buNone/>
            </a:pPr>
            <a:r>
              <a:rPr lang="en-US" sz="2109" dirty="0">
                <a:solidFill>
                  <a:srgbClr val="FF6B35"/>
                </a:solidFill>
                <a:latin typeface="Segoe UI Symbol" pitchFamily="34" charset="0"/>
                <a:ea typeface="Segoe UI Symbol" pitchFamily="34" charset="-122"/>
                <a:cs typeface="Segoe UI Symbol" pitchFamily="34" charset="-120"/>
              </a:rPr>
              <a:t>▦</a:t>
            </a:r>
            <a:endParaRPr lang="en-US" sz="2109" dirty="0"/>
          </a:p>
        </p:txBody>
      </p:sp>
      <p:sp>
        <p:nvSpPr>
          <p:cNvPr id="58" name="Text 55"/>
          <p:cNvSpPr/>
          <p:nvPr/>
        </p:nvSpPr>
        <p:spPr>
          <a:xfrm>
            <a:off x="7505626" y="3096816"/>
            <a:ext cx="1145344" cy="137160"/>
          </a:xfrm>
          <a:prstGeom prst="rect">
            <a:avLst/>
          </a:prstGeom>
          <a:noFill/>
          <a:ln/>
        </p:spPr>
        <p:txBody>
          <a:bodyPr wrap="none" lIns="0" tIns="0" rIns="0" bIns="0" rtlCol="0" anchor="t"/>
          <a:lstStyle/>
          <a:p>
            <a:pPr marL="0" indent="0" algn="l">
              <a:lnSpc>
                <a:spcPts val="984"/>
              </a:lnSpc>
              <a:buNone/>
            </a:pPr>
            <a:r>
              <a:rPr lang="en-US" sz="800" b="1" kern="0" spc="-4" dirty="0">
                <a:solidFill>
                  <a:srgbClr val="0F172A"/>
                </a:solidFill>
                <a:latin typeface="Carlito" pitchFamily="34" charset="0"/>
                <a:ea typeface="Carlito" pitchFamily="34" charset="-122"/>
                <a:cs typeface="Carlito" pitchFamily="34" charset="-120"/>
              </a:rPr>
              <a:t>Admin Dashboard</a:t>
            </a:r>
            <a:endParaRPr lang="en-US" sz="800" dirty="0"/>
          </a:p>
        </p:txBody>
      </p:sp>
      <p:sp>
        <p:nvSpPr>
          <p:cNvPr id="59" name="Text 56"/>
          <p:cNvSpPr/>
          <p:nvPr/>
        </p:nvSpPr>
        <p:spPr>
          <a:xfrm>
            <a:off x="7505626" y="3264694"/>
            <a:ext cx="1214065" cy="845891"/>
          </a:xfrm>
          <a:prstGeom prst="rect">
            <a:avLst/>
          </a:prstGeom>
          <a:noFill/>
          <a:ln/>
        </p:spPr>
        <p:txBody>
          <a:bodyPr wrap="square" lIns="0" tIns="0" rIns="0" bIns="0" rtlCol="0" anchor="t">
            <a:normAutofit/>
          </a:bodyPr>
          <a:lstStyle/>
          <a:p>
            <a:pPr marL="0" indent="0" algn="l">
              <a:lnSpc>
                <a:spcPts val="906"/>
              </a:lnSpc>
              <a:buNone/>
            </a:pPr>
            <a:r>
              <a:rPr lang="en-US" sz="800" dirty="0">
                <a:solidFill>
                  <a:srgbClr val="334155"/>
                </a:solidFill>
                <a:latin typeface="Carlito" pitchFamily="34" charset="0"/>
                <a:ea typeface="Carlito" pitchFamily="34" charset="-122"/>
                <a:cs typeface="Carlito" pitchFamily="34" charset="-120"/>
              </a:rPr>
              <a:t>Admin sees the same order in revenue, delivery performance, and customer-trend panels</a:t>
            </a:r>
            <a:endParaRPr lang="en-US" sz="800" dirty="0"/>
          </a:p>
        </p:txBody>
      </p:sp>
      <p:sp>
        <p:nvSpPr>
          <p:cNvPr id="60" name="Text 57"/>
          <p:cNvSpPr/>
          <p:nvPr/>
        </p:nvSpPr>
        <p:spPr>
          <a:xfrm>
            <a:off x="7490472" y="4157913"/>
            <a:ext cx="409149" cy="162020"/>
          </a:xfrm>
          <a:prstGeom prst="roundRect">
            <a:avLst>
              <a:gd name="adj" fmla="val 5873025"/>
            </a:avLst>
          </a:prstGeom>
          <a:solidFill>
            <a:srgbClr val="FFF1EC"/>
          </a:solidFill>
          <a:ln/>
        </p:spPr>
        <p:txBody>
          <a:bodyPr wrap="square" rtlCol="0" anchor="ctr"/>
          <a:lstStyle/>
          <a:p>
            <a:pPr marL="0" indent="0">
              <a:buNone/>
            </a:pPr>
            <a:endParaRPr lang="en-US" dirty="0"/>
          </a:p>
        </p:txBody>
      </p:sp>
      <p:sp>
        <p:nvSpPr>
          <p:cNvPr id="61" name="Text 58"/>
          <p:cNvSpPr/>
          <p:nvPr/>
        </p:nvSpPr>
        <p:spPr>
          <a:xfrm>
            <a:off x="7505626" y="4166592"/>
            <a:ext cx="378842" cy="144661"/>
          </a:xfrm>
          <a:prstGeom prst="rect">
            <a:avLst/>
          </a:prstGeom>
          <a:noFill/>
          <a:ln/>
        </p:spPr>
        <p:txBody>
          <a:bodyPr wrap="none" lIns="0" tIns="0" rIns="0" bIns="0" rtlCol="0" anchor="ctr"/>
          <a:lstStyle/>
          <a:p>
            <a:pPr marL="0" indent="0" algn="ctr">
              <a:lnSpc>
                <a:spcPts val="802"/>
              </a:lnSpc>
              <a:buNone/>
            </a:pPr>
            <a:r>
              <a:rPr lang="en-US" sz="800" kern="0" spc="32" dirty="0">
                <a:solidFill>
                  <a:srgbClr val="E4541F"/>
                </a:solidFill>
                <a:latin typeface="Carlito" pitchFamily="34" charset="0"/>
                <a:ea typeface="Carlito" pitchFamily="34" charset="-122"/>
                <a:cs typeface="Carlito" pitchFamily="34" charset="-120"/>
              </a:rPr>
              <a:t>ADMIN</a:t>
            </a:r>
            <a:endParaRPr lang="en-US" sz="800" dirty="0"/>
          </a:p>
        </p:txBody>
      </p:sp>
      <p:sp>
        <p:nvSpPr>
          <p:cNvPr id="62" name="Text 59"/>
          <p:cNvSpPr/>
          <p:nvPr/>
        </p:nvSpPr>
        <p:spPr>
          <a:xfrm>
            <a:off x="400050" y="4475559"/>
            <a:ext cx="8343900" cy="285750"/>
          </a:xfrm>
          <a:prstGeom prst="roundRect">
            <a:avLst>
              <a:gd name="adj" fmla="val 26667"/>
            </a:avLst>
          </a:prstGeom>
          <a:solidFill>
            <a:srgbClr val="FFFFFF"/>
          </a:solidFill>
          <a:ln/>
        </p:spPr>
        <p:txBody>
          <a:bodyPr wrap="square" rtlCol="0" anchor="ctr"/>
          <a:lstStyle/>
          <a:p>
            <a:pPr marL="0" indent="0">
              <a:buNone/>
            </a:pPr>
            <a:endParaRPr lang="en-US" dirty="0"/>
          </a:p>
        </p:txBody>
      </p:sp>
      <p:sp>
        <p:nvSpPr>
          <p:cNvPr id="63" name="Shape 60"/>
          <p:cNvSpPr/>
          <p:nvPr/>
        </p:nvSpPr>
        <p:spPr>
          <a:xfrm>
            <a:off x="400050" y="4479131"/>
            <a:ext cx="8343900" cy="0"/>
          </a:xfrm>
          <a:prstGeom prst="line">
            <a:avLst/>
          </a:prstGeom>
          <a:noFill/>
          <a:ln w="7144">
            <a:solidFill>
              <a:srgbClr val="E2E8F0"/>
            </a:solidFill>
            <a:prstDash val="solid"/>
          </a:ln>
        </p:spPr>
      </p:sp>
      <p:sp>
        <p:nvSpPr>
          <p:cNvPr id="64" name="Shape 61"/>
          <p:cNvSpPr/>
          <p:nvPr/>
        </p:nvSpPr>
        <p:spPr>
          <a:xfrm>
            <a:off x="8740378" y="4475559"/>
            <a:ext cx="0" cy="285750"/>
          </a:xfrm>
          <a:prstGeom prst="line">
            <a:avLst/>
          </a:prstGeom>
          <a:noFill/>
          <a:ln w="7144">
            <a:solidFill>
              <a:srgbClr val="E2E8F0"/>
            </a:solidFill>
            <a:prstDash val="solid"/>
          </a:ln>
        </p:spPr>
      </p:sp>
      <p:sp>
        <p:nvSpPr>
          <p:cNvPr id="65" name="Shape 62"/>
          <p:cNvSpPr/>
          <p:nvPr/>
        </p:nvSpPr>
        <p:spPr>
          <a:xfrm>
            <a:off x="400050" y="4757738"/>
            <a:ext cx="8343900" cy="0"/>
          </a:xfrm>
          <a:prstGeom prst="line">
            <a:avLst/>
          </a:prstGeom>
          <a:noFill/>
          <a:ln w="7144">
            <a:solidFill>
              <a:srgbClr val="E2E8F0"/>
            </a:solidFill>
            <a:prstDash val="solid"/>
          </a:ln>
        </p:spPr>
      </p:sp>
      <p:sp>
        <p:nvSpPr>
          <p:cNvPr id="66" name="Shape 63"/>
          <p:cNvSpPr/>
          <p:nvPr/>
        </p:nvSpPr>
        <p:spPr>
          <a:xfrm>
            <a:off x="414338" y="4475559"/>
            <a:ext cx="0" cy="285750"/>
          </a:xfrm>
          <a:prstGeom prst="line">
            <a:avLst/>
          </a:prstGeom>
          <a:noFill/>
          <a:ln w="28575">
            <a:solidFill>
              <a:srgbClr val="FF6B35"/>
            </a:solidFill>
            <a:prstDash val="solid"/>
          </a:ln>
        </p:spPr>
      </p:sp>
      <p:sp>
        <p:nvSpPr>
          <p:cNvPr id="67" name="Text 64"/>
          <p:cNvSpPr/>
          <p:nvPr/>
        </p:nvSpPr>
        <p:spPr>
          <a:xfrm>
            <a:off x="557213" y="4554141"/>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
        <p:nvSpPr>
          <p:cNvPr id="68" name="Text 65"/>
          <p:cNvSpPr/>
          <p:nvPr/>
        </p:nvSpPr>
        <p:spPr>
          <a:xfrm>
            <a:off x="757238" y="4555927"/>
            <a:ext cx="7850981" cy="126802"/>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Total demo runtime ≈ 4 minutes. Each screen transitions to the next via a clear state change so the audience can follow the order lifecycle from cart to delivery to admin.</a:t>
            </a:r>
            <a:endParaRPr lang="en-US" sz="800" dirty="0"/>
          </a:p>
        </p:txBody>
      </p:sp>
      <p:sp>
        <p:nvSpPr>
          <p:cNvPr id="69" name="Text 66"/>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70" name="Shape 67"/>
          <p:cNvSpPr/>
          <p:nvPr/>
        </p:nvSpPr>
        <p:spPr>
          <a:xfrm>
            <a:off x="0" y="4947047"/>
            <a:ext cx="9144000" cy="0"/>
          </a:xfrm>
          <a:prstGeom prst="line">
            <a:avLst/>
          </a:prstGeom>
          <a:noFill/>
          <a:ln w="7144">
            <a:solidFill>
              <a:srgbClr val="E2E8F0"/>
            </a:solidFill>
            <a:prstDash val="solid"/>
          </a:ln>
        </p:spPr>
      </p:sp>
      <p:sp>
        <p:nvSpPr>
          <p:cNvPr id="71" name="Text 68"/>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72" name="Text 69"/>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14 / 15</a:t>
            </a:r>
            <a:endParaRPr lang="en-US" sz="800" dirty="0"/>
          </a:p>
        </p:txBody>
      </p:sp>
      <p:sp>
        <p:nvSpPr>
          <p:cNvPr id="73" name="Text 70"/>
          <p:cNvSpPr/>
          <p:nvPr/>
        </p:nvSpPr>
        <p:spPr>
          <a:xfrm>
            <a:off x="1725774" y="3332559"/>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
        <p:nvSpPr>
          <p:cNvPr id="74" name="Text 71"/>
          <p:cNvSpPr/>
          <p:nvPr/>
        </p:nvSpPr>
        <p:spPr>
          <a:xfrm>
            <a:off x="3116684" y="3332559"/>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
        <p:nvSpPr>
          <p:cNvPr id="75" name="Text 72"/>
          <p:cNvSpPr/>
          <p:nvPr/>
        </p:nvSpPr>
        <p:spPr>
          <a:xfrm>
            <a:off x="4507706" y="3332559"/>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
        <p:nvSpPr>
          <p:cNvPr id="76" name="Text 73"/>
          <p:cNvSpPr/>
          <p:nvPr/>
        </p:nvSpPr>
        <p:spPr>
          <a:xfrm>
            <a:off x="5897724" y="3332559"/>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
        <p:nvSpPr>
          <p:cNvPr id="77" name="Text 74"/>
          <p:cNvSpPr/>
          <p:nvPr/>
        </p:nvSpPr>
        <p:spPr>
          <a:xfrm>
            <a:off x="7288634" y="3332559"/>
            <a:ext cx="128588" cy="128588"/>
          </a:xfrm>
          <a:prstGeom prst="rect">
            <a:avLst/>
          </a:prstGeom>
          <a:noFill/>
          <a:ln/>
        </p:spPr>
        <p:txBody>
          <a:bodyPr wrap="none" lIns="0" tIns="0" rIns="0" bIns="0" rtlCol="0" anchor="ctr"/>
          <a:lstStyle/>
          <a:p>
            <a:pPr marL="0" indent="0" algn="ctr">
              <a:buNone/>
            </a:pPr>
            <a:r>
              <a:rPr lang="en-US" sz="1266" dirty="0">
                <a:solidFill>
                  <a:srgbClr val="FF6B35"/>
                </a:solidFill>
                <a:latin typeface="Segoe UI Symbol" pitchFamily="34" charset="0"/>
                <a:ea typeface="Segoe UI Symbol" pitchFamily="34" charset="-122"/>
                <a:cs typeface="Segoe UI Symbol" pitchFamily="34" charset="-120"/>
              </a:rPr>
              <a:t>→</a:t>
            </a:r>
            <a:endParaRPr lang="en-US" sz="1266"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9DBC2-0245-E1A1-EEF9-BFBCBCA3D301}"/>
              </a:ext>
            </a:extLst>
          </p:cNvPr>
          <p:cNvPicPr>
            <a:picLocks noChangeAspect="1"/>
          </p:cNvPicPr>
          <p:nvPr/>
        </p:nvPicPr>
        <p:blipFill>
          <a:blip r:embed="rId2"/>
          <a:stretch>
            <a:fillRect/>
          </a:stretch>
        </p:blipFill>
        <p:spPr>
          <a:xfrm>
            <a:off x="0" y="353722"/>
            <a:ext cx="9144000" cy="4436056"/>
          </a:xfrm>
          <a:prstGeom prst="rect">
            <a:avLst/>
          </a:prstGeom>
        </p:spPr>
      </p:pic>
    </p:spTree>
    <p:extLst>
      <p:ext uri="{BB962C8B-B14F-4D97-AF65-F5344CB8AC3E}">
        <p14:creationId xmlns:p14="http://schemas.microsoft.com/office/powerpoint/2010/main" val="416919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F69312-CE22-CDAD-8405-E62E6F8BC8B0}"/>
              </a:ext>
            </a:extLst>
          </p:cNvPr>
          <p:cNvPicPr>
            <a:picLocks noChangeAspect="1"/>
          </p:cNvPicPr>
          <p:nvPr/>
        </p:nvPicPr>
        <p:blipFill>
          <a:blip r:embed="rId2"/>
          <a:stretch>
            <a:fillRect/>
          </a:stretch>
        </p:blipFill>
        <p:spPr>
          <a:xfrm>
            <a:off x="0" y="190010"/>
            <a:ext cx="9144000" cy="4473393"/>
          </a:xfrm>
          <a:prstGeom prst="rect">
            <a:avLst/>
          </a:prstGeom>
        </p:spPr>
      </p:pic>
    </p:spTree>
    <p:extLst>
      <p:ext uri="{BB962C8B-B14F-4D97-AF65-F5344CB8AC3E}">
        <p14:creationId xmlns:p14="http://schemas.microsoft.com/office/powerpoint/2010/main" val="1166552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49ED8C-6184-B209-A2EB-35EAB044B7DE}"/>
              </a:ext>
            </a:extLst>
          </p:cNvPr>
          <p:cNvPicPr>
            <a:picLocks noChangeAspect="1"/>
          </p:cNvPicPr>
          <p:nvPr/>
        </p:nvPicPr>
        <p:blipFill>
          <a:blip r:embed="rId2"/>
          <a:stretch>
            <a:fillRect/>
          </a:stretch>
        </p:blipFill>
        <p:spPr>
          <a:xfrm>
            <a:off x="0" y="341095"/>
            <a:ext cx="9144000" cy="4461309"/>
          </a:xfrm>
          <a:prstGeom prst="rect">
            <a:avLst/>
          </a:prstGeom>
        </p:spPr>
      </p:pic>
    </p:spTree>
    <p:extLst>
      <p:ext uri="{BB962C8B-B14F-4D97-AF65-F5344CB8AC3E}">
        <p14:creationId xmlns:p14="http://schemas.microsoft.com/office/powerpoint/2010/main" val="3597299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988D44-91F9-E084-BB99-A1C955DCE230}"/>
              </a:ext>
            </a:extLst>
          </p:cNvPr>
          <p:cNvPicPr>
            <a:picLocks noChangeAspect="1"/>
          </p:cNvPicPr>
          <p:nvPr/>
        </p:nvPicPr>
        <p:blipFill>
          <a:blip r:embed="rId2"/>
          <a:stretch>
            <a:fillRect/>
          </a:stretch>
        </p:blipFill>
        <p:spPr>
          <a:xfrm>
            <a:off x="0" y="355095"/>
            <a:ext cx="9144000" cy="4433309"/>
          </a:xfrm>
          <a:prstGeom prst="rect">
            <a:avLst/>
          </a:prstGeom>
        </p:spPr>
      </p:pic>
    </p:spTree>
    <p:extLst>
      <p:ext uri="{BB962C8B-B14F-4D97-AF65-F5344CB8AC3E}">
        <p14:creationId xmlns:p14="http://schemas.microsoft.com/office/powerpoint/2010/main" val="1819755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116BA7-7DEA-3FF8-3FEA-3F4EC1D978C5}"/>
              </a:ext>
            </a:extLst>
          </p:cNvPr>
          <p:cNvPicPr>
            <a:picLocks noChangeAspect="1"/>
          </p:cNvPicPr>
          <p:nvPr/>
        </p:nvPicPr>
        <p:blipFill>
          <a:blip r:embed="rId2"/>
          <a:stretch>
            <a:fillRect/>
          </a:stretch>
        </p:blipFill>
        <p:spPr>
          <a:xfrm>
            <a:off x="0" y="360877"/>
            <a:ext cx="9144000" cy="4421746"/>
          </a:xfrm>
          <a:prstGeom prst="rect">
            <a:avLst/>
          </a:prstGeom>
        </p:spPr>
      </p:pic>
    </p:spTree>
    <p:extLst>
      <p:ext uri="{BB962C8B-B14F-4D97-AF65-F5344CB8AC3E}">
        <p14:creationId xmlns:p14="http://schemas.microsoft.com/office/powerpoint/2010/main" val="3448594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6418DE-8CAC-C3F2-9992-31632B97B858}"/>
              </a:ext>
            </a:extLst>
          </p:cNvPr>
          <p:cNvPicPr>
            <a:picLocks noChangeAspect="1"/>
          </p:cNvPicPr>
          <p:nvPr/>
        </p:nvPicPr>
        <p:blipFill>
          <a:blip r:embed="rId2"/>
          <a:stretch>
            <a:fillRect/>
          </a:stretch>
        </p:blipFill>
        <p:spPr>
          <a:xfrm>
            <a:off x="0" y="361668"/>
            <a:ext cx="9144000" cy="4420163"/>
          </a:xfrm>
          <a:prstGeom prst="rect">
            <a:avLst/>
          </a:prstGeom>
        </p:spPr>
      </p:pic>
    </p:spTree>
    <p:extLst>
      <p:ext uri="{BB962C8B-B14F-4D97-AF65-F5344CB8AC3E}">
        <p14:creationId xmlns:p14="http://schemas.microsoft.com/office/powerpoint/2010/main" val="2523097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9BF7CC-263C-F4D1-07AC-69EB1B5348F4}"/>
              </a:ext>
            </a:extLst>
          </p:cNvPr>
          <p:cNvPicPr>
            <a:picLocks noChangeAspect="1"/>
          </p:cNvPicPr>
          <p:nvPr/>
        </p:nvPicPr>
        <p:blipFill>
          <a:blip r:embed="rId2"/>
          <a:stretch>
            <a:fillRect/>
          </a:stretch>
        </p:blipFill>
        <p:spPr>
          <a:xfrm>
            <a:off x="0" y="342388"/>
            <a:ext cx="9144000" cy="4458724"/>
          </a:xfrm>
          <a:prstGeom prst="rect">
            <a:avLst/>
          </a:prstGeom>
        </p:spPr>
      </p:pic>
    </p:spTree>
    <p:extLst>
      <p:ext uri="{BB962C8B-B14F-4D97-AF65-F5344CB8AC3E}">
        <p14:creationId xmlns:p14="http://schemas.microsoft.com/office/powerpoint/2010/main" val="1557398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548E6C-7868-8BD3-F787-193863F822EF}"/>
              </a:ext>
            </a:extLst>
          </p:cNvPr>
          <p:cNvPicPr>
            <a:picLocks noChangeAspect="1"/>
          </p:cNvPicPr>
          <p:nvPr/>
        </p:nvPicPr>
        <p:blipFill>
          <a:blip r:embed="rId2"/>
          <a:stretch>
            <a:fillRect/>
          </a:stretch>
        </p:blipFill>
        <p:spPr>
          <a:xfrm>
            <a:off x="0" y="358950"/>
            <a:ext cx="9144000" cy="4425600"/>
          </a:xfrm>
          <a:prstGeom prst="rect">
            <a:avLst/>
          </a:prstGeom>
        </p:spPr>
      </p:pic>
    </p:spTree>
    <p:extLst>
      <p:ext uri="{BB962C8B-B14F-4D97-AF65-F5344CB8AC3E}">
        <p14:creationId xmlns:p14="http://schemas.microsoft.com/office/powerpoint/2010/main" val="3471866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0FA2BE-4D8A-5DA7-506F-C7E7A7A62E36}"/>
              </a:ext>
            </a:extLst>
          </p:cNvPr>
          <p:cNvPicPr>
            <a:picLocks noChangeAspect="1"/>
          </p:cNvPicPr>
          <p:nvPr/>
        </p:nvPicPr>
        <p:blipFill>
          <a:blip r:embed="rId2"/>
          <a:stretch>
            <a:fillRect/>
          </a:stretch>
        </p:blipFill>
        <p:spPr>
          <a:xfrm>
            <a:off x="0" y="372801"/>
            <a:ext cx="9144000" cy="4397897"/>
          </a:xfrm>
          <a:prstGeom prst="rect">
            <a:avLst/>
          </a:prstGeom>
        </p:spPr>
      </p:pic>
    </p:spTree>
    <p:extLst>
      <p:ext uri="{BB962C8B-B14F-4D97-AF65-F5344CB8AC3E}">
        <p14:creationId xmlns:p14="http://schemas.microsoft.com/office/powerpoint/2010/main" val="261212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748E0-40BA-157D-592D-0A77816F9021}"/>
              </a:ext>
            </a:extLst>
          </p:cNvPr>
          <p:cNvPicPr>
            <a:picLocks noChangeAspect="1"/>
          </p:cNvPicPr>
          <p:nvPr/>
        </p:nvPicPr>
        <p:blipFill>
          <a:blip r:embed="rId2"/>
          <a:stretch>
            <a:fillRect/>
          </a:stretch>
        </p:blipFill>
        <p:spPr>
          <a:xfrm>
            <a:off x="0" y="337842"/>
            <a:ext cx="9144000" cy="4467816"/>
          </a:xfrm>
          <a:prstGeom prst="rect">
            <a:avLst/>
          </a:prstGeom>
        </p:spPr>
      </p:pic>
    </p:spTree>
    <p:extLst>
      <p:ext uri="{BB962C8B-B14F-4D97-AF65-F5344CB8AC3E}">
        <p14:creationId xmlns:p14="http://schemas.microsoft.com/office/powerpoint/2010/main" val="275601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32161F-AB6D-2C32-AEB1-07B8A44593E3}"/>
              </a:ext>
            </a:extLst>
          </p:cNvPr>
          <p:cNvPicPr>
            <a:picLocks noChangeAspect="1"/>
          </p:cNvPicPr>
          <p:nvPr/>
        </p:nvPicPr>
        <p:blipFill>
          <a:blip r:embed="rId2"/>
          <a:stretch>
            <a:fillRect/>
          </a:stretch>
        </p:blipFill>
        <p:spPr>
          <a:xfrm>
            <a:off x="0" y="379497"/>
            <a:ext cx="9144000" cy="4384505"/>
          </a:xfrm>
          <a:prstGeom prst="rect">
            <a:avLst/>
          </a:prstGeom>
        </p:spPr>
      </p:pic>
    </p:spTree>
    <p:extLst>
      <p:ext uri="{BB962C8B-B14F-4D97-AF65-F5344CB8AC3E}">
        <p14:creationId xmlns:p14="http://schemas.microsoft.com/office/powerpoint/2010/main" val="3589612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3EB734-0A04-0316-F05E-37B3B36BFF7E}"/>
              </a:ext>
            </a:extLst>
          </p:cNvPr>
          <p:cNvPicPr>
            <a:picLocks noChangeAspect="1"/>
          </p:cNvPicPr>
          <p:nvPr/>
        </p:nvPicPr>
        <p:blipFill>
          <a:blip r:embed="rId2"/>
          <a:stretch>
            <a:fillRect/>
          </a:stretch>
        </p:blipFill>
        <p:spPr>
          <a:xfrm>
            <a:off x="0" y="-157655"/>
            <a:ext cx="9144000" cy="5301155"/>
          </a:xfrm>
          <a:prstGeom prst="rect">
            <a:avLst/>
          </a:prstGeom>
        </p:spPr>
      </p:pic>
    </p:spTree>
    <p:extLst>
      <p:ext uri="{BB962C8B-B14F-4D97-AF65-F5344CB8AC3E}">
        <p14:creationId xmlns:p14="http://schemas.microsoft.com/office/powerpoint/2010/main" val="3079984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81B7BE-9E7B-A8E5-327C-CF9CA94FA8C0}"/>
              </a:ext>
            </a:extLst>
          </p:cNvPr>
          <p:cNvPicPr>
            <a:picLocks noChangeAspect="1"/>
          </p:cNvPicPr>
          <p:nvPr/>
        </p:nvPicPr>
        <p:blipFill>
          <a:blip r:embed="rId2"/>
          <a:stretch>
            <a:fillRect/>
          </a:stretch>
        </p:blipFill>
        <p:spPr>
          <a:xfrm>
            <a:off x="0" y="358630"/>
            <a:ext cx="9144000" cy="4426240"/>
          </a:xfrm>
          <a:prstGeom prst="rect">
            <a:avLst/>
          </a:prstGeom>
        </p:spPr>
      </p:pic>
    </p:spTree>
    <p:extLst>
      <p:ext uri="{BB962C8B-B14F-4D97-AF65-F5344CB8AC3E}">
        <p14:creationId xmlns:p14="http://schemas.microsoft.com/office/powerpoint/2010/main" val="2621220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A5CEA-79FF-0CC7-9C10-B80B01A889CB}"/>
              </a:ext>
            </a:extLst>
          </p:cNvPr>
          <p:cNvPicPr>
            <a:picLocks noChangeAspect="1"/>
          </p:cNvPicPr>
          <p:nvPr/>
        </p:nvPicPr>
        <p:blipFill>
          <a:blip r:embed="rId2"/>
          <a:stretch>
            <a:fillRect/>
          </a:stretch>
        </p:blipFill>
        <p:spPr>
          <a:xfrm>
            <a:off x="0" y="373948"/>
            <a:ext cx="9144000" cy="4395604"/>
          </a:xfrm>
          <a:prstGeom prst="rect">
            <a:avLst/>
          </a:prstGeom>
        </p:spPr>
      </p:pic>
    </p:spTree>
    <p:extLst>
      <p:ext uri="{BB962C8B-B14F-4D97-AF65-F5344CB8AC3E}">
        <p14:creationId xmlns:p14="http://schemas.microsoft.com/office/powerpoint/2010/main" val="679851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6B280C-6117-B02C-39D8-5B97FC64596A}"/>
              </a:ext>
            </a:extLst>
          </p:cNvPr>
          <p:cNvPicPr>
            <a:picLocks noChangeAspect="1"/>
          </p:cNvPicPr>
          <p:nvPr/>
        </p:nvPicPr>
        <p:blipFill>
          <a:blip r:embed="rId2"/>
          <a:stretch>
            <a:fillRect/>
          </a:stretch>
        </p:blipFill>
        <p:spPr>
          <a:xfrm>
            <a:off x="0" y="330427"/>
            <a:ext cx="9144000" cy="4482645"/>
          </a:xfrm>
          <a:prstGeom prst="rect">
            <a:avLst/>
          </a:prstGeom>
        </p:spPr>
      </p:pic>
    </p:spTree>
    <p:extLst>
      <p:ext uri="{BB962C8B-B14F-4D97-AF65-F5344CB8AC3E}">
        <p14:creationId xmlns:p14="http://schemas.microsoft.com/office/powerpoint/2010/main" val="2574309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9144000" cy="735806"/>
          </a:xfrm>
          <a:prstGeom prst="rect">
            <a:avLst/>
          </a:prstGeom>
          <a:solidFill>
            <a:srgbClr val="0F172A"/>
          </a:solidFill>
          <a:ln/>
        </p:spPr>
        <p:txBody>
          <a:bodyPr wrap="square" rtlCol="0" anchor="ctr"/>
          <a:lstStyle/>
          <a:p>
            <a:pPr marL="0" indent="0">
              <a:buNone/>
            </a:pPr>
            <a:endParaRPr lang="en-US" dirty="0"/>
          </a:p>
        </p:txBody>
      </p:sp>
      <p:sp>
        <p:nvSpPr>
          <p:cNvPr id="3" name="Shape 1"/>
          <p:cNvSpPr/>
          <p:nvPr/>
        </p:nvSpPr>
        <p:spPr>
          <a:xfrm>
            <a:off x="0" y="721519"/>
            <a:ext cx="9144000" cy="0"/>
          </a:xfrm>
          <a:prstGeom prst="line">
            <a:avLst/>
          </a:prstGeom>
          <a:noFill/>
          <a:ln w="28575">
            <a:solidFill>
              <a:srgbClr val="FF6B35"/>
            </a:solidFill>
            <a:prstDash val="solid"/>
          </a:ln>
        </p:spPr>
      </p:sp>
      <p:sp>
        <p:nvSpPr>
          <p:cNvPr id="4" name="Text 2"/>
          <p:cNvSpPr/>
          <p:nvPr/>
        </p:nvSpPr>
        <p:spPr>
          <a:xfrm>
            <a:off x="400050" y="157163"/>
            <a:ext cx="3653044"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FF6B35"/>
                </a:solidFill>
                <a:latin typeface="Carlito" pitchFamily="34" charset="0"/>
                <a:ea typeface="Carlito" pitchFamily="34" charset="-122"/>
                <a:cs typeface="Carlito" pitchFamily="34" charset="-120"/>
              </a:rPr>
              <a:t>ROADMAP</a:t>
            </a:r>
            <a:endParaRPr lang="en-US" sz="800" dirty="0"/>
          </a:p>
        </p:txBody>
      </p:sp>
      <p:sp>
        <p:nvSpPr>
          <p:cNvPr id="5" name="Text 3"/>
          <p:cNvSpPr/>
          <p:nvPr/>
        </p:nvSpPr>
        <p:spPr>
          <a:xfrm>
            <a:off x="400050" y="303609"/>
            <a:ext cx="2702682" cy="246459"/>
          </a:xfrm>
          <a:prstGeom prst="rect">
            <a:avLst/>
          </a:prstGeom>
          <a:noFill/>
          <a:ln/>
        </p:spPr>
        <p:txBody>
          <a:bodyPr wrap="none" lIns="0" tIns="0" rIns="0" bIns="0" rtlCol="0" anchor="t"/>
          <a:lstStyle/>
          <a:p>
            <a:pPr marL="0" indent="0" algn="l">
              <a:lnSpc>
                <a:spcPts val="1941"/>
              </a:lnSpc>
              <a:buNone/>
            </a:pPr>
            <a:r>
              <a:rPr lang="en-US" sz="1688" b="1" kern="0" spc="-17" dirty="0">
                <a:solidFill>
                  <a:srgbClr val="FFFFFF"/>
                </a:solidFill>
                <a:latin typeface="Carlito" pitchFamily="34" charset="0"/>
                <a:ea typeface="Carlito" pitchFamily="34" charset="-122"/>
                <a:cs typeface="Carlito" pitchFamily="34" charset="-120"/>
              </a:rPr>
              <a:t>Future Improvements</a:t>
            </a:r>
            <a:endParaRPr lang="en-US" sz="1688" dirty="0"/>
          </a:p>
        </p:txBody>
      </p:sp>
      <p:sp>
        <p:nvSpPr>
          <p:cNvPr id="6" name="Text 4"/>
          <p:cNvSpPr/>
          <p:nvPr/>
        </p:nvSpPr>
        <p:spPr>
          <a:xfrm>
            <a:off x="7917276" y="214313"/>
            <a:ext cx="826674" cy="111871"/>
          </a:xfrm>
          <a:prstGeom prst="rect">
            <a:avLst/>
          </a:prstGeom>
          <a:noFill/>
          <a:ln/>
        </p:spPr>
        <p:txBody>
          <a:bodyPr wrap="none" lIns="0" tIns="0" rIns="0" bIns="0" rtlCol="0" anchor="t">
            <a:normAutofit fontScale="25000" lnSpcReduction="20000"/>
          </a:bodyPr>
          <a:lstStyle/>
          <a:p>
            <a:pPr marL="0" indent="0" algn="r">
              <a:lnSpc>
                <a:spcPts val="1097"/>
              </a:lnSpc>
              <a:buNone/>
            </a:pPr>
            <a:r>
              <a:rPr lang="en-US" sz="800" kern="0" spc="29" dirty="0">
                <a:solidFill>
                  <a:srgbClr val="94A3B8"/>
                </a:solidFill>
                <a:latin typeface="Carlito" pitchFamily="34" charset="0"/>
                <a:ea typeface="Carlito" pitchFamily="34" charset="-122"/>
                <a:cs typeface="Carlito" pitchFamily="34" charset="-120"/>
              </a:rPr>
              <a:t>SmartPizza</a:t>
            </a:r>
            <a:r>
              <a:rPr lang="en-US" sz="800" kern="0" spc="29" dirty="0">
                <a:solidFill>
                  <a:srgbClr val="FF6B35"/>
                </a:solidFill>
                <a:latin typeface="Carlito" pitchFamily="34" charset="0"/>
                <a:ea typeface="Carlito" pitchFamily="34" charset="-122"/>
                <a:cs typeface="Carlito" pitchFamily="34" charset="-120"/>
              </a:rPr>
              <a:t>.</a:t>
            </a:r>
            <a:r>
              <a:rPr lang="en-US" sz="800" kern="0" spc="29" dirty="0">
                <a:solidFill>
                  <a:srgbClr val="94A3B8"/>
                </a:solidFill>
                <a:latin typeface="Carlito" pitchFamily="34" charset="0"/>
                <a:ea typeface="Carlito" pitchFamily="34" charset="-122"/>
                <a:cs typeface="Carlito" pitchFamily="34" charset="-120"/>
              </a:rPr>
              <a:t>AI</a:t>
            </a:r>
            <a:endParaRPr lang="en-US" sz="800" dirty="0"/>
          </a:p>
        </p:txBody>
      </p:sp>
      <p:sp>
        <p:nvSpPr>
          <p:cNvPr id="7" name="Text 5"/>
          <p:cNvSpPr/>
          <p:nvPr/>
        </p:nvSpPr>
        <p:spPr>
          <a:xfrm>
            <a:off x="7813691" y="353616"/>
            <a:ext cx="930259" cy="164592"/>
          </a:xfrm>
          <a:prstGeom prst="rect">
            <a:avLst/>
          </a:prstGeom>
          <a:noFill/>
          <a:ln/>
        </p:spPr>
        <p:txBody>
          <a:bodyPr wrap="none" lIns="0" tIns="0" rIns="0" bIns="0" rtlCol="0" anchor="t"/>
          <a:lstStyle/>
          <a:p>
            <a:pPr marL="0" indent="0" algn="r">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15 / 16</a:t>
            </a:r>
            <a:endParaRPr lang="en-US" sz="800" dirty="0"/>
          </a:p>
        </p:txBody>
      </p:sp>
      <p:sp>
        <p:nvSpPr>
          <p:cNvPr id="8" name="Text 6"/>
          <p:cNvSpPr/>
          <p:nvPr/>
        </p:nvSpPr>
        <p:spPr>
          <a:xfrm>
            <a:off x="400050" y="992981"/>
            <a:ext cx="25717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9" name="Text 7"/>
          <p:cNvSpPr/>
          <p:nvPr/>
        </p:nvSpPr>
        <p:spPr>
          <a:xfrm>
            <a:off x="400050" y="1114425"/>
            <a:ext cx="8636000" cy="254603"/>
          </a:xfrm>
          <a:prstGeom prst="rect">
            <a:avLst/>
          </a:prstGeom>
          <a:noFill/>
          <a:ln/>
        </p:spPr>
        <p:txBody>
          <a:bodyPr wrap="square" lIns="0" tIns="0" rIns="0" bIns="0" rtlCol="0" anchor="t"/>
          <a:lstStyle/>
          <a:p>
            <a:pPr marL="0" indent="0" algn="l">
              <a:lnSpc>
                <a:spcPts val="1856"/>
              </a:lnSpc>
              <a:buNone/>
            </a:pPr>
            <a:r>
              <a:rPr lang="en-US" sz="1238" b="1" kern="0" spc="-12" dirty="0">
                <a:solidFill>
                  <a:srgbClr val="0F172A"/>
                </a:solidFill>
                <a:latin typeface="Carlito" pitchFamily="34" charset="0"/>
                <a:ea typeface="Carlito" pitchFamily="34" charset="-122"/>
                <a:cs typeface="Carlito" pitchFamily="34" charset="-120"/>
              </a:rPr>
              <a:t>Phase 2 — what SmartPizza AI becomes next</a:t>
            </a:r>
            <a:endParaRPr lang="en-US" sz="1238" dirty="0"/>
          </a:p>
        </p:txBody>
      </p:sp>
      <p:sp>
        <p:nvSpPr>
          <p:cNvPr id="10" name="Text 8"/>
          <p:cNvSpPr/>
          <p:nvPr/>
        </p:nvSpPr>
        <p:spPr>
          <a:xfrm>
            <a:off x="400050" y="1450181"/>
            <a:ext cx="8343900" cy="346704"/>
          </a:xfrm>
          <a:prstGeom prst="rect">
            <a:avLst/>
          </a:prstGeom>
          <a:noFill/>
          <a:ln/>
        </p:spPr>
        <p:txBody>
          <a:bodyPr wrap="square" lIns="0" tIns="0" rIns="0" bIns="0" rtlCol="0" anchor="t"/>
          <a:lstStyle/>
          <a:p>
            <a:pPr marL="0" indent="0" algn="l">
              <a:lnSpc>
                <a:spcPts val="1264"/>
              </a:lnSpc>
              <a:buNone/>
            </a:pPr>
            <a:r>
              <a:rPr lang="en-US" sz="816" dirty="0">
                <a:solidFill>
                  <a:srgbClr val="334155"/>
                </a:solidFill>
                <a:latin typeface="Carlito" pitchFamily="34" charset="0"/>
                <a:ea typeface="Carlito" pitchFamily="34" charset="-122"/>
                <a:cs typeface="Carlito" pitchFamily="34" charset="-120"/>
              </a:rPr>
              <a:t>The current platform proves the core loop — order, AI-recommend, track, pay, analyze. The next six improvements extend that loop into a richer, stickier, more scalable product.</a:t>
            </a:r>
            <a:endParaRPr lang="en-US" sz="816" dirty="0"/>
          </a:p>
        </p:txBody>
      </p:sp>
      <p:sp>
        <p:nvSpPr>
          <p:cNvPr id="11" name="Text 9"/>
          <p:cNvSpPr/>
          <p:nvPr/>
        </p:nvSpPr>
        <p:spPr>
          <a:xfrm>
            <a:off x="400050" y="1871216"/>
            <a:ext cx="2714625" cy="1075134"/>
          </a:xfrm>
          <a:prstGeom prst="roundRect">
            <a:avLst>
              <a:gd name="adj" fmla="val 7087"/>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00050" y="1874788"/>
            <a:ext cx="2714625" cy="0"/>
          </a:xfrm>
          <a:prstGeom prst="line">
            <a:avLst/>
          </a:prstGeom>
          <a:noFill/>
          <a:ln w="7144">
            <a:solidFill>
              <a:srgbClr val="E2E8F0"/>
            </a:solidFill>
            <a:prstDash val="solid"/>
          </a:ln>
        </p:spPr>
      </p:sp>
      <p:sp>
        <p:nvSpPr>
          <p:cNvPr id="13" name="Shape 11"/>
          <p:cNvSpPr/>
          <p:nvPr/>
        </p:nvSpPr>
        <p:spPr>
          <a:xfrm>
            <a:off x="3111103" y="1871216"/>
            <a:ext cx="0" cy="1075134"/>
          </a:xfrm>
          <a:prstGeom prst="line">
            <a:avLst/>
          </a:prstGeom>
          <a:noFill/>
          <a:ln w="7144">
            <a:solidFill>
              <a:srgbClr val="E2E8F0"/>
            </a:solidFill>
            <a:prstDash val="solid"/>
          </a:ln>
        </p:spPr>
      </p:sp>
      <p:sp>
        <p:nvSpPr>
          <p:cNvPr id="14" name="Shape 12"/>
          <p:cNvSpPr/>
          <p:nvPr/>
        </p:nvSpPr>
        <p:spPr>
          <a:xfrm>
            <a:off x="400050" y="2942779"/>
            <a:ext cx="2714625" cy="0"/>
          </a:xfrm>
          <a:prstGeom prst="line">
            <a:avLst/>
          </a:prstGeom>
          <a:noFill/>
          <a:ln w="7144">
            <a:solidFill>
              <a:srgbClr val="E2E8F0"/>
            </a:solidFill>
            <a:prstDash val="solid"/>
          </a:ln>
        </p:spPr>
      </p:sp>
      <p:sp>
        <p:nvSpPr>
          <p:cNvPr id="15" name="Shape 13"/>
          <p:cNvSpPr/>
          <p:nvPr/>
        </p:nvSpPr>
        <p:spPr>
          <a:xfrm>
            <a:off x="414338" y="1871216"/>
            <a:ext cx="0" cy="1075134"/>
          </a:xfrm>
          <a:prstGeom prst="line">
            <a:avLst/>
          </a:prstGeom>
          <a:noFill/>
          <a:ln w="28575">
            <a:solidFill>
              <a:srgbClr val="FF6B35"/>
            </a:solidFill>
            <a:prstDash val="solid"/>
          </a:ln>
        </p:spPr>
      </p:sp>
      <p:sp>
        <p:nvSpPr>
          <p:cNvPr id="16" name="Text 14"/>
          <p:cNvSpPr/>
          <p:nvPr/>
        </p:nvSpPr>
        <p:spPr>
          <a:xfrm>
            <a:off x="542925" y="1992660"/>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17" name="Text 15"/>
          <p:cNvSpPr/>
          <p:nvPr/>
        </p:nvSpPr>
        <p:spPr>
          <a:xfrm>
            <a:off x="564713" y="2014448"/>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885825" y="2002482"/>
            <a:ext cx="1841659"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01</a:t>
            </a:r>
            <a:endParaRPr lang="en-US" sz="800" dirty="0"/>
          </a:p>
        </p:txBody>
      </p:sp>
      <p:sp>
        <p:nvSpPr>
          <p:cNvPr id="19" name="Text 17"/>
          <p:cNvSpPr/>
          <p:nvPr/>
        </p:nvSpPr>
        <p:spPr>
          <a:xfrm>
            <a:off x="885825" y="2120354"/>
            <a:ext cx="1349015" cy="144661"/>
          </a:xfrm>
          <a:prstGeom prst="rect">
            <a:avLst/>
          </a:prstGeom>
          <a:noFill/>
          <a:ln/>
        </p:spPr>
        <p:txBody>
          <a:bodyPr wrap="non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Native Mobile Apps</a:t>
            </a:r>
            <a:endParaRPr lang="en-US" sz="844" dirty="0"/>
          </a:p>
        </p:txBody>
      </p:sp>
      <p:sp>
        <p:nvSpPr>
          <p:cNvPr id="20" name="Text 18"/>
          <p:cNvSpPr/>
          <p:nvPr/>
        </p:nvSpPr>
        <p:spPr>
          <a:xfrm>
            <a:off x="542925" y="2321272"/>
            <a:ext cx="2450306" cy="517922"/>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Ship React Native / Flutter apps for iOS and Android with push notifications for every order status, biometric login, and offline menu caching for low-connectivity zones.</a:t>
            </a:r>
            <a:endParaRPr lang="en-US" sz="800" dirty="0"/>
          </a:p>
        </p:txBody>
      </p:sp>
      <p:sp>
        <p:nvSpPr>
          <p:cNvPr id="21" name="Text 19"/>
          <p:cNvSpPr/>
          <p:nvPr/>
        </p:nvSpPr>
        <p:spPr>
          <a:xfrm>
            <a:off x="3214688" y="1871216"/>
            <a:ext cx="2714625" cy="1075134"/>
          </a:xfrm>
          <a:prstGeom prst="roundRect">
            <a:avLst>
              <a:gd name="adj" fmla="val 7087"/>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3214688" y="1874788"/>
            <a:ext cx="2714625" cy="0"/>
          </a:xfrm>
          <a:prstGeom prst="line">
            <a:avLst/>
          </a:prstGeom>
          <a:noFill/>
          <a:ln w="7144">
            <a:solidFill>
              <a:srgbClr val="E2E8F0"/>
            </a:solidFill>
            <a:prstDash val="solid"/>
          </a:ln>
        </p:spPr>
      </p:sp>
      <p:sp>
        <p:nvSpPr>
          <p:cNvPr id="23" name="Shape 21"/>
          <p:cNvSpPr/>
          <p:nvPr/>
        </p:nvSpPr>
        <p:spPr>
          <a:xfrm>
            <a:off x="5925741" y="1871216"/>
            <a:ext cx="0" cy="1075134"/>
          </a:xfrm>
          <a:prstGeom prst="line">
            <a:avLst/>
          </a:prstGeom>
          <a:noFill/>
          <a:ln w="7144">
            <a:solidFill>
              <a:srgbClr val="E2E8F0"/>
            </a:solidFill>
            <a:prstDash val="solid"/>
          </a:ln>
        </p:spPr>
      </p:sp>
      <p:sp>
        <p:nvSpPr>
          <p:cNvPr id="24" name="Shape 22"/>
          <p:cNvSpPr/>
          <p:nvPr/>
        </p:nvSpPr>
        <p:spPr>
          <a:xfrm>
            <a:off x="3214688" y="2942779"/>
            <a:ext cx="2714625" cy="0"/>
          </a:xfrm>
          <a:prstGeom prst="line">
            <a:avLst/>
          </a:prstGeom>
          <a:noFill/>
          <a:ln w="7144">
            <a:solidFill>
              <a:srgbClr val="E2E8F0"/>
            </a:solidFill>
            <a:prstDash val="solid"/>
          </a:ln>
        </p:spPr>
      </p:sp>
      <p:sp>
        <p:nvSpPr>
          <p:cNvPr id="25" name="Shape 23"/>
          <p:cNvSpPr/>
          <p:nvPr/>
        </p:nvSpPr>
        <p:spPr>
          <a:xfrm>
            <a:off x="3228975" y="1871216"/>
            <a:ext cx="0" cy="1075134"/>
          </a:xfrm>
          <a:prstGeom prst="line">
            <a:avLst/>
          </a:prstGeom>
          <a:noFill/>
          <a:ln w="28575">
            <a:solidFill>
              <a:srgbClr val="FF6B35"/>
            </a:solidFill>
            <a:prstDash val="solid"/>
          </a:ln>
        </p:spPr>
      </p:sp>
      <p:sp>
        <p:nvSpPr>
          <p:cNvPr id="26" name="Text 24"/>
          <p:cNvSpPr/>
          <p:nvPr/>
        </p:nvSpPr>
        <p:spPr>
          <a:xfrm>
            <a:off x="3357563" y="1992660"/>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27" name="Text 25"/>
          <p:cNvSpPr/>
          <p:nvPr/>
        </p:nvSpPr>
        <p:spPr>
          <a:xfrm>
            <a:off x="3379351" y="2014448"/>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3700463" y="2002482"/>
            <a:ext cx="2107406"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02</a:t>
            </a:r>
            <a:endParaRPr lang="en-US" sz="800" dirty="0"/>
          </a:p>
        </p:txBody>
      </p:sp>
      <p:sp>
        <p:nvSpPr>
          <p:cNvPr id="29" name="Text 27"/>
          <p:cNvSpPr/>
          <p:nvPr/>
        </p:nvSpPr>
        <p:spPr>
          <a:xfrm>
            <a:off x="3700463" y="2120354"/>
            <a:ext cx="1548123" cy="144661"/>
          </a:xfrm>
          <a:prstGeom prst="rect">
            <a:avLst/>
          </a:prstGeom>
          <a:noFill/>
          <a:ln/>
        </p:spPr>
        <p:txBody>
          <a:bodyPr wrap="non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Chat &amp; Voice Ordering</a:t>
            </a:r>
            <a:endParaRPr lang="en-US" sz="844" dirty="0"/>
          </a:p>
        </p:txBody>
      </p:sp>
      <p:sp>
        <p:nvSpPr>
          <p:cNvPr id="30" name="Text 28"/>
          <p:cNvSpPr/>
          <p:nvPr/>
        </p:nvSpPr>
        <p:spPr>
          <a:xfrm>
            <a:off x="3357563" y="2321272"/>
            <a:ext cx="2450306" cy="477317"/>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WebSocket-based in-app chat between customer and rider for delivery instructions, plus voice ordering via Azure Speech Services for hands-free reordering.</a:t>
            </a:r>
            <a:endParaRPr lang="en-US" sz="800" dirty="0"/>
          </a:p>
        </p:txBody>
      </p:sp>
      <p:sp>
        <p:nvSpPr>
          <p:cNvPr id="31" name="Text 29"/>
          <p:cNvSpPr/>
          <p:nvPr/>
        </p:nvSpPr>
        <p:spPr>
          <a:xfrm>
            <a:off x="6029325" y="1871216"/>
            <a:ext cx="2714625" cy="1075134"/>
          </a:xfrm>
          <a:prstGeom prst="roundRect">
            <a:avLst>
              <a:gd name="adj" fmla="val 7087"/>
            </a:avLst>
          </a:prstGeom>
          <a:solidFill>
            <a:srgbClr val="FFFFFF"/>
          </a:solidFill>
          <a:ln/>
        </p:spPr>
        <p:txBody>
          <a:bodyPr wrap="square" rtlCol="0" anchor="ctr"/>
          <a:lstStyle/>
          <a:p>
            <a:pPr marL="0" indent="0">
              <a:buNone/>
            </a:pPr>
            <a:endParaRPr lang="en-US" dirty="0"/>
          </a:p>
        </p:txBody>
      </p:sp>
      <p:sp>
        <p:nvSpPr>
          <p:cNvPr id="32" name="Shape 30"/>
          <p:cNvSpPr/>
          <p:nvPr/>
        </p:nvSpPr>
        <p:spPr>
          <a:xfrm>
            <a:off x="6029325" y="1874788"/>
            <a:ext cx="2714625" cy="0"/>
          </a:xfrm>
          <a:prstGeom prst="line">
            <a:avLst/>
          </a:prstGeom>
          <a:noFill/>
          <a:ln w="7144">
            <a:solidFill>
              <a:srgbClr val="E2E8F0"/>
            </a:solidFill>
            <a:prstDash val="solid"/>
          </a:ln>
        </p:spPr>
      </p:sp>
      <p:sp>
        <p:nvSpPr>
          <p:cNvPr id="33" name="Shape 31"/>
          <p:cNvSpPr/>
          <p:nvPr/>
        </p:nvSpPr>
        <p:spPr>
          <a:xfrm>
            <a:off x="8740378" y="1871216"/>
            <a:ext cx="0" cy="1075134"/>
          </a:xfrm>
          <a:prstGeom prst="line">
            <a:avLst/>
          </a:prstGeom>
          <a:noFill/>
          <a:ln w="7144">
            <a:solidFill>
              <a:srgbClr val="E2E8F0"/>
            </a:solidFill>
            <a:prstDash val="solid"/>
          </a:ln>
        </p:spPr>
      </p:sp>
      <p:sp>
        <p:nvSpPr>
          <p:cNvPr id="34" name="Shape 32"/>
          <p:cNvSpPr/>
          <p:nvPr/>
        </p:nvSpPr>
        <p:spPr>
          <a:xfrm>
            <a:off x="6029325" y="2942779"/>
            <a:ext cx="2714625" cy="0"/>
          </a:xfrm>
          <a:prstGeom prst="line">
            <a:avLst/>
          </a:prstGeom>
          <a:noFill/>
          <a:ln w="7144">
            <a:solidFill>
              <a:srgbClr val="E2E8F0"/>
            </a:solidFill>
            <a:prstDash val="solid"/>
          </a:ln>
        </p:spPr>
      </p:sp>
      <p:sp>
        <p:nvSpPr>
          <p:cNvPr id="35" name="Shape 33"/>
          <p:cNvSpPr/>
          <p:nvPr/>
        </p:nvSpPr>
        <p:spPr>
          <a:xfrm>
            <a:off x="6043613" y="1871216"/>
            <a:ext cx="0" cy="1075134"/>
          </a:xfrm>
          <a:prstGeom prst="line">
            <a:avLst/>
          </a:prstGeom>
          <a:noFill/>
          <a:ln w="28575">
            <a:solidFill>
              <a:srgbClr val="FF6B35"/>
            </a:solidFill>
            <a:prstDash val="solid"/>
          </a:ln>
        </p:spPr>
      </p:sp>
      <p:sp>
        <p:nvSpPr>
          <p:cNvPr id="36" name="Text 34"/>
          <p:cNvSpPr/>
          <p:nvPr/>
        </p:nvSpPr>
        <p:spPr>
          <a:xfrm>
            <a:off x="6172200" y="1992660"/>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37" name="Text 35"/>
          <p:cNvSpPr/>
          <p:nvPr/>
        </p:nvSpPr>
        <p:spPr>
          <a:xfrm>
            <a:off x="6193988" y="2014448"/>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38" name="Text 36"/>
          <p:cNvSpPr/>
          <p:nvPr/>
        </p:nvSpPr>
        <p:spPr>
          <a:xfrm>
            <a:off x="6515100" y="2002482"/>
            <a:ext cx="1960245"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03</a:t>
            </a:r>
            <a:endParaRPr lang="en-US" sz="800" dirty="0"/>
          </a:p>
        </p:txBody>
      </p:sp>
      <p:sp>
        <p:nvSpPr>
          <p:cNvPr id="39" name="Text 37"/>
          <p:cNvSpPr/>
          <p:nvPr/>
        </p:nvSpPr>
        <p:spPr>
          <a:xfrm>
            <a:off x="6515100" y="2120354"/>
            <a:ext cx="1435879" cy="144661"/>
          </a:xfrm>
          <a:prstGeom prst="rect">
            <a:avLst/>
          </a:prstGeom>
          <a:noFill/>
          <a:ln/>
        </p:spPr>
        <p:txBody>
          <a:bodyPr wrap="non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Demand Forecasting</a:t>
            </a:r>
            <a:endParaRPr lang="en-US" sz="844" dirty="0"/>
          </a:p>
        </p:txBody>
      </p:sp>
      <p:sp>
        <p:nvSpPr>
          <p:cNvPr id="40" name="Text 38"/>
          <p:cNvSpPr/>
          <p:nvPr/>
        </p:nvSpPr>
        <p:spPr>
          <a:xfrm>
            <a:off x="6172200" y="2321272"/>
            <a:ext cx="2450306" cy="477317"/>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ML model trained on order history, weather, and local events to forecast hourly demand per kitchen — cutting food waste and shortening prep-time peaks.</a:t>
            </a:r>
            <a:endParaRPr lang="en-US" sz="800" dirty="0"/>
          </a:p>
        </p:txBody>
      </p:sp>
      <p:sp>
        <p:nvSpPr>
          <p:cNvPr id="41" name="Text 39"/>
          <p:cNvSpPr/>
          <p:nvPr/>
        </p:nvSpPr>
        <p:spPr>
          <a:xfrm>
            <a:off x="400050" y="3046363"/>
            <a:ext cx="2714625" cy="945654"/>
          </a:xfrm>
          <a:prstGeom prst="roundRect">
            <a:avLst>
              <a:gd name="adj" fmla="val 8058"/>
            </a:avLst>
          </a:prstGeom>
          <a:solidFill>
            <a:srgbClr val="FFFFFF"/>
          </a:solidFill>
          <a:ln/>
        </p:spPr>
        <p:txBody>
          <a:bodyPr wrap="square" rtlCol="0" anchor="ctr"/>
          <a:lstStyle/>
          <a:p>
            <a:pPr marL="0" indent="0">
              <a:buNone/>
            </a:pPr>
            <a:endParaRPr lang="en-US" dirty="0"/>
          </a:p>
        </p:txBody>
      </p:sp>
      <p:sp>
        <p:nvSpPr>
          <p:cNvPr id="42" name="Shape 40"/>
          <p:cNvSpPr/>
          <p:nvPr/>
        </p:nvSpPr>
        <p:spPr>
          <a:xfrm>
            <a:off x="400050" y="3049935"/>
            <a:ext cx="2714625" cy="0"/>
          </a:xfrm>
          <a:prstGeom prst="line">
            <a:avLst/>
          </a:prstGeom>
          <a:noFill/>
          <a:ln w="7144">
            <a:solidFill>
              <a:srgbClr val="E2E8F0"/>
            </a:solidFill>
            <a:prstDash val="solid"/>
          </a:ln>
        </p:spPr>
      </p:sp>
      <p:sp>
        <p:nvSpPr>
          <p:cNvPr id="43" name="Shape 41"/>
          <p:cNvSpPr/>
          <p:nvPr/>
        </p:nvSpPr>
        <p:spPr>
          <a:xfrm>
            <a:off x="3111103" y="3046363"/>
            <a:ext cx="0" cy="945654"/>
          </a:xfrm>
          <a:prstGeom prst="line">
            <a:avLst/>
          </a:prstGeom>
          <a:noFill/>
          <a:ln w="7144">
            <a:solidFill>
              <a:srgbClr val="E2E8F0"/>
            </a:solidFill>
            <a:prstDash val="solid"/>
          </a:ln>
        </p:spPr>
      </p:sp>
      <p:sp>
        <p:nvSpPr>
          <p:cNvPr id="44" name="Shape 42"/>
          <p:cNvSpPr/>
          <p:nvPr/>
        </p:nvSpPr>
        <p:spPr>
          <a:xfrm>
            <a:off x="400050" y="3988445"/>
            <a:ext cx="2714625" cy="0"/>
          </a:xfrm>
          <a:prstGeom prst="line">
            <a:avLst/>
          </a:prstGeom>
          <a:noFill/>
          <a:ln w="7144">
            <a:solidFill>
              <a:srgbClr val="E2E8F0"/>
            </a:solidFill>
            <a:prstDash val="solid"/>
          </a:ln>
        </p:spPr>
      </p:sp>
      <p:sp>
        <p:nvSpPr>
          <p:cNvPr id="45" name="Shape 43"/>
          <p:cNvSpPr/>
          <p:nvPr/>
        </p:nvSpPr>
        <p:spPr>
          <a:xfrm>
            <a:off x="414338" y="3046363"/>
            <a:ext cx="0" cy="945654"/>
          </a:xfrm>
          <a:prstGeom prst="line">
            <a:avLst/>
          </a:prstGeom>
          <a:noFill/>
          <a:ln w="28575">
            <a:solidFill>
              <a:srgbClr val="FF6B35"/>
            </a:solidFill>
            <a:prstDash val="solid"/>
          </a:ln>
        </p:spPr>
      </p:sp>
      <p:sp>
        <p:nvSpPr>
          <p:cNvPr id="46" name="Text 44"/>
          <p:cNvSpPr/>
          <p:nvPr/>
        </p:nvSpPr>
        <p:spPr>
          <a:xfrm>
            <a:off x="542925" y="3167807"/>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47" name="Text 45"/>
          <p:cNvSpPr/>
          <p:nvPr/>
        </p:nvSpPr>
        <p:spPr>
          <a:xfrm>
            <a:off x="564713" y="3189595"/>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48" name="Text 46"/>
          <p:cNvSpPr/>
          <p:nvPr/>
        </p:nvSpPr>
        <p:spPr>
          <a:xfrm>
            <a:off x="885825" y="3177629"/>
            <a:ext cx="2107406"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04</a:t>
            </a:r>
            <a:endParaRPr lang="en-US" sz="800" dirty="0"/>
          </a:p>
        </p:txBody>
      </p:sp>
      <p:sp>
        <p:nvSpPr>
          <p:cNvPr id="49" name="Text 47"/>
          <p:cNvSpPr/>
          <p:nvPr/>
        </p:nvSpPr>
        <p:spPr>
          <a:xfrm>
            <a:off x="885825" y="3295501"/>
            <a:ext cx="1653595" cy="144661"/>
          </a:xfrm>
          <a:prstGeom prst="rect">
            <a:avLst/>
          </a:prstGeom>
          <a:noFill/>
          <a:ln/>
        </p:spPr>
        <p:txBody>
          <a:bodyPr wrap="squar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Multi-Vendor Marketplace</a:t>
            </a:r>
            <a:endParaRPr lang="en-US" sz="844" dirty="0"/>
          </a:p>
        </p:txBody>
      </p:sp>
      <p:sp>
        <p:nvSpPr>
          <p:cNvPr id="50" name="Text 48"/>
          <p:cNvSpPr/>
          <p:nvPr/>
        </p:nvSpPr>
        <p:spPr>
          <a:xfrm>
            <a:off x="542925" y="3496419"/>
            <a:ext cx="2450306"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Expand from single-kitchen SmartPizza to a multi-restaurant marketplace with shared cart, unified checkout, and cross-vendor coupon stacking.</a:t>
            </a:r>
            <a:endParaRPr lang="en-US" sz="800" dirty="0"/>
          </a:p>
        </p:txBody>
      </p:sp>
      <p:sp>
        <p:nvSpPr>
          <p:cNvPr id="51" name="Text 49"/>
          <p:cNvSpPr/>
          <p:nvPr/>
        </p:nvSpPr>
        <p:spPr>
          <a:xfrm>
            <a:off x="3214688" y="3046363"/>
            <a:ext cx="2714625" cy="945654"/>
          </a:xfrm>
          <a:prstGeom prst="roundRect">
            <a:avLst>
              <a:gd name="adj" fmla="val 8058"/>
            </a:avLst>
          </a:prstGeom>
          <a:solidFill>
            <a:srgbClr val="FFFFFF"/>
          </a:solidFill>
          <a:ln/>
        </p:spPr>
        <p:txBody>
          <a:bodyPr wrap="square" rtlCol="0" anchor="ctr"/>
          <a:lstStyle/>
          <a:p>
            <a:pPr marL="0" indent="0">
              <a:buNone/>
            </a:pPr>
            <a:endParaRPr lang="en-US" dirty="0"/>
          </a:p>
        </p:txBody>
      </p:sp>
      <p:sp>
        <p:nvSpPr>
          <p:cNvPr id="52" name="Shape 50"/>
          <p:cNvSpPr/>
          <p:nvPr/>
        </p:nvSpPr>
        <p:spPr>
          <a:xfrm>
            <a:off x="3214688" y="3049935"/>
            <a:ext cx="2714625" cy="0"/>
          </a:xfrm>
          <a:prstGeom prst="line">
            <a:avLst/>
          </a:prstGeom>
          <a:noFill/>
          <a:ln w="7144">
            <a:solidFill>
              <a:srgbClr val="E2E8F0"/>
            </a:solidFill>
            <a:prstDash val="solid"/>
          </a:ln>
        </p:spPr>
      </p:sp>
      <p:sp>
        <p:nvSpPr>
          <p:cNvPr id="53" name="Shape 51"/>
          <p:cNvSpPr/>
          <p:nvPr/>
        </p:nvSpPr>
        <p:spPr>
          <a:xfrm>
            <a:off x="5925741" y="3046363"/>
            <a:ext cx="0" cy="945654"/>
          </a:xfrm>
          <a:prstGeom prst="line">
            <a:avLst/>
          </a:prstGeom>
          <a:noFill/>
          <a:ln w="7144">
            <a:solidFill>
              <a:srgbClr val="E2E8F0"/>
            </a:solidFill>
            <a:prstDash val="solid"/>
          </a:ln>
        </p:spPr>
      </p:sp>
      <p:sp>
        <p:nvSpPr>
          <p:cNvPr id="54" name="Shape 52"/>
          <p:cNvSpPr/>
          <p:nvPr/>
        </p:nvSpPr>
        <p:spPr>
          <a:xfrm>
            <a:off x="3214688" y="3988445"/>
            <a:ext cx="2714625" cy="0"/>
          </a:xfrm>
          <a:prstGeom prst="line">
            <a:avLst/>
          </a:prstGeom>
          <a:noFill/>
          <a:ln w="7144">
            <a:solidFill>
              <a:srgbClr val="E2E8F0"/>
            </a:solidFill>
            <a:prstDash val="solid"/>
          </a:ln>
        </p:spPr>
      </p:sp>
      <p:sp>
        <p:nvSpPr>
          <p:cNvPr id="55" name="Shape 53"/>
          <p:cNvSpPr/>
          <p:nvPr/>
        </p:nvSpPr>
        <p:spPr>
          <a:xfrm>
            <a:off x="3228975" y="3046363"/>
            <a:ext cx="0" cy="945654"/>
          </a:xfrm>
          <a:prstGeom prst="line">
            <a:avLst/>
          </a:prstGeom>
          <a:noFill/>
          <a:ln w="28575">
            <a:solidFill>
              <a:srgbClr val="FF6B35"/>
            </a:solidFill>
            <a:prstDash val="solid"/>
          </a:ln>
        </p:spPr>
      </p:sp>
      <p:sp>
        <p:nvSpPr>
          <p:cNvPr id="56" name="Text 54"/>
          <p:cNvSpPr/>
          <p:nvPr/>
        </p:nvSpPr>
        <p:spPr>
          <a:xfrm>
            <a:off x="3357563" y="3167807"/>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57" name="Text 55"/>
          <p:cNvSpPr/>
          <p:nvPr/>
        </p:nvSpPr>
        <p:spPr>
          <a:xfrm>
            <a:off x="3379351" y="3189595"/>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58" name="Text 56"/>
          <p:cNvSpPr/>
          <p:nvPr/>
        </p:nvSpPr>
        <p:spPr>
          <a:xfrm>
            <a:off x="3700463" y="3177629"/>
            <a:ext cx="2107406"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05</a:t>
            </a:r>
            <a:endParaRPr lang="en-US" sz="800" dirty="0"/>
          </a:p>
        </p:txBody>
      </p:sp>
      <p:sp>
        <p:nvSpPr>
          <p:cNvPr id="59" name="Text 57"/>
          <p:cNvSpPr/>
          <p:nvPr/>
        </p:nvSpPr>
        <p:spPr>
          <a:xfrm>
            <a:off x="3700463" y="3295501"/>
            <a:ext cx="1482853" cy="144661"/>
          </a:xfrm>
          <a:prstGeom prst="rect">
            <a:avLst/>
          </a:prstGeom>
          <a:noFill/>
          <a:ln/>
        </p:spPr>
        <p:txBody>
          <a:bodyPr wrap="non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Subscription &amp; Loyalty</a:t>
            </a:r>
            <a:endParaRPr lang="en-US" sz="844" dirty="0"/>
          </a:p>
        </p:txBody>
      </p:sp>
      <p:sp>
        <p:nvSpPr>
          <p:cNvPr id="60" name="Text 58"/>
          <p:cNvSpPr/>
          <p:nvPr/>
        </p:nvSpPr>
        <p:spPr>
          <a:xfrm>
            <a:off x="3357563" y="3496419"/>
            <a:ext cx="2450306"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PizzaPass monthly subscription with free delivery and exclusive AI combos, plus tiered loyalty rewards based on order frequency and basket size.</a:t>
            </a:r>
            <a:endParaRPr lang="en-US" sz="800" dirty="0"/>
          </a:p>
        </p:txBody>
      </p:sp>
      <p:sp>
        <p:nvSpPr>
          <p:cNvPr id="61" name="Text 59"/>
          <p:cNvSpPr/>
          <p:nvPr/>
        </p:nvSpPr>
        <p:spPr>
          <a:xfrm>
            <a:off x="6029325" y="3046363"/>
            <a:ext cx="2714625" cy="945654"/>
          </a:xfrm>
          <a:prstGeom prst="roundRect">
            <a:avLst>
              <a:gd name="adj" fmla="val 8058"/>
            </a:avLst>
          </a:prstGeom>
          <a:solidFill>
            <a:srgbClr val="FFFFFF"/>
          </a:solidFill>
          <a:ln/>
        </p:spPr>
        <p:txBody>
          <a:bodyPr wrap="square" rtlCol="0" anchor="ctr"/>
          <a:lstStyle/>
          <a:p>
            <a:pPr marL="0" indent="0">
              <a:buNone/>
            </a:pPr>
            <a:endParaRPr lang="en-US" dirty="0"/>
          </a:p>
        </p:txBody>
      </p:sp>
      <p:sp>
        <p:nvSpPr>
          <p:cNvPr id="62" name="Shape 60"/>
          <p:cNvSpPr/>
          <p:nvPr/>
        </p:nvSpPr>
        <p:spPr>
          <a:xfrm>
            <a:off x="6029325" y="3049935"/>
            <a:ext cx="2714625" cy="0"/>
          </a:xfrm>
          <a:prstGeom prst="line">
            <a:avLst/>
          </a:prstGeom>
          <a:noFill/>
          <a:ln w="7144">
            <a:solidFill>
              <a:srgbClr val="E2E8F0"/>
            </a:solidFill>
            <a:prstDash val="solid"/>
          </a:ln>
        </p:spPr>
      </p:sp>
      <p:sp>
        <p:nvSpPr>
          <p:cNvPr id="63" name="Shape 61"/>
          <p:cNvSpPr/>
          <p:nvPr/>
        </p:nvSpPr>
        <p:spPr>
          <a:xfrm>
            <a:off x="8740378" y="3046363"/>
            <a:ext cx="0" cy="945654"/>
          </a:xfrm>
          <a:prstGeom prst="line">
            <a:avLst/>
          </a:prstGeom>
          <a:noFill/>
          <a:ln w="7144">
            <a:solidFill>
              <a:srgbClr val="E2E8F0"/>
            </a:solidFill>
            <a:prstDash val="solid"/>
          </a:ln>
        </p:spPr>
      </p:sp>
      <p:sp>
        <p:nvSpPr>
          <p:cNvPr id="64" name="Shape 62"/>
          <p:cNvSpPr/>
          <p:nvPr/>
        </p:nvSpPr>
        <p:spPr>
          <a:xfrm>
            <a:off x="6029325" y="3988445"/>
            <a:ext cx="2714625" cy="0"/>
          </a:xfrm>
          <a:prstGeom prst="line">
            <a:avLst/>
          </a:prstGeom>
          <a:noFill/>
          <a:ln w="7144">
            <a:solidFill>
              <a:srgbClr val="E2E8F0"/>
            </a:solidFill>
            <a:prstDash val="solid"/>
          </a:ln>
        </p:spPr>
      </p:sp>
      <p:sp>
        <p:nvSpPr>
          <p:cNvPr id="65" name="Shape 63"/>
          <p:cNvSpPr/>
          <p:nvPr/>
        </p:nvSpPr>
        <p:spPr>
          <a:xfrm>
            <a:off x="6043613" y="3046363"/>
            <a:ext cx="0" cy="945654"/>
          </a:xfrm>
          <a:prstGeom prst="line">
            <a:avLst/>
          </a:prstGeom>
          <a:noFill/>
          <a:ln w="28575">
            <a:solidFill>
              <a:srgbClr val="FF6B35"/>
            </a:solidFill>
            <a:prstDash val="solid"/>
          </a:ln>
        </p:spPr>
      </p:sp>
      <p:sp>
        <p:nvSpPr>
          <p:cNvPr id="66" name="Text 64"/>
          <p:cNvSpPr/>
          <p:nvPr/>
        </p:nvSpPr>
        <p:spPr>
          <a:xfrm>
            <a:off x="6172200" y="3167807"/>
            <a:ext cx="271463" cy="271463"/>
          </a:xfrm>
          <a:prstGeom prst="roundRect">
            <a:avLst>
              <a:gd name="adj" fmla="val 31579"/>
            </a:avLst>
          </a:prstGeom>
          <a:solidFill>
            <a:srgbClr val="FFF1EC"/>
          </a:solidFill>
          <a:ln/>
        </p:spPr>
        <p:txBody>
          <a:bodyPr wrap="square" rtlCol="0" anchor="ctr"/>
          <a:lstStyle/>
          <a:p>
            <a:pPr marL="0" indent="0">
              <a:buNone/>
            </a:pPr>
            <a:endParaRPr lang="en-US" dirty="0"/>
          </a:p>
        </p:txBody>
      </p:sp>
      <p:sp>
        <p:nvSpPr>
          <p:cNvPr id="67" name="Text 65"/>
          <p:cNvSpPr/>
          <p:nvPr/>
        </p:nvSpPr>
        <p:spPr>
          <a:xfrm>
            <a:off x="6193988" y="3189595"/>
            <a:ext cx="227886" cy="227886"/>
          </a:xfrm>
          <a:prstGeom prst="rect">
            <a:avLst/>
          </a:prstGeom>
          <a:noFill/>
          <a:ln/>
        </p:spPr>
        <p:txBody>
          <a:bodyPr wrap="none" lIns="0" tIns="0" rIns="0" bIns="0" rtlCol="0" anchor="ctr"/>
          <a:lstStyle/>
          <a:p>
            <a:pPr marL="0" indent="0" algn="ctr">
              <a:buNone/>
            </a:pPr>
            <a:r>
              <a:rPr lang="en-US" sz="1547" dirty="0">
                <a:solidFill>
                  <a:srgbClr val="FF6B35"/>
                </a:solidFill>
                <a:latin typeface="Segoe UI Symbol" pitchFamily="34" charset="0"/>
                <a:ea typeface="Segoe UI Symbol" pitchFamily="34" charset="-122"/>
                <a:cs typeface="Segoe UI Symbol" pitchFamily="34" charset="-120"/>
              </a:rPr>
              <a:t>♟</a:t>
            </a:r>
            <a:endParaRPr lang="en-US" sz="1547" dirty="0"/>
          </a:p>
        </p:txBody>
      </p:sp>
      <p:sp>
        <p:nvSpPr>
          <p:cNvPr id="68" name="Text 66"/>
          <p:cNvSpPr/>
          <p:nvPr/>
        </p:nvSpPr>
        <p:spPr>
          <a:xfrm>
            <a:off x="6515100" y="3177629"/>
            <a:ext cx="2107406"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50" dirty="0">
                <a:solidFill>
                  <a:srgbClr val="94A3B8"/>
                </a:solidFill>
                <a:latin typeface="Liberation Sans Narrow" pitchFamily="34" charset="0"/>
                <a:ea typeface="Liberation Sans Narrow" pitchFamily="34" charset="-122"/>
                <a:cs typeface="Liberation Sans Narrow" pitchFamily="34" charset="-120"/>
              </a:rPr>
              <a:t>06</a:t>
            </a:r>
            <a:endParaRPr lang="en-US" sz="800" dirty="0"/>
          </a:p>
        </p:txBody>
      </p:sp>
      <p:sp>
        <p:nvSpPr>
          <p:cNvPr id="69" name="Text 67"/>
          <p:cNvSpPr/>
          <p:nvPr/>
        </p:nvSpPr>
        <p:spPr>
          <a:xfrm>
            <a:off x="6515100" y="3295501"/>
            <a:ext cx="1691813" cy="144661"/>
          </a:xfrm>
          <a:prstGeom prst="rect">
            <a:avLst/>
          </a:prstGeom>
          <a:noFill/>
          <a:ln/>
        </p:spPr>
        <p:txBody>
          <a:bodyPr wrap="none" lIns="0" tIns="0" rIns="0" bIns="0" rtlCol="0" anchor="t"/>
          <a:lstStyle/>
          <a:p>
            <a:pPr marL="0" indent="0" algn="l">
              <a:lnSpc>
                <a:spcPts val="1055"/>
              </a:lnSpc>
              <a:buNone/>
            </a:pPr>
            <a:r>
              <a:rPr lang="en-US" sz="844" b="1" kern="0" spc="-8" dirty="0">
                <a:solidFill>
                  <a:srgbClr val="0F172A"/>
                </a:solidFill>
                <a:latin typeface="Carlito" pitchFamily="34" charset="0"/>
                <a:ea typeface="Carlito" pitchFamily="34" charset="-122"/>
                <a:cs typeface="Carlito" pitchFamily="34" charset="-120"/>
              </a:rPr>
              <a:t>Group Ordering &amp; Split Pay</a:t>
            </a:r>
            <a:endParaRPr lang="en-US" sz="844" dirty="0"/>
          </a:p>
        </p:txBody>
      </p:sp>
      <p:sp>
        <p:nvSpPr>
          <p:cNvPr id="70" name="Text 68"/>
          <p:cNvSpPr/>
          <p:nvPr/>
        </p:nvSpPr>
        <p:spPr>
          <a:xfrm>
            <a:off x="6172200" y="3496419"/>
            <a:ext cx="2450306" cy="388441"/>
          </a:xfrm>
          <a:prstGeom prst="rect">
            <a:avLst/>
          </a:prstGeom>
          <a:noFill/>
          <a:ln/>
        </p:spPr>
        <p:txBody>
          <a:bodyPr wrap="square" lIns="0" tIns="0" rIns="0" bIns="0" rtlCol="0" anchor="t"/>
          <a:lstStyle/>
          <a:p>
            <a:pPr marL="0" indent="0" algn="l">
              <a:lnSpc>
                <a:spcPts val="1020"/>
              </a:lnSpc>
              <a:buNone/>
            </a:pPr>
            <a:r>
              <a:rPr lang="en-US" sz="800" dirty="0">
                <a:solidFill>
                  <a:srgbClr val="334155"/>
                </a:solidFill>
                <a:latin typeface="Carlito" pitchFamily="34" charset="0"/>
                <a:ea typeface="Carlito" pitchFamily="34" charset="-122"/>
                <a:cs typeface="Carlito" pitchFamily="34" charset="-120"/>
              </a:rPr>
              <a:t>Multiple users collaborate on a single cart in real time, with Razorpay Smart Collect splitting the payment across UPI handles at checkout.</a:t>
            </a:r>
            <a:endParaRPr lang="en-US" sz="800" dirty="0"/>
          </a:p>
        </p:txBody>
      </p:sp>
      <p:sp>
        <p:nvSpPr>
          <p:cNvPr id="71" name="Text 69"/>
          <p:cNvSpPr/>
          <p:nvPr/>
        </p:nvSpPr>
        <p:spPr>
          <a:xfrm>
            <a:off x="400050" y="4092029"/>
            <a:ext cx="8343900" cy="521494"/>
          </a:xfrm>
          <a:prstGeom prst="roundRect">
            <a:avLst>
              <a:gd name="adj" fmla="val 14612"/>
            </a:avLst>
          </a:prstGeom>
          <a:solidFill>
            <a:srgbClr val="FFFFFF"/>
          </a:solidFill>
          <a:ln/>
        </p:spPr>
        <p:txBody>
          <a:bodyPr wrap="square" rtlCol="0" anchor="ctr"/>
          <a:lstStyle/>
          <a:p>
            <a:pPr marL="0" indent="0">
              <a:buNone/>
            </a:pPr>
            <a:endParaRPr lang="en-US" dirty="0"/>
          </a:p>
        </p:txBody>
      </p:sp>
      <p:sp>
        <p:nvSpPr>
          <p:cNvPr id="72" name="Shape 70"/>
          <p:cNvSpPr/>
          <p:nvPr/>
        </p:nvSpPr>
        <p:spPr>
          <a:xfrm>
            <a:off x="400050" y="4095601"/>
            <a:ext cx="8343900" cy="0"/>
          </a:xfrm>
          <a:prstGeom prst="line">
            <a:avLst/>
          </a:prstGeom>
          <a:noFill/>
          <a:ln w="7144">
            <a:solidFill>
              <a:srgbClr val="E2E8F0"/>
            </a:solidFill>
            <a:prstDash val="solid"/>
          </a:ln>
        </p:spPr>
      </p:sp>
      <p:sp>
        <p:nvSpPr>
          <p:cNvPr id="73" name="Shape 71"/>
          <p:cNvSpPr/>
          <p:nvPr/>
        </p:nvSpPr>
        <p:spPr>
          <a:xfrm>
            <a:off x="8740378" y="4092029"/>
            <a:ext cx="0" cy="521494"/>
          </a:xfrm>
          <a:prstGeom prst="line">
            <a:avLst/>
          </a:prstGeom>
          <a:noFill/>
          <a:ln w="7144">
            <a:solidFill>
              <a:srgbClr val="E2E8F0"/>
            </a:solidFill>
            <a:prstDash val="solid"/>
          </a:ln>
        </p:spPr>
      </p:sp>
      <p:sp>
        <p:nvSpPr>
          <p:cNvPr id="74" name="Shape 72"/>
          <p:cNvSpPr/>
          <p:nvPr/>
        </p:nvSpPr>
        <p:spPr>
          <a:xfrm>
            <a:off x="400050" y="4609951"/>
            <a:ext cx="8343900" cy="0"/>
          </a:xfrm>
          <a:prstGeom prst="line">
            <a:avLst/>
          </a:prstGeom>
          <a:noFill/>
          <a:ln w="7144">
            <a:solidFill>
              <a:srgbClr val="E2E8F0"/>
            </a:solidFill>
            <a:prstDash val="solid"/>
          </a:ln>
        </p:spPr>
      </p:sp>
      <p:sp>
        <p:nvSpPr>
          <p:cNvPr id="75" name="Shape 73"/>
          <p:cNvSpPr/>
          <p:nvPr/>
        </p:nvSpPr>
        <p:spPr>
          <a:xfrm>
            <a:off x="414338" y="4092029"/>
            <a:ext cx="0" cy="521494"/>
          </a:xfrm>
          <a:prstGeom prst="line">
            <a:avLst/>
          </a:prstGeom>
          <a:noFill/>
          <a:ln w="28575">
            <a:solidFill>
              <a:srgbClr val="FF6B35"/>
            </a:solidFill>
            <a:prstDash val="solid"/>
          </a:ln>
        </p:spPr>
      </p:sp>
      <p:sp>
        <p:nvSpPr>
          <p:cNvPr id="76" name="Text 74"/>
          <p:cNvSpPr/>
          <p:nvPr/>
        </p:nvSpPr>
        <p:spPr>
          <a:xfrm>
            <a:off x="535558" y="4254764"/>
            <a:ext cx="584671" cy="196025"/>
          </a:xfrm>
          <a:prstGeom prst="roundRect">
            <a:avLst>
              <a:gd name="adj" fmla="val 4854215"/>
            </a:avLst>
          </a:prstGeom>
          <a:solidFill>
            <a:srgbClr val="FFF1EC"/>
          </a:solidFill>
          <a:ln/>
        </p:spPr>
        <p:txBody>
          <a:bodyPr wrap="square" rtlCol="0" anchor="ctr"/>
          <a:lstStyle/>
          <a:p>
            <a:pPr marL="0" indent="0">
              <a:buNone/>
            </a:pPr>
            <a:endParaRPr lang="en-US" dirty="0"/>
          </a:p>
        </p:txBody>
      </p:sp>
      <p:sp>
        <p:nvSpPr>
          <p:cNvPr id="77" name="Text 75"/>
          <p:cNvSpPr/>
          <p:nvPr/>
        </p:nvSpPr>
        <p:spPr>
          <a:xfrm>
            <a:off x="557213" y="4265265"/>
            <a:ext cx="541362" cy="175022"/>
          </a:xfrm>
          <a:prstGeom prst="rect">
            <a:avLst/>
          </a:prstGeom>
          <a:noFill/>
          <a:ln/>
        </p:spPr>
        <p:txBody>
          <a:bodyPr wrap="none" lIns="0" tIns="0" rIns="0" bIns="0" rtlCol="0" anchor="ctr"/>
          <a:lstStyle/>
          <a:p>
            <a:pPr marL="0" indent="0" algn="ctr">
              <a:lnSpc>
                <a:spcPts val="928"/>
              </a:lnSpc>
              <a:buNone/>
            </a:pPr>
            <a:r>
              <a:rPr lang="en-US" sz="800" kern="0" spc="25" dirty="0">
                <a:solidFill>
                  <a:srgbClr val="E4541F"/>
                </a:solidFill>
                <a:latin typeface="Liberation Sans Narrow" pitchFamily="34" charset="0"/>
                <a:ea typeface="Liberation Sans Narrow" pitchFamily="34" charset="-122"/>
                <a:cs typeface="Liberation Sans Narrow" pitchFamily="34" charset="-120"/>
              </a:rPr>
              <a:t>PHASE 2</a:t>
            </a:r>
            <a:endParaRPr lang="en-US" sz="800" dirty="0"/>
          </a:p>
        </p:txBody>
      </p:sp>
      <p:sp>
        <p:nvSpPr>
          <p:cNvPr id="78" name="Text 76"/>
          <p:cNvSpPr/>
          <p:nvPr/>
        </p:nvSpPr>
        <p:spPr>
          <a:xfrm>
            <a:off x="1198587" y="4213473"/>
            <a:ext cx="6253125" cy="307181"/>
          </a:xfrm>
          <a:prstGeom prst="rect">
            <a:avLst/>
          </a:prstGeom>
          <a:noFill/>
          <a:ln/>
        </p:spPr>
        <p:txBody>
          <a:bodyPr wrap="square" lIns="0" tIns="0" rIns="0" bIns="0" rtlCol="0" anchor="t"/>
          <a:lstStyle/>
          <a:p>
            <a:pPr marL="0" indent="0" algn="l">
              <a:lnSpc>
                <a:spcPts val="1097"/>
              </a:lnSpc>
              <a:buNone/>
            </a:pPr>
            <a:r>
              <a:rPr lang="en-US" sz="800" dirty="0">
                <a:solidFill>
                  <a:srgbClr val="334155"/>
                </a:solidFill>
                <a:latin typeface="Carlito" pitchFamily="34" charset="0"/>
                <a:ea typeface="Carlito" pitchFamily="34" charset="-122"/>
                <a:cs typeface="Carlito" pitchFamily="34" charset="-120"/>
              </a:rPr>
              <a:t>Each improvement reuses the existing Spring Boot service layer and Razorpay / Azure integrations — no architectural rewrites, only additive modules behind the same JWT-secured gateway.</a:t>
            </a:r>
            <a:endParaRPr lang="en-US" sz="800" dirty="0"/>
          </a:p>
        </p:txBody>
      </p:sp>
      <p:sp>
        <p:nvSpPr>
          <p:cNvPr id="80" name="Text 78"/>
          <p:cNvSpPr/>
          <p:nvPr/>
        </p:nvSpPr>
        <p:spPr>
          <a:xfrm>
            <a:off x="7501719" y="4184898"/>
            <a:ext cx="1106500" cy="335756"/>
          </a:xfrm>
          <a:prstGeom prst="rect">
            <a:avLst/>
          </a:prstGeom>
          <a:noFill/>
          <a:ln/>
        </p:spPr>
        <p:txBody>
          <a:bodyPr wrap="none" lIns="0" tIns="0" rIns="0" bIns="0" rtlCol="0" anchor="ctr"/>
          <a:lstStyle/>
          <a:p>
            <a:pPr marL="0" indent="0" algn="ctr">
              <a:lnSpc>
                <a:spcPts val="1097"/>
              </a:lnSpc>
              <a:buNone/>
            </a:pPr>
            <a:r>
              <a:rPr lang="en-US" sz="800" kern="0" spc="29" dirty="0">
                <a:solidFill>
                  <a:srgbClr val="E4541F"/>
                </a:solidFill>
                <a:latin typeface="Liberation Sans Narrow" pitchFamily="34" charset="0"/>
                <a:ea typeface="Liberation Sans Narrow" pitchFamily="34" charset="-122"/>
                <a:cs typeface="Liberation Sans Narrow" pitchFamily="34" charset="-120"/>
              </a:rPr>
              <a:t>Target: Q1 2026 onwards</a:t>
            </a:r>
            <a:endParaRPr lang="en-US" sz="800" dirty="0"/>
          </a:p>
        </p:txBody>
      </p:sp>
      <p:sp>
        <p:nvSpPr>
          <p:cNvPr id="81" name="Text 79"/>
          <p:cNvSpPr/>
          <p:nvPr/>
        </p:nvSpPr>
        <p:spPr>
          <a:xfrm>
            <a:off x="0" y="4943475"/>
            <a:ext cx="9144000" cy="200025"/>
          </a:xfrm>
          <a:prstGeom prst="rect">
            <a:avLst/>
          </a:prstGeom>
          <a:solidFill>
            <a:srgbClr val="F6F7F9"/>
          </a:solidFill>
          <a:ln/>
        </p:spPr>
        <p:txBody>
          <a:bodyPr wrap="square" rtlCol="0" anchor="ctr"/>
          <a:lstStyle/>
          <a:p>
            <a:pPr marL="0" indent="0">
              <a:buNone/>
            </a:pPr>
            <a:endParaRPr lang="en-US" dirty="0"/>
          </a:p>
        </p:txBody>
      </p:sp>
      <p:sp>
        <p:nvSpPr>
          <p:cNvPr id="82" name="Shape 80"/>
          <p:cNvSpPr/>
          <p:nvPr/>
        </p:nvSpPr>
        <p:spPr>
          <a:xfrm>
            <a:off x="0" y="4947047"/>
            <a:ext cx="9144000" cy="0"/>
          </a:xfrm>
          <a:prstGeom prst="line">
            <a:avLst/>
          </a:prstGeom>
          <a:noFill/>
          <a:ln w="7144">
            <a:solidFill>
              <a:srgbClr val="E2E8F0"/>
            </a:solidFill>
            <a:prstDash val="solid"/>
          </a:ln>
        </p:spPr>
      </p:sp>
      <p:sp>
        <p:nvSpPr>
          <p:cNvPr id="83" name="Text 81"/>
          <p:cNvSpPr/>
          <p:nvPr/>
        </p:nvSpPr>
        <p:spPr>
          <a:xfrm>
            <a:off x="400050" y="4988123"/>
            <a:ext cx="7998433" cy="155377"/>
          </a:xfrm>
          <a:prstGeom prst="rect">
            <a:avLst/>
          </a:prstGeom>
          <a:noFill/>
          <a:ln/>
        </p:spPr>
        <p:txBody>
          <a:bodyPr wrap="square" lIns="0" tIns="0" rIns="0" bIns="0" rtlCol="0" anchor="t"/>
          <a:lstStyle/>
          <a:p>
            <a:pPr marL="0" indent="0" algn="l">
              <a:lnSpc>
                <a:spcPts val="928"/>
              </a:lnSpc>
              <a:buNone/>
            </a:pPr>
            <a:r>
              <a:rPr lang="en-US" sz="800" kern="0" spc="37" dirty="0">
                <a:solidFill>
                  <a:srgbClr val="94A3B8"/>
                </a:solidFill>
                <a:latin typeface="Carlito" pitchFamily="34" charset="0"/>
                <a:ea typeface="Carlito" pitchFamily="34" charset="-122"/>
                <a:cs typeface="Carlito" pitchFamily="34" charset="-120"/>
              </a:rPr>
              <a:t>SmartPizza AI • Capstone Project</a:t>
            </a:r>
            <a:endParaRPr lang="en-US" sz="800" dirty="0"/>
          </a:p>
        </p:txBody>
      </p:sp>
      <p:sp>
        <p:nvSpPr>
          <p:cNvPr id="84" name="Text 82"/>
          <p:cNvSpPr/>
          <p:nvPr/>
        </p:nvSpPr>
        <p:spPr>
          <a:xfrm>
            <a:off x="8412770" y="4988123"/>
            <a:ext cx="331180" cy="155377"/>
          </a:xfrm>
          <a:prstGeom prst="rect">
            <a:avLst/>
          </a:prstGeom>
          <a:noFill/>
          <a:ln/>
        </p:spPr>
        <p:txBody>
          <a:bodyPr wrap="none" lIns="0" tIns="0" rIns="0" bIns="0" rtlCol="0" anchor="t"/>
          <a:lstStyle/>
          <a:p>
            <a:pPr marL="0" indent="0" algn="l">
              <a:lnSpc>
                <a:spcPts val="928"/>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15 / 16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239615" y="76942"/>
            <a:ext cx="664771" cy="239916"/>
          </a:xfrm>
          <a:prstGeom prst="roundRect">
            <a:avLst>
              <a:gd name="adj" fmla="val 3966169"/>
            </a:avLst>
          </a:prstGeom>
          <a:solidFill>
            <a:srgbClr val="FF6B35">
              <a:alpha val="12000"/>
            </a:srgbClr>
          </a:solidFill>
          <a:ln w="7144">
            <a:solidFill>
              <a:srgbClr val="FF6B35"/>
            </a:solidFill>
            <a:prstDash val="solid"/>
          </a:ln>
        </p:spPr>
        <p:txBody>
          <a:bodyPr wrap="square" rtlCol="0" anchor="ctr"/>
          <a:lstStyle/>
          <a:p>
            <a:pPr marL="0" indent="0">
              <a:buNone/>
            </a:pPr>
            <a:endParaRPr lang="en-US" dirty="0"/>
          </a:p>
        </p:txBody>
      </p:sp>
      <p:sp>
        <p:nvSpPr>
          <p:cNvPr id="3" name="Text 1"/>
          <p:cNvSpPr/>
          <p:nvPr/>
        </p:nvSpPr>
        <p:spPr>
          <a:xfrm>
            <a:off x="4262475" y="89743"/>
            <a:ext cx="619051" cy="214313"/>
          </a:xfrm>
          <a:prstGeom prst="rect">
            <a:avLst/>
          </a:prstGeom>
          <a:noFill/>
          <a:ln/>
        </p:spPr>
        <p:txBody>
          <a:bodyPr wrap="none" lIns="0" tIns="0" rIns="0" bIns="0" rtlCol="0" anchor="ctr"/>
          <a:lstStyle/>
          <a:p>
            <a:pPr marL="0" indent="0" algn="ctr">
              <a:lnSpc>
                <a:spcPts val="1013"/>
              </a:lnSpc>
              <a:buNone/>
            </a:pPr>
            <a:r>
              <a:rPr lang="en-US" sz="800" kern="0" spc="81" dirty="0">
                <a:solidFill>
                  <a:srgbClr val="FF6B35"/>
                </a:solidFill>
                <a:latin typeface="Liberation Sans Narrow" pitchFamily="34" charset="0"/>
                <a:ea typeface="Liberation Sans Narrow" pitchFamily="34" charset="-122"/>
                <a:cs typeface="Liberation Sans Narrow" pitchFamily="34" charset="-120"/>
              </a:rPr>
              <a:t>15 / 15</a:t>
            </a:r>
            <a:endParaRPr lang="en-US" sz="800" dirty="0"/>
          </a:p>
        </p:txBody>
      </p:sp>
      <p:pic>
        <p:nvPicPr>
          <p:cNvPr id="4" name="Image 0" descr="/tmp/h2p-fit-1781702675175-xiay34.png"/>
          <p:cNvPicPr>
            <a:picLocks noChangeAspect="1"/>
          </p:cNvPicPr>
          <p:nvPr/>
        </p:nvPicPr>
        <p:blipFill>
          <a:blip r:embed="rId3"/>
          <a:stretch>
            <a:fillRect/>
          </a:stretch>
        </p:blipFill>
        <p:spPr>
          <a:xfrm>
            <a:off x="3929063" y="461218"/>
            <a:ext cx="1285875" cy="1285875"/>
          </a:xfrm>
          <a:prstGeom prst="ellipse">
            <a:avLst/>
          </a:prstGeom>
          <a:effectLst>
            <a:outerShdw blurRad="571500" dist="50800" dir="16200000" algn="bl" rotWithShape="0">
              <a:srgbClr val="FF6B35">
                <a:alpha val="35000"/>
              </a:srgbClr>
            </a:outerShdw>
          </a:effectLst>
        </p:spPr>
      </p:pic>
      <p:sp>
        <p:nvSpPr>
          <p:cNvPr id="5" name="Text 2"/>
          <p:cNvSpPr/>
          <p:nvPr/>
        </p:nvSpPr>
        <p:spPr>
          <a:xfrm>
            <a:off x="274320" y="1918543"/>
            <a:ext cx="8595248" cy="617220"/>
          </a:xfrm>
          <a:prstGeom prst="rect">
            <a:avLst/>
          </a:prstGeom>
          <a:noFill/>
          <a:ln/>
        </p:spPr>
        <p:txBody>
          <a:bodyPr wrap="none" lIns="0" tIns="0" rIns="0" bIns="0" rtlCol="0" anchor="t"/>
          <a:lstStyle/>
          <a:p>
            <a:pPr marL="0" indent="0" algn="ctr">
              <a:lnSpc>
                <a:spcPts val="4500"/>
              </a:lnSpc>
              <a:buNone/>
            </a:pPr>
            <a:r>
              <a:rPr lang="en-US" sz="4500" b="1" kern="0" spc="-135" dirty="0">
                <a:solidFill>
                  <a:srgbClr val="FFFFFF"/>
                </a:solidFill>
                <a:latin typeface="Carlito" pitchFamily="34" charset="0"/>
                <a:ea typeface="Carlito" pitchFamily="34" charset="-122"/>
                <a:cs typeface="Carlito" pitchFamily="34" charset="-120"/>
              </a:rPr>
              <a:t>Thank You.</a:t>
            </a:r>
            <a:endParaRPr lang="en-US" sz="4500" dirty="0"/>
          </a:p>
        </p:txBody>
      </p:sp>
      <p:sp>
        <p:nvSpPr>
          <p:cNvPr id="6" name="Text 3"/>
          <p:cNvSpPr/>
          <p:nvPr/>
        </p:nvSpPr>
        <p:spPr>
          <a:xfrm>
            <a:off x="3190893" y="2575768"/>
            <a:ext cx="2762103" cy="370332"/>
          </a:xfrm>
          <a:prstGeom prst="rect">
            <a:avLst/>
          </a:prstGeom>
          <a:noFill/>
          <a:ln/>
        </p:spPr>
        <p:txBody>
          <a:bodyPr wrap="none" lIns="0" tIns="0" rIns="0" bIns="0" rtlCol="0" anchor="t"/>
          <a:lstStyle/>
          <a:p>
            <a:pPr marL="0" indent="0" algn="ctr">
              <a:lnSpc>
                <a:spcPts val="2700"/>
              </a:lnSpc>
              <a:buNone/>
            </a:pPr>
            <a:r>
              <a:rPr lang="en-US" sz="1800" kern="0" spc="-18" dirty="0">
                <a:solidFill>
                  <a:srgbClr val="FF6B35"/>
                </a:solidFill>
                <a:latin typeface="Carlito" pitchFamily="34" charset="0"/>
                <a:ea typeface="Carlito" pitchFamily="34" charset="-122"/>
                <a:cs typeface="Carlito" pitchFamily="34" charset="-120"/>
              </a:rPr>
              <a:t>Questions &amp; Discussion</a:t>
            </a:r>
            <a:endParaRPr lang="en-US" sz="1800" dirty="0"/>
          </a:p>
        </p:txBody>
      </p:sp>
      <p:sp>
        <p:nvSpPr>
          <p:cNvPr id="7" name="Text 4"/>
          <p:cNvSpPr/>
          <p:nvPr/>
        </p:nvSpPr>
        <p:spPr>
          <a:xfrm>
            <a:off x="2286000" y="3047256"/>
            <a:ext cx="4572000" cy="812994"/>
          </a:xfrm>
          <a:prstGeom prst="rect">
            <a:avLst/>
          </a:prstGeom>
          <a:noFill/>
          <a:ln/>
        </p:spPr>
        <p:txBody>
          <a:bodyPr wrap="square" lIns="0" tIns="0" rIns="0" bIns="0" rtlCol="0" anchor="t"/>
          <a:lstStyle/>
          <a:p>
            <a:pPr marL="0" indent="0" algn="ctr">
              <a:lnSpc>
                <a:spcPts val="1482"/>
              </a:lnSpc>
              <a:buNone/>
            </a:pPr>
            <a:r>
              <a:rPr lang="en-US" sz="956" dirty="0">
                <a:solidFill>
                  <a:srgbClr val="94A3B8"/>
                </a:solidFill>
                <a:latin typeface="Carlito" pitchFamily="34" charset="0"/>
                <a:ea typeface="Carlito" pitchFamily="34" charset="-122"/>
                <a:cs typeface="Carlito" pitchFamily="34" charset="-120"/>
              </a:rPr>
              <a:t>Thank you for walking through SmartPizza AI with me — from the AI-augmented menu to the live-tracking map and the admin analytics pane. I'm happy to take questions on the architecture, the AI pipeline, or any of the six modules.</a:t>
            </a:r>
            <a:endParaRPr lang="en-US" sz="956" dirty="0"/>
          </a:p>
        </p:txBody>
      </p:sp>
      <p:sp>
        <p:nvSpPr>
          <p:cNvPr id="8" name="Text 5"/>
          <p:cNvSpPr/>
          <p:nvPr/>
        </p:nvSpPr>
        <p:spPr>
          <a:xfrm>
            <a:off x="4357688" y="4000054"/>
            <a:ext cx="428625" cy="21431"/>
          </a:xfrm>
          <a:prstGeom prst="roundRect">
            <a:avLst>
              <a:gd name="adj" fmla="val 88890"/>
            </a:avLst>
          </a:prstGeom>
          <a:solidFill>
            <a:srgbClr val="FF6B35"/>
          </a:solidFill>
          <a:ln/>
        </p:spPr>
        <p:txBody>
          <a:bodyPr wrap="square" rtlCol="0" anchor="ctr"/>
          <a:lstStyle/>
          <a:p>
            <a:pPr marL="0" indent="0">
              <a:buNone/>
            </a:pPr>
            <a:endParaRPr lang="en-US" dirty="0"/>
          </a:p>
        </p:txBody>
      </p:sp>
      <p:sp>
        <p:nvSpPr>
          <p:cNvPr id="9" name="Text 6"/>
          <p:cNvSpPr/>
          <p:nvPr/>
        </p:nvSpPr>
        <p:spPr>
          <a:xfrm>
            <a:off x="2416110" y="4221510"/>
            <a:ext cx="882781" cy="119015"/>
          </a:xfrm>
          <a:prstGeom prst="rect">
            <a:avLst/>
          </a:prstGeom>
          <a:noFill/>
          <a:ln/>
        </p:spPr>
        <p:txBody>
          <a:bodyPr wrap="none" lIns="0" tIns="0" rIns="0" bIns="0" rtlCol="0" anchor="t">
            <a:normAutofit/>
          </a:bodyPr>
          <a:lstStyle/>
          <a:p>
            <a:pPr marL="0" indent="0" algn="ctr">
              <a:lnSpc>
                <a:spcPts val="928"/>
              </a:lnSpc>
              <a:buNone/>
            </a:pPr>
            <a:r>
              <a:rPr lang="en-US" sz="800" kern="0" spc="99" dirty="0">
                <a:solidFill>
                  <a:srgbClr val="94A3B8"/>
                </a:solidFill>
                <a:latin typeface="Carlito" pitchFamily="34" charset="0"/>
                <a:ea typeface="Carlito" pitchFamily="34" charset="-122"/>
                <a:cs typeface="Carlito" pitchFamily="34" charset="-120"/>
              </a:rPr>
              <a:t>PRESENTER</a:t>
            </a:r>
            <a:endParaRPr lang="en-US" sz="800" dirty="0"/>
          </a:p>
        </p:txBody>
      </p:sp>
      <p:sp>
        <p:nvSpPr>
          <p:cNvPr id="10" name="Text 7"/>
          <p:cNvSpPr/>
          <p:nvPr/>
        </p:nvSpPr>
        <p:spPr>
          <a:xfrm>
            <a:off x="2128838" y="4367957"/>
            <a:ext cx="1457325" cy="370332"/>
          </a:xfrm>
          <a:prstGeom prst="rect">
            <a:avLst/>
          </a:prstGeom>
          <a:noFill/>
          <a:ln/>
        </p:spPr>
        <p:txBody>
          <a:bodyPr wrap="square" lIns="0" tIns="0" rIns="0" bIns="0" rtlCol="0" anchor="t"/>
          <a:lstStyle/>
          <a:p>
            <a:pPr marL="0" indent="0" algn="ctr">
              <a:lnSpc>
                <a:spcPts val="1350"/>
              </a:lnSpc>
              <a:buNone/>
            </a:pPr>
            <a:r>
              <a:rPr lang="en-US" sz="900" dirty="0">
                <a:solidFill>
                  <a:srgbClr val="FFFFFF"/>
                </a:solidFill>
                <a:latin typeface="Carlito" pitchFamily="34" charset="0"/>
                <a:ea typeface="Carlito" pitchFamily="34" charset="-122"/>
                <a:cs typeface="Carlito" pitchFamily="34" charset="-120"/>
              </a:rPr>
              <a:t>Muthamizh Kumaran Loganathan</a:t>
            </a:r>
            <a:endParaRPr lang="en-US" sz="900" dirty="0"/>
          </a:p>
        </p:txBody>
      </p:sp>
      <p:sp>
        <p:nvSpPr>
          <p:cNvPr id="11" name="Text 8"/>
          <p:cNvSpPr/>
          <p:nvPr/>
        </p:nvSpPr>
        <p:spPr>
          <a:xfrm>
            <a:off x="4240605" y="4307235"/>
            <a:ext cx="662791" cy="119015"/>
          </a:xfrm>
          <a:prstGeom prst="rect">
            <a:avLst/>
          </a:prstGeom>
          <a:noFill/>
          <a:ln/>
        </p:spPr>
        <p:txBody>
          <a:bodyPr wrap="none" lIns="0" tIns="0" rIns="0" bIns="0" rtlCol="0" anchor="t">
            <a:normAutofit/>
          </a:bodyPr>
          <a:lstStyle/>
          <a:p>
            <a:pPr marL="0" indent="0" algn="ctr">
              <a:lnSpc>
                <a:spcPts val="928"/>
              </a:lnSpc>
              <a:buNone/>
            </a:pPr>
            <a:r>
              <a:rPr lang="en-US" sz="800" kern="0" spc="99" dirty="0">
                <a:solidFill>
                  <a:srgbClr val="94A3B8"/>
                </a:solidFill>
                <a:latin typeface="Carlito" pitchFamily="34" charset="0"/>
                <a:ea typeface="Carlito" pitchFamily="34" charset="-122"/>
                <a:cs typeface="Carlito" pitchFamily="34" charset="-120"/>
              </a:rPr>
              <a:t>TRAINER</a:t>
            </a:r>
            <a:endParaRPr lang="en-US" sz="800" dirty="0"/>
          </a:p>
        </p:txBody>
      </p:sp>
      <p:sp>
        <p:nvSpPr>
          <p:cNvPr id="12" name="Text 9"/>
          <p:cNvSpPr/>
          <p:nvPr/>
        </p:nvSpPr>
        <p:spPr>
          <a:xfrm>
            <a:off x="4325826" y="4453682"/>
            <a:ext cx="492347" cy="185166"/>
          </a:xfrm>
          <a:prstGeom prst="rect">
            <a:avLst/>
          </a:prstGeom>
          <a:noFill/>
          <a:ln/>
        </p:spPr>
        <p:txBody>
          <a:bodyPr wrap="none" lIns="0" tIns="0" rIns="0" bIns="0" rtlCol="0" anchor="t"/>
          <a:lstStyle/>
          <a:p>
            <a:pPr marL="0" indent="0" algn="ctr">
              <a:lnSpc>
                <a:spcPts val="1350"/>
              </a:lnSpc>
              <a:buNone/>
            </a:pPr>
            <a:r>
              <a:rPr lang="en-US" sz="900" dirty="0">
                <a:solidFill>
                  <a:srgbClr val="FFFFFF"/>
                </a:solidFill>
                <a:latin typeface="Carlito" pitchFamily="34" charset="0"/>
                <a:ea typeface="Carlito" pitchFamily="34" charset="-122"/>
                <a:cs typeface="Carlito" pitchFamily="34" charset="-120"/>
              </a:rPr>
              <a:t>Javeed</a:t>
            </a:r>
            <a:endParaRPr lang="en-US" sz="900" dirty="0"/>
          </a:p>
        </p:txBody>
      </p:sp>
      <p:sp>
        <p:nvSpPr>
          <p:cNvPr id="13" name="Text 10"/>
          <p:cNvSpPr/>
          <p:nvPr/>
        </p:nvSpPr>
        <p:spPr>
          <a:xfrm>
            <a:off x="5909531" y="4307235"/>
            <a:ext cx="753826" cy="119015"/>
          </a:xfrm>
          <a:prstGeom prst="rect">
            <a:avLst/>
          </a:prstGeom>
          <a:noFill/>
          <a:ln/>
        </p:spPr>
        <p:txBody>
          <a:bodyPr wrap="none" lIns="0" tIns="0" rIns="0" bIns="0" rtlCol="0" anchor="t">
            <a:normAutofit/>
          </a:bodyPr>
          <a:lstStyle/>
          <a:p>
            <a:pPr marL="0" indent="0" algn="ctr">
              <a:lnSpc>
                <a:spcPts val="928"/>
              </a:lnSpc>
              <a:buNone/>
            </a:pPr>
            <a:r>
              <a:rPr lang="en-US" sz="800" kern="0" spc="99" dirty="0">
                <a:solidFill>
                  <a:srgbClr val="94A3B8"/>
                </a:solidFill>
                <a:latin typeface="Carlito" pitchFamily="34" charset="0"/>
                <a:ea typeface="Carlito" pitchFamily="34" charset="-122"/>
                <a:cs typeface="Carlito" pitchFamily="34" charset="-120"/>
              </a:rPr>
              <a:t>PROGRAM</a:t>
            </a:r>
            <a:endParaRPr lang="en-US" sz="800" dirty="0"/>
          </a:p>
        </p:txBody>
      </p:sp>
      <p:sp>
        <p:nvSpPr>
          <p:cNvPr id="14" name="Text 11"/>
          <p:cNvSpPr/>
          <p:nvPr/>
        </p:nvSpPr>
        <p:spPr>
          <a:xfrm>
            <a:off x="5787945" y="4453682"/>
            <a:ext cx="997109" cy="185166"/>
          </a:xfrm>
          <a:prstGeom prst="rect">
            <a:avLst/>
          </a:prstGeom>
          <a:noFill/>
          <a:ln/>
        </p:spPr>
        <p:txBody>
          <a:bodyPr wrap="none" lIns="0" tIns="0" rIns="0" bIns="0" rtlCol="0" anchor="t"/>
          <a:lstStyle/>
          <a:p>
            <a:pPr marL="0" indent="0" algn="ctr">
              <a:lnSpc>
                <a:spcPts val="1350"/>
              </a:lnSpc>
              <a:buNone/>
            </a:pPr>
            <a:r>
              <a:rPr lang="en-US" sz="900" dirty="0">
                <a:solidFill>
                  <a:srgbClr val="FFFFFF"/>
                </a:solidFill>
                <a:latin typeface="Carlito" pitchFamily="34" charset="0"/>
                <a:ea typeface="Carlito" pitchFamily="34" charset="-122"/>
                <a:cs typeface="Carlito" pitchFamily="34" charset="-120"/>
              </a:rPr>
              <a:t>Great Learning</a:t>
            </a:r>
            <a:endParaRPr lang="en-US" sz="900" dirty="0"/>
          </a:p>
        </p:txBody>
      </p:sp>
      <p:sp>
        <p:nvSpPr>
          <p:cNvPr id="15" name="Text 12"/>
          <p:cNvSpPr/>
          <p:nvPr/>
        </p:nvSpPr>
        <p:spPr>
          <a:xfrm>
            <a:off x="2119015" y="4925169"/>
            <a:ext cx="4905970" cy="164592"/>
          </a:xfrm>
          <a:prstGeom prst="rect">
            <a:avLst/>
          </a:prstGeom>
          <a:noFill/>
          <a:ln/>
        </p:spPr>
        <p:txBody>
          <a:bodyPr wrap="square" lIns="0" tIns="0" rIns="0" bIns="0" rtlCol="0" anchor="t"/>
          <a:lstStyle/>
          <a:p>
            <a:pPr marL="0" indent="0" algn="ctr">
              <a:lnSpc>
                <a:spcPts val="1013"/>
              </a:lnSpc>
              <a:buNone/>
            </a:pPr>
            <a:r>
              <a:rPr lang="en-US" sz="800" kern="0" spc="14" dirty="0">
                <a:solidFill>
                  <a:srgbClr val="475569"/>
                </a:solidFill>
                <a:latin typeface="Courier New" pitchFamily="34" charset="0"/>
                <a:ea typeface="Courier New" pitchFamily="34" charset="-122"/>
                <a:cs typeface="Courier New" pitchFamily="34" charset="-120"/>
              </a:rPr>
              <a:t>SmartPizza AI • Built with Spring Boot 4.1 • React 19 • Azure OpenAI • Azure Maps • Razorpay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3097</Words>
  <Application>Microsoft Office PowerPoint</Application>
  <PresentationFormat>On-screen Show (16:9)</PresentationFormat>
  <Paragraphs>507</Paragraphs>
  <Slides>31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Carlito</vt:lpstr>
      <vt:lpstr>Courier New</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Muthamizh kumaran</cp:lastModifiedBy>
  <cp:revision>2</cp:revision>
  <dcterms:created xsi:type="dcterms:W3CDTF">2026-06-17T13:24:35Z</dcterms:created>
  <dcterms:modified xsi:type="dcterms:W3CDTF">2026-06-17T14:18:41Z</dcterms:modified>
</cp:coreProperties>
</file>